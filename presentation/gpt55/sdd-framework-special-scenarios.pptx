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18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kicker"/>
          <p:cNvSpPr/>
          <p:nvPr/>
        </p:nvSpPr>
        <p:spPr>
          <a:xfrm>
            <a:off x="566928" y="20116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1200" b="1">
                <a:solidFill>
                  <a:srgbClr val="2563EB"/>
                </a:solidFill>
                <a:latin typeface="Aptos"/>
                <a:cs typeface="Aptos"/>
              </a:rPr>
              <a:t>Проблема и новый рабочий контур</a:t>
            </a:r>
            <a:endParaRPr lang="ru-RU" sz="1200"/>
          </a:p>
        </p:txBody>
      </p:sp>
      <p:sp>
        <p:nvSpPr>
          <p:cNvPr id="5" name="title"/>
          <p:cNvSpPr/>
          <p:nvPr/>
        </p:nvSpPr>
        <p:spPr>
          <a:xfrm>
            <a:off x="530352" y="50292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2900" b="1">
                <a:solidFill>
                  <a:srgbClr val="0F172A"/>
                </a:solidFill>
                <a:latin typeface="Aptos"/>
                <a:cs typeface="Aptos"/>
              </a:rPr>
              <a:t>SDD/OpenSpec: зачем понадобилась доработка</a:t>
            </a:r>
            <a:endParaRPr lang="ru-RU" sz="2900"/>
          </a:p>
        </p:txBody>
      </p:sp>
      <p:sp>
        <p:nvSpPr>
          <p:cNvPr id="10" name="problem box"/>
          <p:cNvSpPr/>
          <p:nvPr/>
        </p:nvSpPr>
        <p:spPr>
          <a:xfrm>
            <a:off x="594360" y="1417320"/>
            <a:ext cx="3703320" cy="2423160"/>
          </a:xfrm>
          <a:prstGeom prst="rect">
            <a:avLst/>
          </a:prstGeom>
          <a:solidFill>
            <a:srgbClr val="FFFFFF"/>
          </a:solidFill>
          <a:ln w="12000" cap="flat" cmpd="sng" algn="ctr">
            <a:solidFill>
              <a:srgbClr val="CBD5E1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500" b="1">
                <a:solidFill>
                  <a:srgbClr val="0F172A"/>
                </a:solidFill>
                <a:latin typeface="Aptos"/>
                <a:cs typeface="Aptos"/>
              </a:rPr>
              <a:t>Проблема</a:t>
            </a:r>
            <a:endParaRPr lang="ru-RU" sz="1500"/>
          </a:p>
          <a:p>
            <a:pPr marL="299720" indent="-179705">
              <a:buChar char="•"/>
            </a:pPr>
            <a:r>
              <a:rPr lang="ru-RU" sz="1500">
                <a:solidFill>
                  <a:srgbClr val="0F172A"/>
                </a:solidFill>
                <a:latin typeface="Aptos"/>
                <a:cs typeface="Aptos"/>
              </a:rPr>
              <a:t>Один огромный master Markdown не масштабируется для больших сервисов и слабых моделей.</a:t>
            </a:r>
            <a:endParaRPr lang="ru-RU" sz="1500"/>
          </a:p>
          <a:p>
            <a:pPr marL="299720" indent="-179705">
              <a:buChar char="•"/>
            </a:pPr>
            <a:r>
              <a:rPr lang="ru-RU" sz="1500">
                <a:solidFill>
                  <a:srgbClr val="0F172A"/>
                </a:solidFill>
                <a:latin typeface="Aptos"/>
                <a:cs typeface="Aptos"/>
              </a:rPr>
              <a:t>На проектах уже есть документация папками: workflow, integrations, api, data.</a:t>
            </a:r>
            <a:endParaRPr lang="ru-RU" sz="1500"/>
          </a:p>
        </p:txBody>
      </p:sp>
      <p:sp>
        <p:nvSpPr>
          <p:cNvPr id="11" name="need box"/>
          <p:cNvSpPr/>
          <p:nvPr/>
        </p:nvSpPr>
        <p:spPr>
          <a:xfrm>
            <a:off x="4526280" y="1417320"/>
            <a:ext cx="3703320" cy="2423160"/>
          </a:xfrm>
          <a:prstGeom prst="rect">
            <a:avLst/>
          </a:prstGeom>
          <a:solidFill>
            <a:srgbClr val="FFFFFF"/>
          </a:solidFill>
          <a:ln w="12000" cap="flat" cmpd="sng" algn="ctr">
            <a:solidFill>
              <a:srgbClr val="CBD5E1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500" b="1">
                <a:solidFill>
                  <a:srgbClr val="0F172A"/>
                </a:solidFill>
                <a:latin typeface="Aptos"/>
                <a:cs typeface="Aptos"/>
              </a:rPr>
              <a:t>Нужный сценарий</a:t>
            </a:r>
            <a:endParaRPr lang="ru-RU" sz="1500"/>
          </a:p>
          <a:p>
            <a:pPr marL="299720" indent="-179705">
              <a:buChar char="•"/>
            </a:pPr>
            <a:r>
              <a:rPr lang="ru-RU" sz="1500">
                <a:solidFill>
                  <a:srgbClr val="0F172A"/>
                </a:solidFill>
                <a:latin typeface="Aptos"/>
                <a:cs typeface="Aptos"/>
              </a:rPr>
              <a:t>Подключать существующую папку документов как master specification.</a:t>
            </a:r>
            <a:endParaRPr lang="ru-RU" sz="1500"/>
          </a:p>
          <a:p>
            <a:pPr marL="299720" indent="-179705">
              <a:buChar char="•"/>
            </a:pPr>
            <a:r>
              <a:rPr lang="ru-RU" sz="1500">
                <a:solidFill>
                  <a:srgbClr val="0F172A"/>
                </a:solidFill>
                <a:latin typeface="Aptos"/>
                <a:cs typeface="Aptos"/>
              </a:rPr>
              <a:t>Получать change.md из разницы release/base ветки и ветки аналитика.</a:t>
            </a:r>
            <a:endParaRPr lang="ru-RU" sz="1500"/>
          </a:p>
        </p:txBody>
      </p:sp>
      <p:sp>
        <p:nvSpPr>
          <p:cNvPr id="12" name="result box"/>
          <p:cNvSpPr/>
          <p:nvPr/>
        </p:nvSpPr>
        <p:spPr>
          <a:xfrm>
            <a:off x="8458200" y="1417320"/>
            <a:ext cx="3246120" cy="2423160"/>
          </a:xfrm>
          <a:prstGeom prst="rect">
            <a:avLst/>
          </a:prstGeom>
          <a:solidFill>
            <a:srgbClr val="FFFFFF"/>
          </a:solidFill>
          <a:ln w="12000" cap="flat" cmpd="sng" algn="ctr">
            <a:solidFill>
              <a:srgbClr val="CBD5E1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500" b="1">
                <a:solidFill>
                  <a:srgbClr val="0F172A"/>
                </a:solidFill>
                <a:latin typeface="Aptos"/>
                <a:cs typeface="Aptos"/>
              </a:rPr>
              <a:t>Цель доработок</a:t>
            </a:r>
            <a:endParaRPr lang="ru-RU" sz="1500"/>
          </a:p>
          <a:p>
            <a:pPr marL="299720" indent="-179705">
              <a:buChar char="•"/>
            </a:pPr>
            <a:r>
              <a:rPr lang="ru-RU" sz="1500">
                <a:solidFill>
                  <a:srgbClr val="0F172A"/>
                </a:solidFill>
                <a:latin typeface="Aptos"/>
                <a:cs typeface="Aptos"/>
              </a:rPr>
              <a:t>Сохранить SDD-процесс: change → design → tasks → implement.</a:t>
            </a:r>
            <a:endParaRPr lang="ru-RU" sz="1500"/>
          </a:p>
          <a:p>
            <a:pPr marL="299720" indent="-179705">
              <a:buChar char="•"/>
            </a:pPr>
            <a:r>
              <a:rPr lang="ru-RU" sz="1500">
                <a:solidFill>
                  <a:srgbClr val="0F172A"/>
                </a:solidFill>
                <a:latin typeface="Aptos"/>
                <a:cs typeface="Aptos"/>
              </a:rPr>
              <a:t>Убрать требование финального merge, если master spec уже изменена аналитиком.</a:t>
            </a:r>
            <a:endParaRPr lang="ru-RU" sz="1500"/>
          </a:p>
        </p:txBody>
      </p:sp>
      <p:sp>
        <p:nvSpPr>
          <p:cNvPr id="13" name="timeline"/>
          <p:cNvSpPr/>
          <p:nvPr/>
        </p:nvSpPr>
        <p:spPr>
          <a:xfrm>
            <a:off x="640080" y="4800600"/>
            <a:ext cx="10972800" cy="6858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1550" b="1">
                <a:solidFill>
                  <a:srgbClr val="FFFFFF"/>
                </a:solidFill>
                <a:latin typeface="Aptos"/>
                <a:cs typeface="Aptos"/>
              </a:rPr>
              <a:t>История изменений: исходный single-file SDD → фаза 1 folder-based master spec → фаза 2 branch-diff change</a:t>
            </a:r>
            <a:endParaRPr lang="ru-RU" sz="15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kicker"/>
          <p:cNvSpPr/>
          <p:nvPr/>
        </p:nvSpPr>
        <p:spPr>
          <a:xfrm>
            <a:off x="566928" y="20116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1200" b="1">
                <a:solidFill>
                  <a:srgbClr val="2563EB"/>
                </a:solidFill>
                <a:latin typeface="Aptos"/>
                <a:cs typeface="Aptos"/>
              </a:rPr>
              <a:t>Ограничение базовой модели</a:t>
            </a:r>
            <a:endParaRPr lang="ru-RU" sz="1200"/>
          </a:p>
        </p:txBody>
      </p:sp>
      <p:sp>
        <p:nvSpPr>
          <p:cNvPr id="5" name="title"/>
          <p:cNvSpPr/>
          <p:nvPr/>
        </p:nvSpPr>
        <p:spPr>
          <a:xfrm>
            <a:off x="530352" y="50292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2900" b="1">
                <a:solidFill>
                  <a:srgbClr val="0F172A"/>
                </a:solidFill>
                <a:latin typeface="Aptos"/>
                <a:cs typeface="Aptos"/>
              </a:rPr>
              <a:t>Что исходный SDD не решал</a:t>
            </a:r>
            <a:endParaRPr lang="ru-RU" sz="2900"/>
          </a:p>
        </p:txBody>
      </p:sp>
      <p:sp>
        <p:nvSpPr>
          <p:cNvPr id="20" name="old sdd"/>
          <p:cNvSpPr/>
          <p:nvPr/>
        </p:nvSpPr>
        <p:spPr>
          <a:xfrm>
            <a:off x="685800" y="1325880"/>
            <a:ext cx="5303520" cy="4389120"/>
          </a:xfrm>
          <a:prstGeom prst="rect">
            <a:avLst/>
          </a:prstGeom>
          <a:solidFill>
            <a:srgbClr val="FFFFFF"/>
          </a:solidFill>
          <a:ln w="12000" cap="flat" cmpd="sng" algn="ctr">
            <a:solidFill>
              <a:srgbClr val="CBD5E1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Как было в исходном варианте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Master specification ожидалась как один большой service-spec.md.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Агенту приходилось читать и поддерживать монолитный документ.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apply-change был финальным merge в master spec.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Не было отдельного входа “аналитик уже изменил документацию в ветке”.</a:t>
            </a:r>
            <a:endParaRPr lang="ru-RU" sz="1450"/>
          </a:p>
        </p:txBody>
      </p:sp>
      <p:sp>
        <p:nvSpPr>
          <p:cNvPr id="21" name="gap"/>
          <p:cNvSpPr/>
          <p:nvPr/>
        </p:nvSpPr>
        <p:spPr>
          <a:xfrm>
            <a:off x="6355080" y="1325880"/>
            <a:ext cx="5257800" cy="4389120"/>
          </a:xfrm>
          <a:prstGeom prst="rect">
            <a:avLst/>
          </a:prstGeom>
          <a:solidFill>
            <a:srgbClr val="FEF2F2"/>
          </a:solidFill>
          <a:ln w="12000" cap="flat" cmpd="sng" algn="ctr">
            <a:solidFill>
              <a:srgbClr val="FCA5A5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Почему это не закрывало реальные проекты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Большие сервисы дают монструозные спецификации.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Существующие папки документации нельзя было подключить как source of truth.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Изменения нескольких md/yaml/openapi файлов теряли контекст.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Git-diff между base и analyst ref не превращался в полноценный change.md.</a:t>
            </a:r>
            <a:endParaRPr lang="ru-RU" sz="14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kicker"/>
          <p:cNvSpPr/>
          <p:nvPr/>
        </p:nvSpPr>
        <p:spPr>
          <a:xfrm>
            <a:off x="566928" y="20116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1200" b="1">
                <a:solidFill>
                  <a:srgbClr val="2563EB"/>
                </a:solidFill>
                <a:latin typeface="Aptos"/>
                <a:cs typeface="Aptos"/>
              </a:rPr>
              <a:t>Existing docs становятся source of truth</a:t>
            </a:r>
            <a:endParaRPr lang="ru-RU" sz="1200"/>
          </a:p>
        </p:txBody>
      </p:sp>
      <p:sp>
        <p:nvSpPr>
          <p:cNvPr id="5" name="title"/>
          <p:cNvSpPr/>
          <p:nvPr/>
        </p:nvSpPr>
        <p:spPr>
          <a:xfrm>
            <a:off x="530352" y="50292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2900" b="1">
                <a:solidFill>
                  <a:srgbClr val="0F172A"/>
                </a:solidFill>
                <a:latin typeface="Aptos"/>
                <a:cs typeface="Aptos"/>
              </a:rPr>
              <a:t>Доработка 1: master spec как папка</a:t>
            </a:r>
            <a:endParaRPr lang="ru-RU" sz="2900"/>
          </a:p>
        </p:txBody>
      </p:sp>
      <p:sp>
        <p:nvSpPr>
          <p:cNvPr id="30" name="phase1 left"/>
          <p:cNvSpPr/>
          <p:nvPr/>
        </p:nvSpPr>
        <p:spPr>
          <a:xfrm>
            <a:off x="658368" y="1325880"/>
            <a:ext cx="3291840" cy="4526280"/>
          </a:xfrm>
          <a:prstGeom prst="rect">
            <a:avLst/>
          </a:prstGeom>
          <a:solidFill>
            <a:srgbClr val="EFF6FF"/>
          </a:solidFill>
          <a:ln w="12000" cap="flat" cmpd="sng" algn="ctr">
            <a:solidFill>
              <a:srgbClr val="93C5FD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Фаза 1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Master specification стала папкой: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openspec/&lt;service&gt;/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Произвольная структура: workflow, integrations, api, data, security, схемы, диаграммы.</a:t>
            </a:r>
            <a:endParaRPr lang="ru-RU" sz="1450"/>
          </a:p>
        </p:txBody>
      </p:sp>
      <p:sp>
        <p:nvSpPr>
          <p:cNvPr id="31" name="phase1 middle"/>
          <p:cNvSpPr/>
          <p:nvPr/>
        </p:nvSpPr>
        <p:spPr>
          <a:xfrm>
            <a:off x="4251960" y="1325880"/>
            <a:ext cx="3566160" cy="4526280"/>
          </a:xfrm>
          <a:prstGeom prst="rect">
            <a:avLst/>
          </a:prstGeom>
          <a:solidFill>
            <a:srgbClr val="FFFFFF"/>
          </a:solidFill>
          <a:ln w="12000" cap="flat" cmpd="sng" algn="ctr">
            <a:solidFill>
              <a:srgbClr val="CBD5E1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Навигационный слой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_sdd/manifest.yaml — машинный индекс.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_sdd/navigation.md — что читать первым.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_sdd/coverage.md — пробелы покрытия.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_sdd/stale-files.md — устаревшие файлы и warnings.</a:t>
            </a:r>
            <a:endParaRPr lang="ru-RU" sz="1450"/>
          </a:p>
        </p:txBody>
      </p:sp>
      <p:sp>
        <p:nvSpPr>
          <p:cNvPr id="32" name="phase1 right"/>
          <p:cNvSpPr/>
          <p:nvPr/>
        </p:nvSpPr>
        <p:spPr>
          <a:xfrm>
            <a:off x="8138160" y="1325880"/>
            <a:ext cx="3383280" cy="4526280"/>
          </a:xfrm>
          <a:prstGeom prst="rect">
            <a:avLst/>
          </a:prstGeom>
          <a:solidFill>
            <a:srgbClr val="F0FDF4"/>
          </a:solidFill>
          <a:ln w="12000" cap="flat" cmpd="sng" algn="ctr">
            <a:solidFill>
              <a:srgbClr val="86EFAC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Что меняется для агента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Не читать всю папку рекурсивно.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Выбирать документы по tags, entities, endpoints, integrations, events, relations.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Фиксировать gaps и противоречия как open questions.</a:t>
            </a:r>
            <a:endParaRPr lang="ru-RU"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kicker"/>
          <p:cNvSpPr/>
          <p:nvPr/>
        </p:nvSpPr>
        <p:spPr>
          <a:xfrm>
            <a:off x="566928" y="20116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1200" b="1">
                <a:solidFill>
                  <a:srgbClr val="2563EB"/>
                </a:solidFill>
                <a:latin typeface="Aptos"/>
                <a:cs typeface="Aptos"/>
              </a:rPr>
              <a:t>Специальный сценарий “аналитик изменил master spec в ветке”</a:t>
            </a:r>
            <a:endParaRPr lang="ru-RU" sz="1200"/>
          </a:p>
        </p:txBody>
      </p:sp>
      <p:sp>
        <p:nvSpPr>
          <p:cNvPr id="5" name="title"/>
          <p:cNvSpPr/>
          <p:nvPr/>
        </p:nvSpPr>
        <p:spPr>
          <a:xfrm>
            <a:off x="530352" y="50292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2900" b="1">
                <a:solidFill>
                  <a:srgbClr val="0F172A"/>
                </a:solidFill>
                <a:latin typeface="Aptos"/>
                <a:cs typeface="Aptos"/>
              </a:rPr>
              <a:t>Доработка 2: change.md из branch diff</a:t>
            </a:r>
            <a:endParaRPr lang="ru-RU" sz="2900"/>
          </a:p>
        </p:txBody>
      </p:sp>
      <p:sp>
        <p:nvSpPr>
          <p:cNvPr id="40" name="workflow"/>
          <p:cNvSpPr/>
          <p:nvPr/>
        </p:nvSpPr>
        <p:spPr>
          <a:xfrm>
            <a:off x="640080" y="1188720"/>
            <a:ext cx="10972800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1500" b="1">
                <a:solidFill>
                  <a:srgbClr val="FFFFFF"/>
                </a:solidFill>
                <a:latin typeface="Aptos"/>
                <a:cs typeface="Aptos"/>
              </a:rPr>
              <a:t>base_ref  →  analyst_ref  →  git diff -- openspec/&lt;service&gt;/  →  change.md + .spec-diff  →  design/tasks/implement</a:t>
            </a:r>
            <a:endParaRPr lang="ru-RU" sz="1500"/>
          </a:p>
        </p:txBody>
      </p:sp>
      <p:sp>
        <p:nvSpPr>
          <p:cNvPr id="41" name="branch left"/>
          <p:cNvSpPr/>
          <p:nvPr/>
        </p:nvSpPr>
        <p:spPr>
          <a:xfrm>
            <a:off x="685800" y="2240280"/>
            <a:ext cx="5303520" cy="3474720"/>
          </a:xfrm>
          <a:prstGeom prst="rect">
            <a:avLst/>
          </a:prstGeom>
          <a:solidFill>
            <a:srgbClr val="FFFFFF"/>
          </a:solidFill>
          <a:ln w="12000" cap="flat" cmpd="sng" algn="ctr">
            <a:solidFill>
              <a:srgbClr val="CBD5E1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Новый skill: openspec-change-from-diff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Разработчик может быть в любой своей ветке.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Сравниваются только локальные refs.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Default: three-dot diff от merge-base.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Все added/modified/deleted/renamed файлы master root попадают в анализ.</a:t>
            </a:r>
            <a:endParaRPr lang="ru-RU" sz="1450"/>
          </a:p>
        </p:txBody>
      </p:sp>
      <p:sp>
        <p:nvSpPr>
          <p:cNvPr id="42" name="branch right"/>
          <p:cNvSpPr/>
          <p:nvPr/>
        </p:nvSpPr>
        <p:spPr>
          <a:xfrm>
            <a:off x="6355080" y="2240280"/>
            <a:ext cx="5257800" cy="3474720"/>
          </a:xfrm>
          <a:prstGeom prst="rect">
            <a:avLst/>
          </a:prstGeom>
          <a:solidFill>
            <a:srgbClr val="FFF7ED"/>
          </a:solidFill>
          <a:ln w="12000" cap="flat" cmpd="sng" algn="ctr">
            <a:solidFill>
              <a:srgbClr val="FDBA74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Guardrails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Запрещены автоматические git fetch / pull.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Нет checkout base/analyst веток.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Файлы читаются через git show &lt;ref&gt;:&lt;path&gt;.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Контекст выбирается через manifest, не только по patch.</a:t>
            </a:r>
            <a:endParaRPr lang="ru-RU" sz="14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kicker"/>
          <p:cNvSpPr/>
          <p:nvPr/>
        </p:nvSpPr>
        <p:spPr>
          <a:xfrm>
            <a:off x="566928" y="20116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1200" b="1">
                <a:solidFill>
                  <a:srgbClr val="2563EB"/>
                </a:solidFill>
                <a:latin typeface="Aptos"/>
                <a:cs typeface="Aptos"/>
              </a:rPr>
              <a:t>Больше реальных сценариев без потери SDD-дисциплины</a:t>
            </a:r>
            <a:endParaRPr lang="ru-RU" sz="1200"/>
          </a:p>
        </p:txBody>
      </p:sp>
      <p:sp>
        <p:nvSpPr>
          <p:cNvPr id="5" name="title"/>
          <p:cNvSpPr/>
          <p:nvPr/>
        </p:nvSpPr>
        <p:spPr>
          <a:xfrm>
            <a:off x="530352" y="502920"/>
            <a:ext cx="10881360" cy="658368"/>
          </a:xfrm>
          <a:prstGeom prst="rect">
            <a:avLst/>
          </a:prstGeom>
          <a:noFill/>
          <a:ln>
            <a:noFill/>
          </a:ln>
        </p:spPr>
        <p:txBody>
          <a:bodyPr wrap="square" lIns="120000" tIns="80000" rIns="120000" bIns="80000" anchor="t"/>
          <a:lstStyle/>
          <a:p>
            <a:pPr>
              <a:buNone/>
            </a:pPr>
            <a:r>
              <a:rPr lang="ru-RU" sz="2900" b="1">
                <a:solidFill>
                  <a:srgbClr val="0F172A"/>
                </a:solidFill>
                <a:latin typeface="Aptos"/>
                <a:cs typeface="Aptos"/>
              </a:rPr>
              <a:t>Что это дает команде</a:t>
            </a:r>
            <a:endParaRPr lang="ru-RU" sz="2900"/>
          </a:p>
        </p:txBody>
      </p:sp>
      <p:sp>
        <p:nvSpPr>
          <p:cNvPr id="50" name="scenarios"/>
          <p:cNvSpPr/>
          <p:nvPr/>
        </p:nvSpPr>
        <p:spPr>
          <a:xfrm>
            <a:off x="640080" y="1234440"/>
            <a:ext cx="3657600" cy="4754880"/>
          </a:xfrm>
          <a:prstGeom prst="rect">
            <a:avLst/>
          </a:prstGeom>
          <a:solidFill>
            <a:srgbClr val="FFFFFF"/>
          </a:solidFill>
          <a:ln w="12000" cap="flat" cmpd="sng" algn="ctr">
            <a:solidFill>
              <a:srgbClr val="CBD5E1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Какие спецсценарии закрываем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Аналитик правит несколько документов в ветке.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Разработчик получает change.md без ручного пересказа.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Большие/папочные спецификации остаются в исходном формате.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Binary и нечитаемые артефакты не игнорируются.</a:t>
            </a:r>
            <a:endParaRPr lang="ru-RU" sz="1450"/>
          </a:p>
        </p:txBody>
      </p:sp>
      <p:sp>
        <p:nvSpPr>
          <p:cNvPr id="51" name="process"/>
          <p:cNvSpPr/>
          <p:nvPr/>
        </p:nvSpPr>
        <p:spPr>
          <a:xfrm>
            <a:off x="4526280" y="1234440"/>
            <a:ext cx="3566160" cy="4754880"/>
          </a:xfrm>
          <a:prstGeom prst="rect">
            <a:avLst/>
          </a:prstGeom>
          <a:solidFill>
            <a:srgbClr val="EFF6FF"/>
          </a:solidFill>
          <a:ln w="12000" cap="flat" cmpd="sng" algn="ctr">
            <a:solidFill>
              <a:srgbClr val="93C5FD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Как работает дальше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change.md содержит diff metadata: base, analyst, mode, merge-base.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.spec-diff сохраняет refs, name-status, stat, patch, changed/context files.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openspec-design и implement читают branch-diff как обычный согласованный change.</a:t>
            </a:r>
            <a:endParaRPr lang="ru-RU" sz="1450"/>
          </a:p>
        </p:txBody>
      </p:sp>
      <p:sp>
        <p:nvSpPr>
          <p:cNvPr id="52" name="value"/>
          <p:cNvSpPr/>
          <p:nvPr/>
        </p:nvSpPr>
        <p:spPr>
          <a:xfrm>
            <a:off x="8366760" y="1234440"/>
            <a:ext cx="3291840" cy="4754880"/>
          </a:xfrm>
          <a:prstGeom prst="rect">
            <a:avLst/>
          </a:prstGeom>
          <a:solidFill>
            <a:srgbClr val="F0FDF4"/>
          </a:solidFill>
          <a:ln w="12000" cap="flat" cmpd="sng" algn="ctr">
            <a:solidFill>
              <a:srgbClr val="86EFAC"/>
            </a:solidFill>
          </a:ln>
        </p:spPr>
        <p:txBody>
          <a:bodyPr wrap="square" lIns="120000" tIns="80000" rIns="120000" bIns="80000" anchor="t"/>
          <a:lstStyle/>
          <a:p>
            <a:pPr marL="299720" indent="-179705">
              <a:buChar char="•"/>
            </a:pPr>
            <a:r>
              <a:rPr lang="ru-RU" sz="1450" b="1">
                <a:solidFill>
                  <a:srgbClr val="0F172A"/>
                </a:solidFill>
                <a:latin typeface="Aptos"/>
                <a:cs typeface="Aptos"/>
              </a:rPr>
              <a:t>Итог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Финальный apply-change по умолчанию не нужен.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Вместо merge — verify source-of-truth docs в analyst ref.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Если пользователь настаивает на apply, нужен clean status и явное подтверждение.</a:t>
            </a:r>
            <a:endParaRPr lang="ru-RU" sz="1450"/>
          </a:p>
          <a:p>
            <a:pPr marL="299720" indent="-179705">
              <a:buChar char="•"/>
            </a:pPr>
            <a:r>
              <a:rPr lang="ru-RU" sz="1450">
                <a:solidFill>
                  <a:srgbClr val="0F172A"/>
                </a:solidFill>
                <a:latin typeface="Aptos"/>
                <a:cs typeface="Aptos"/>
              </a:rPr>
              <a:t>Процесс остается трассируемым и безопасным.</a:t>
            </a:r>
            <a:endParaRPr lang="ru-RU" sz="14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DD Theme">
  <a:themeElements>
    <a:clrScheme name="SDD">
      <a:dk1>
        <a:srgbClr val="0F172A"/>
      </a:dk1>
      <a:lt1>
        <a:srgbClr val="F8FAFC"/>
      </a:lt1>
      <a:dk2>
        <a:srgbClr val="334155"/>
      </a:dk2>
      <a:lt2>
        <a:srgbClr val="FFFFFF"/>
      </a:lt2>
      <a:accent1>
        <a:srgbClr val="2563EB"/>
      </a:accent1>
      <a:accent2>
        <a:srgbClr val="16A34A"/>
      </a:accent2>
      <a:accent3>
        <a:srgbClr val="F9731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Apto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SDD">
      <a:fillStyleLst>
        <a:solidFill>
          <a:schemeClr val="accent1"/>
        </a:solidFill>
      </a:fillStyleLst>
      <a:lnStyleLst>
        <a:ln w="10000">
          <a:solidFill>
            <a:schemeClr val="accent1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3234</Words>
  <Application>WPS Presentation</Application>
  <PresentationFormat>On-screen Show (16:9)</PresentationFormat>
  <Paragraphs>93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Aptos</vt:lpstr>
      <vt:lpstr>Segoe UI</vt:lpstr>
      <vt:lpstr>Microsoft YaHei</vt:lpstr>
      <vt:lpstr>Arial Unicode MS</vt:lpstr>
      <vt:lpstr>Calibri</vt:lpstr>
      <vt:lpstr>SDD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SDD/OpenSpec: доработка под специальные сценарии</dc:title>
  <dc:creator>Codex</dc:creator>
  <cp:lastModifiedBy>deanv</cp:lastModifiedBy>
  <cp:revision>1</cp:revision>
  <dcterms:created xsi:type="dcterms:W3CDTF">2026-06-02T22:48:38Z</dcterms:created>
  <dcterms:modified xsi:type="dcterms:W3CDTF">2026-06-02T22:48:38Z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0AF4F77EB94644B4874EC99072A7FCE5_13</vt:lpwstr>
  </property>
  <property fmtid="{D5CDD505-2E9C-101B-9397-08002B2CF9AE}" pid="3" name="KSOProductBuildVer">
    <vt:lpwstr>1033-12.2.0.23202</vt:lpwstr>
  </property>
</Properties>
</file>
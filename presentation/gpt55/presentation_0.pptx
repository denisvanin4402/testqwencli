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61" r:id="rId7"/>
    <p:sldId id="263" r:id="rId8"/>
    <p:sldId id="262" r:id="rId9"/>
    <p:sldId id="264" r:id="rId10"/>
    <p:sldId id="265" r:id="rId11"/>
  </p:sldIdLst>
  <p:sldSz cx="12191365" cy="6858000" type="screen4x3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177064"/>
              </a:gs>
              <a:gs pos="54000">
                <a:srgbClr val="1C252F"/>
              </a:gs>
              <a:gs pos="100000">
                <a:srgbClr val="3B70B7"/>
              </a:gs>
            </a:gsLst>
            <a:lin ang="8100000" scaled="1"/>
          </a:gra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94360" y="566928"/>
            <a:ext cx="594360" cy="128016"/>
          </a:xfrm>
          <a:prstGeom prst="roundRect">
            <a:avLst/>
          </a:prstGeom>
          <a:solidFill>
            <a:srgbClr val="D99A2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594360" y="79552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100" b="1">
                <a:solidFill>
                  <a:srgbClr val="D9F3EE"/>
                </a:solidFill>
                <a:latin typeface="Aptos"/>
                <a:cs typeface="Aptos"/>
              </a:rPr>
              <a:t>OpenSpec / SDD</a:t>
            </a:r>
            <a:endParaRPr lang="ru-RU" sz="1100"/>
          </a:p>
        </p:txBody>
      </p:sp>
      <p:sp>
        <p:nvSpPr>
          <p:cNvPr id="5" name="text 5"/>
          <p:cNvSpPr txBox="1"/>
          <p:nvPr/>
        </p:nvSpPr>
        <p:spPr>
          <a:xfrm>
            <a:off x="621792" y="1417320"/>
            <a:ext cx="7863840" cy="74930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4400" b="1">
                <a:solidFill>
                  <a:srgbClr val="FFFFFF"/>
                </a:solidFill>
                <a:latin typeface="Bahnschrift" panose="020B0502040204020203"/>
                <a:cs typeface="Bahnschrift" panose="020B0502040204020203"/>
              </a:rPr>
              <a:t>OpenSpec</a:t>
            </a:r>
            <a:r>
              <a:rPr lang="en-US" altLang="ru-RU" sz="4400" b="1">
                <a:solidFill>
                  <a:srgbClr val="FFFFFF"/>
                </a:solidFill>
                <a:latin typeface="Bahnschrift" panose="020B0502040204020203"/>
                <a:cs typeface="Bahnschrift" panose="020B0502040204020203"/>
              </a:rPr>
              <a:t> </a:t>
            </a:r>
            <a:r>
              <a:rPr lang="ru-RU" altLang="en-US" sz="4400" b="1">
                <a:solidFill>
                  <a:srgbClr val="FFFFFF"/>
                </a:solidFill>
                <a:latin typeface="Bahnschrift" panose="020B0502040204020203"/>
                <a:cs typeface="Bahnschrift" panose="020B0502040204020203"/>
              </a:rPr>
              <a:t>в НСиР</a:t>
            </a:r>
            <a:endParaRPr lang="ru-RU" altLang="en-US" sz="4400" b="1">
              <a:solidFill>
                <a:srgbClr val="FFFFFF"/>
              </a:solidFill>
              <a:latin typeface="Bahnschrift" panose="020B0502040204020203"/>
              <a:cs typeface="Bahnschrift" panose="020B0502040204020203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640080" y="2880360"/>
            <a:ext cx="7863840" cy="34925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800" b="1">
                <a:solidFill>
                  <a:srgbClr val="CDEBE4"/>
                </a:solidFill>
                <a:latin typeface="Aptos"/>
                <a:cs typeface="Aptos"/>
              </a:rPr>
              <a:t>Расширение функциональности </a:t>
            </a:r>
            <a:r>
              <a:rPr lang="en-US" altLang="ru-RU" sz="1800" b="1">
                <a:solidFill>
                  <a:srgbClr val="CDEBE4"/>
                </a:solidFill>
                <a:latin typeface="Aptos"/>
                <a:cs typeface="Aptos"/>
              </a:rPr>
              <a:t>O</a:t>
            </a:r>
            <a:r>
              <a:rPr lang="en-US" sz="1800" b="1">
                <a:solidFill>
                  <a:srgbClr val="CDEBE4"/>
                </a:solidFill>
                <a:latin typeface="Aptos"/>
                <a:cs typeface="Aptos"/>
              </a:rPr>
              <a:t>penSpec</a:t>
            </a:r>
            <a:endParaRPr lang="ru-RU" sz="1800"/>
          </a:p>
        </p:txBody>
      </p:sp>
      <p:sp>
        <p:nvSpPr>
          <p:cNvPr id="7" name="text 7"/>
          <p:cNvSpPr txBox="1"/>
          <p:nvPr/>
        </p:nvSpPr>
        <p:spPr>
          <a:xfrm>
            <a:off x="640080" y="3447288"/>
            <a:ext cx="8595360" cy="39497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2100">
                <a:solidFill>
                  <a:srgbClr val="FFFFFF"/>
                </a:solidFill>
                <a:latin typeface="Aptos"/>
                <a:cs typeface="Aptos"/>
              </a:rPr>
              <a:t>Подключение существующей enterprise-документации</a:t>
            </a:r>
            <a:endParaRPr lang="en-US" altLang="ru-RU" sz="2100">
              <a:solidFill>
                <a:srgbClr val="FFFFFF"/>
              </a:solidFill>
              <a:latin typeface="Aptos"/>
              <a:cs typeface="Aptos"/>
            </a:endParaRPr>
          </a:p>
        </p:txBody>
      </p:sp>
      <p:sp>
        <p:nvSpPr>
          <p:cNvPr id="8" name="shape 8"/>
          <p:cNvSpPr/>
          <p:nvPr/>
        </p:nvSpPr>
        <p:spPr>
          <a:xfrm>
            <a:off x="658368" y="4800600"/>
            <a:ext cx="21488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768096" y="4901184"/>
            <a:ext cx="822960" cy="384048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2600" b="1">
                <a:solidFill>
                  <a:srgbClr val="0F6B5F"/>
                </a:solidFill>
                <a:latin typeface="Bahnschrift" panose="020B0502040204020203"/>
                <a:cs typeface="Bahnschrift" panose="020B0502040204020203"/>
              </a:rPr>
              <a:t>3+</a:t>
            </a:r>
            <a:endParaRPr lang="ru-RU" sz="2600"/>
          </a:p>
        </p:txBody>
      </p:sp>
      <p:sp>
        <p:nvSpPr>
          <p:cNvPr id="10" name="text 10"/>
          <p:cNvSpPr txBox="1"/>
          <p:nvPr/>
        </p:nvSpPr>
        <p:spPr>
          <a:xfrm>
            <a:off x="768096" y="5321808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100" b="1">
                <a:solidFill>
                  <a:srgbClr val="3E4756"/>
                </a:solidFill>
                <a:latin typeface="Aptos"/>
                <a:cs typeface="Aptos"/>
              </a:rPr>
              <a:t>года развития</a:t>
            </a:r>
            <a:endParaRPr lang="ru-RU" sz="1100"/>
          </a:p>
        </p:txBody>
      </p:sp>
      <p:sp>
        <p:nvSpPr>
          <p:cNvPr id="11" name="shape 11"/>
          <p:cNvSpPr/>
          <p:nvPr/>
        </p:nvSpPr>
        <p:spPr>
          <a:xfrm>
            <a:off x="3127248" y="4800600"/>
            <a:ext cx="214884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3237230" y="4900930"/>
            <a:ext cx="1445260" cy="4724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2600" b="1">
                <a:solidFill>
                  <a:srgbClr val="0F6B5F"/>
                </a:solidFill>
                <a:latin typeface="Bahnschrift" panose="020B0502040204020203"/>
                <a:cs typeface="Bahnschrift" panose="020B0502040204020203"/>
              </a:rPr>
              <a:t>10+10</a:t>
            </a:r>
            <a:endParaRPr lang="ru-RU" sz="2600"/>
          </a:p>
        </p:txBody>
      </p:sp>
      <p:sp>
        <p:nvSpPr>
          <p:cNvPr id="13" name="text 13"/>
          <p:cNvSpPr txBox="1"/>
          <p:nvPr/>
        </p:nvSpPr>
        <p:spPr>
          <a:xfrm>
            <a:off x="3236976" y="5321808"/>
            <a:ext cx="1783080" cy="256032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100" b="1">
                <a:solidFill>
                  <a:srgbClr val="3E4756"/>
                </a:solidFill>
                <a:latin typeface="Aptos"/>
                <a:cs typeface="Aptos"/>
              </a:rPr>
              <a:t>сервисов и библиотек</a:t>
            </a:r>
            <a:endParaRPr lang="ru-RU" sz="1100"/>
          </a:p>
        </p:txBody>
      </p:sp>
      <p:sp>
        <p:nvSpPr>
          <p:cNvPr id="14" name="shape 14"/>
          <p:cNvSpPr/>
          <p:nvPr/>
        </p:nvSpPr>
        <p:spPr>
          <a:xfrm>
            <a:off x="5596255" y="4800600"/>
            <a:ext cx="228727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5706110" y="4900930"/>
            <a:ext cx="2212975" cy="4724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2600" b="1">
                <a:solidFill>
                  <a:srgbClr val="0F6B5F"/>
                </a:solidFill>
                <a:latin typeface="Bahnschrift" panose="020B0502040204020203"/>
                <a:cs typeface="Bahnschrift" panose="020B0502040204020203"/>
              </a:rPr>
              <a:t>1 пилот ~100</a:t>
            </a:r>
            <a:endParaRPr lang="en-US" sz="2600" b="1">
              <a:solidFill>
                <a:srgbClr val="0F6B5F"/>
              </a:solidFill>
              <a:latin typeface="Bahnschrift" panose="020B0502040204020203"/>
              <a:cs typeface="Bahnschrift" panose="020B0502040204020203"/>
            </a:endParaRPr>
          </a:p>
        </p:txBody>
      </p:sp>
      <p:sp>
        <p:nvSpPr>
          <p:cNvPr id="16" name="text 16"/>
          <p:cNvSpPr txBox="1"/>
          <p:nvPr/>
        </p:nvSpPr>
        <p:spPr>
          <a:xfrm>
            <a:off x="5706110" y="5321935"/>
            <a:ext cx="1922145" cy="4292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noAutofit/>
          </a:bodyPr>
          <a:lstStyle/>
          <a:p>
            <a:r>
              <a:rPr lang="ru-RU" sz="1100" b="1">
                <a:solidFill>
                  <a:srgbClr val="3E4756"/>
                </a:solidFill>
                <a:latin typeface="Aptos"/>
                <a:cs typeface="Aptos"/>
              </a:rPr>
              <a:t>MD-документов в пилотном сервисе</a:t>
            </a:r>
            <a:endParaRPr lang="en-US" altLang="ru-RU" sz="1100" b="1">
              <a:solidFill>
                <a:srgbClr val="3E4756"/>
              </a:solidFill>
              <a:latin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B5F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1792" y="502920"/>
            <a:ext cx="502920" cy="109728"/>
          </a:xfrm>
          <a:prstGeom prst="roundRect">
            <a:avLst/>
          </a:prstGeom>
          <a:solidFill>
            <a:srgbClr val="D99A2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1792" y="704088"/>
            <a:ext cx="2834640" cy="21945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000" b="1">
                <a:solidFill>
                  <a:srgbClr val="0F6B5F"/>
                </a:solidFill>
                <a:latin typeface="Aptos"/>
                <a:cs typeface="Aptos"/>
              </a:rPr>
              <a:t>OpenSpec adaptation · 02</a:t>
            </a:r>
            <a:endParaRPr lang="ru-RU" sz="1000"/>
          </a:p>
        </p:txBody>
      </p:sp>
      <p:sp>
        <p:nvSpPr>
          <p:cNvPr id="6" name="text 6"/>
          <p:cNvSpPr txBox="1"/>
          <p:nvPr/>
        </p:nvSpPr>
        <p:spPr>
          <a:xfrm>
            <a:off x="621792" y="109728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3400" b="1">
                <a:solidFill>
                  <a:srgbClr val="18212B"/>
                </a:solidFill>
                <a:latin typeface="Bahnschrift" panose="020B0502040204020203"/>
                <a:cs typeface="Bahnschrift" panose="020B0502040204020203"/>
              </a:rPr>
              <a:t>Исходная реальность</a:t>
            </a:r>
            <a:endParaRPr lang="ru-RU" sz="3400"/>
          </a:p>
        </p:txBody>
      </p:sp>
      <p:sp>
        <p:nvSpPr>
          <p:cNvPr id="7" name="text 7"/>
          <p:cNvSpPr txBox="1"/>
          <p:nvPr/>
        </p:nvSpPr>
        <p:spPr>
          <a:xfrm>
            <a:off x="640080" y="1874520"/>
            <a:ext cx="7223760" cy="30289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500" b="1">
                <a:solidFill>
                  <a:srgbClr val="3E4756"/>
                </a:solidFill>
                <a:latin typeface="Aptos"/>
                <a:cs typeface="Aptos"/>
              </a:rPr>
              <a:t>Обширная аналитика по сервисам</a:t>
            </a:r>
            <a:endParaRPr lang="ru-RU" sz="1500"/>
          </a:p>
        </p:txBody>
      </p:sp>
      <p:sp>
        <p:nvSpPr>
          <p:cNvPr id="8" name="text 8"/>
          <p:cNvSpPr txBox="1"/>
          <p:nvPr/>
        </p:nvSpPr>
        <p:spPr>
          <a:xfrm>
            <a:off x="640080" y="2331720"/>
            <a:ext cx="7406640" cy="59499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700">
                <a:solidFill>
                  <a:srgbClr val="22303D"/>
                </a:solidFill>
                <a:latin typeface="Aptos"/>
                <a:cs typeface="Aptos"/>
              </a:rPr>
              <a:t>Процесс команды всегда строился от документации: аналитик меняет описание поведения, разработчик реализует согласованное изменение.</a:t>
            </a:r>
            <a:endParaRPr lang="ru-RU" sz="1700"/>
          </a:p>
        </p:txBody>
      </p:sp>
      <p:sp>
        <p:nvSpPr>
          <p:cNvPr id="9" name="text 9"/>
          <p:cNvSpPr txBox="1"/>
          <p:nvPr/>
        </p:nvSpPr>
        <p:spPr>
          <a:xfrm>
            <a:off x="767080" y="3169920"/>
            <a:ext cx="7101205" cy="145732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• Confluence содержал структурированную аналитику по сервисам</a:t>
            </a:r>
            <a:endParaRPr lang="ru-RU" sz="1500"/>
          </a:p>
          <a:p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• Документы структурированы и разбиты по категориям - интеграции, модели, workflow, и тд.</a:t>
            </a:r>
            <a:endParaRPr lang="ru-RU" sz="1500">
              <a:solidFill>
                <a:srgbClr val="25313D"/>
              </a:solidFill>
              <a:latin typeface="Aptos"/>
              <a:cs typeface="Aptos"/>
            </a:endParaRPr>
          </a:p>
          <a:p>
            <a:r>
              <a:rPr lang="ru-RU" sz="1500">
                <a:solidFill>
                  <a:srgbClr val="25313D"/>
                </a:solidFill>
                <a:latin typeface="Aptos"/>
                <a:cs typeface="Aptos"/>
                <a:sym typeface="+mn-ea"/>
              </a:rPr>
              <a:t>• Документы описывают текущее состояние системы (нет дельта-спецификаций)</a:t>
            </a:r>
            <a:endParaRPr lang="ru-RU" sz="1500"/>
          </a:p>
          <a:p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• Изменение кода без документации допустим только для багов разработки</a:t>
            </a:r>
            <a:endParaRPr lang="ru-RU" sz="1500"/>
          </a:p>
        </p:txBody>
      </p:sp>
      <p:sp>
        <p:nvSpPr>
          <p:cNvPr id="12" name="shape 12"/>
          <p:cNvSpPr/>
          <p:nvPr/>
        </p:nvSpPr>
        <p:spPr>
          <a:xfrm>
            <a:off x="621792" y="6327648"/>
            <a:ext cx="1417320" cy="45720"/>
          </a:xfrm>
          <a:prstGeom prst="roundRect">
            <a:avLst/>
          </a:prstGeom>
          <a:solidFill>
            <a:srgbClr val="E7ECE8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621792" y="6327648"/>
            <a:ext cx="283464" cy="45720"/>
          </a:xfrm>
          <a:prstGeom prst="roundRect">
            <a:avLst/>
          </a:prstGeom>
          <a:solidFill>
            <a:srgbClr val="D99A2B"/>
          </a:solid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B5F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1792" y="502920"/>
            <a:ext cx="502920" cy="109728"/>
          </a:xfrm>
          <a:prstGeom prst="roundRect">
            <a:avLst/>
          </a:prstGeom>
          <a:solidFill>
            <a:srgbClr val="D99A2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1792" y="704088"/>
            <a:ext cx="2834640" cy="21945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000" b="1">
                <a:solidFill>
                  <a:srgbClr val="0F6B5F"/>
                </a:solidFill>
                <a:latin typeface="Aptos"/>
                <a:cs typeface="Aptos"/>
              </a:rPr>
              <a:t>OpenSpec adaptation · 03</a:t>
            </a:r>
            <a:endParaRPr lang="ru-RU" sz="1000"/>
          </a:p>
        </p:txBody>
      </p:sp>
      <p:sp>
        <p:nvSpPr>
          <p:cNvPr id="6" name="text 6"/>
          <p:cNvSpPr txBox="1"/>
          <p:nvPr/>
        </p:nvSpPr>
        <p:spPr>
          <a:xfrm>
            <a:off x="621665" y="1097280"/>
            <a:ext cx="9063355" cy="59499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3400" b="1">
                <a:solidFill>
                  <a:srgbClr val="18212B"/>
                </a:solidFill>
                <a:latin typeface="Bahnschrift" panose="020B0502040204020203"/>
                <a:cs typeface="Bahnschrift" panose="020B0502040204020203"/>
              </a:rPr>
              <a:t>Где стандартный </a:t>
            </a:r>
            <a:r>
              <a:rPr lang="en-US" sz="3400" b="1">
                <a:solidFill>
                  <a:srgbClr val="18212B"/>
                </a:solidFill>
                <a:latin typeface="Bahnschrift" panose="020B0502040204020203"/>
                <a:cs typeface="Bahnschrift" panose="020B0502040204020203"/>
              </a:rPr>
              <a:t>OpenSpec </a:t>
            </a:r>
            <a:r>
              <a:rPr lang="ru-RU" sz="3400" b="1">
                <a:solidFill>
                  <a:srgbClr val="18212B"/>
                </a:solidFill>
                <a:latin typeface="Bahnschrift" panose="020B0502040204020203"/>
                <a:cs typeface="Bahnschrift" panose="020B0502040204020203"/>
              </a:rPr>
              <a:t>не сходился</a:t>
            </a:r>
            <a:endParaRPr lang="ru-RU" sz="3400"/>
          </a:p>
        </p:txBody>
      </p:sp>
      <p:sp>
        <p:nvSpPr>
          <p:cNvPr id="7" name="text 7"/>
          <p:cNvSpPr txBox="1"/>
          <p:nvPr/>
        </p:nvSpPr>
        <p:spPr>
          <a:xfrm>
            <a:off x="640080" y="187452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500" b="1">
                <a:solidFill>
                  <a:srgbClr val="3E4756"/>
                </a:solidFill>
                <a:latin typeface="Aptos"/>
                <a:cs typeface="Aptos"/>
              </a:rPr>
              <a:t>OpenSpec в исходной модели предполагает другой старт</a:t>
            </a:r>
            <a:endParaRPr lang="ru-RU" sz="1500"/>
          </a:p>
        </p:txBody>
      </p:sp>
      <p:sp>
        <p:nvSpPr>
          <p:cNvPr id="8" name="text 8"/>
          <p:cNvSpPr txBox="1"/>
          <p:nvPr/>
        </p:nvSpPr>
        <p:spPr>
          <a:xfrm>
            <a:off x="640080" y="2331720"/>
            <a:ext cx="7406640" cy="59499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700">
                <a:solidFill>
                  <a:srgbClr val="22303D"/>
                </a:solidFill>
                <a:latin typeface="Aptos"/>
                <a:cs typeface="Aptos"/>
              </a:rPr>
              <a:t>Стандартный подход удобен, когда сервис небольшой или существующая аналитика не совпадает с кодом</a:t>
            </a:r>
            <a:endParaRPr lang="ru-RU" sz="1700"/>
          </a:p>
        </p:txBody>
      </p:sp>
      <p:sp>
        <p:nvSpPr>
          <p:cNvPr id="9" name="text 9"/>
          <p:cNvSpPr txBox="1"/>
          <p:nvPr/>
        </p:nvSpPr>
        <p:spPr>
          <a:xfrm>
            <a:off x="839470" y="3063875"/>
            <a:ext cx="7064375" cy="168783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en-US" altLang="en-US" sz="1500">
                <a:solidFill>
                  <a:srgbClr val="25313D"/>
                </a:solidFill>
                <a:latin typeface="Aptos"/>
                <a:cs typeface="Aptos"/>
                <a:sym typeface="+mn-ea"/>
              </a:rPr>
              <a:t>- Работа с OpenSpec в исходном виде подразумевает </a:t>
            </a:r>
            <a:r>
              <a:rPr lang="en-US" altLang="en-US" sz="1500" b="1">
                <a:solidFill>
                  <a:srgbClr val="25313D"/>
                </a:solidFill>
                <a:latin typeface="Aptos"/>
                <a:cs typeface="Aptos"/>
                <a:sym typeface="+mn-ea"/>
              </a:rPr>
              <a:t>реверс инжиниринг</a:t>
            </a:r>
            <a:r>
              <a:rPr lang="en-US" altLang="en-US" sz="1500">
                <a:solidFill>
                  <a:srgbClr val="25313D"/>
                </a:solidFill>
                <a:latin typeface="Aptos"/>
                <a:cs typeface="Aptos"/>
                <a:sym typeface="+mn-ea"/>
              </a:rPr>
              <a:t> - создание мастер спецификации из кода</a:t>
            </a:r>
            <a:endParaRPr lang="en-US" altLang="en-US" sz="1500">
              <a:solidFill>
                <a:srgbClr val="25313D"/>
              </a:solidFill>
              <a:latin typeface="Aptos"/>
              <a:cs typeface="Aptos"/>
              <a:sym typeface="+mn-ea"/>
            </a:endParaRPr>
          </a:p>
          <a:p>
            <a:r>
              <a:rPr lang="en-US" altLang="en-US" sz="1500">
                <a:solidFill>
                  <a:srgbClr val="25313D"/>
                </a:solidFill>
                <a:latin typeface="Aptos"/>
                <a:cs typeface="Aptos"/>
                <a:sym typeface="+mn-ea"/>
              </a:rPr>
              <a:t>- Для</a:t>
            </a:r>
            <a:r>
              <a:rPr lang="en-US" altLang="en-US" sz="1500" b="1">
                <a:solidFill>
                  <a:srgbClr val="25313D"/>
                </a:solidFill>
                <a:latin typeface="Aptos"/>
                <a:cs typeface="Aptos"/>
                <a:sym typeface="+mn-ea"/>
              </a:rPr>
              <a:t> большого проекта</a:t>
            </a:r>
            <a:r>
              <a:rPr lang="en-US" altLang="en-US" sz="1500">
                <a:solidFill>
                  <a:srgbClr val="25313D"/>
                </a:solidFill>
                <a:latin typeface="Aptos"/>
                <a:cs typeface="Aptos"/>
                <a:sym typeface="+mn-ea"/>
              </a:rPr>
              <a:t> один или несколько больших Markdown-файлов по бизнес-капабилити становится узким местом.</a:t>
            </a:r>
            <a:endParaRPr lang="en-US" altLang="en-US" sz="1500">
              <a:solidFill>
                <a:srgbClr val="25313D"/>
              </a:solidFill>
              <a:latin typeface="Aptos"/>
              <a:cs typeface="Aptos"/>
              <a:sym typeface="+mn-ea"/>
            </a:endParaRPr>
          </a:p>
          <a:p>
            <a:r>
              <a:rPr lang="en-US" altLang="en-US" sz="1500">
                <a:solidFill>
                  <a:srgbClr val="25313D"/>
                </a:solidFill>
                <a:latin typeface="Aptos"/>
                <a:cs typeface="Aptos"/>
                <a:sym typeface="+mn-ea"/>
              </a:rPr>
              <a:t>- Плохо масштабируется на </a:t>
            </a:r>
            <a:r>
              <a:rPr lang="en-US" altLang="en-US" sz="1500" b="1">
                <a:solidFill>
                  <a:srgbClr val="25313D"/>
                </a:solidFill>
                <a:latin typeface="Aptos"/>
                <a:cs typeface="Aptos"/>
                <a:sym typeface="+mn-ea"/>
              </a:rPr>
              <a:t>существующую enterprise-документацию</a:t>
            </a:r>
            <a:r>
              <a:rPr lang="en-US" altLang="en-US" sz="1500">
                <a:solidFill>
                  <a:srgbClr val="25313D"/>
                </a:solidFill>
                <a:latin typeface="Aptos"/>
                <a:cs typeface="Aptos"/>
                <a:sym typeface="+mn-ea"/>
              </a:rPr>
              <a:t>. </a:t>
            </a:r>
            <a:endParaRPr lang="en-US" altLang="en-US" sz="1500">
              <a:solidFill>
                <a:srgbClr val="25313D"/>
              </a:solidFill>
              <a:latin typeface="Aptos"/>
              <a:cs typeface="Aptos"/>
              <a:sym typeface="+mn-ea"/>
            </a:endParaRPr>
          </a:p>
          <a:p>
            <a:r>
              <a:rPr lang="en-US" altLang="en-US" sz="1500">
                <a:solidFill>
                  <a:srgbClr val="25313D"/>
                </a:solidFill>
                <a:latin typeface="Aptos"/>
                <a:cs typeface="Aptos"/>
                <a:sym typeface="+mn-ea"/>
              </a:rPr>
              <a:t>- Сложнее работать с OpenAPI/YAML/диаграммами/dbml артефактами как с равноправными частями master spec.</a:t>
            </a:r>
            <a:endParaRPr lang="en-US" altLang="en-US" sz="1500">
              <a:solidFill>
                <a:srgbClr val="25313D"/>
              </a:solidFill>
              <a:latin typeface="Aptos"/>
              <a:cs typeface="Aptos"/>
              <a:sym typeface="+mn-ea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8183880" y="2637155"/>
            <a:ext cx="3063240" cy="1783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DA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8439912" y="3191256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code -&gt; one spec.md</a:t>
            </a:r>
            <a:endParaRPr lang="ru-RU" sz="1400"/>
          </a:p>
          <a:p>
            <a:endParaRPr lang="ru-RU" sz="1400"/>
          </a:p>
          <a:p>
            <a:r>
              <a:rPr lang="ru-RU" sz="1400" b="1">
                <a:solidFill>
                  <a:srgbClr val="18212B"/>
                </a:solidFill>
                <a:latin typeface="Aptos"/>
                <a:cs typeface="Aptos"/>
              </a:rPr>
              <a:t>existing docs -&gt; folder spec</a:t>
            </a:r>
            <a:endParaRPr lang="ru-RU" sz="1400"/>
          </a:p>
        </p:txBody>
      </p:sp>
      <p:sp>
        <p:nvSpPr>
          <p:cNvPr id="12" name="shape 12"/>
          <p:cNvSpPr/>
          <p:nvPr/>
        </p:nvSpPr>
        <p:spPr>
          <a:xfrm>
            <a:off x="621792" y="6327648"/>
            <a:ext cx="1417320" cy="45720"/>
          </a:xfrm>
          <a:prstGeom prst="roundRect">
            <a:avLst/>
          </a:prstGeom>
          <a:solidFill>
            <a:srgbClr val="E7ECE8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621792" y="6327648"/>
            <a:ext cx="425196" cy="45720"/>
          </a:xfrm>
          <a:prstGeom prst="roundRect">
            <a:avLst/>
          </a:prstGeom>
          <a:solidFill>
            <a:srgbClr val="D99A2B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B5F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1792" y="502920"/>
            <a:ext cx="502920" cy="109728"/>
          </a:xfrm>
          <a:prstGeom prst="roundRect">
            <a:avLst/>
          </a:prstGeom>
          <a:solidFill>
            <a:srgbClr val="D99A2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1792" y="704088"/>
            <a:ext cx="2834640" cy="2260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000" b="1">
                <a:solidFill>
                  <a:srgbClr val="0F6B5F"/>
                </a:solidFill>
                <a:latin typeface="Aptos"/>
                <a:cs typeface="Aptos"/>
              </a:rPr>
              <a:t>OpenSpec adaptation · 04</a:t>
            </a:r>
            <a:endParaRPr lang="ru-RU" sz="1000"/>
          </a:p>
        </p:txBody>
      </p:sp>
      <p:sp>
        <p:nvSpPr>
          <p:cNvPr id="6" name="text 6"/>
          <p:cNvSpPr txBox="1"/>
          <p:nvPr/>
        </p:nvSpPr>
        <p:spPr>
          <a:xfrm>
            <a:off x="621665" y="1097280"/>
            <a:ext cx="10548620" cy="59499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3400" b="1">
                <a:solidFill>
                  <a:srgbClr val="18212B"/>
                </a:solidFill>
                <a:latin typeface="Bahnschrift" panose="020B0502040204020203"/>
                <a:cs typeface="Bahnschrift" panose="020B0502040204020203"/>
              </a:rPr>
              <a:t>Ключевое изменение подхода : spec-as-folder</a:t>
            </a:r>
            <a:endParaRPr lang="ru-RU" sz="3400"/>
          </a:p>
        </p:txBody>
      </p:sp>
      <p:sp>
        <p:nvSpPr>
          <p:cNvPr id="7" name="text 7"/>
          <p:cNvSpPr txBox="1"/>
          <p:nvPr/>
        </p:nvSpPr>
        <p:spPr>
          <a:xfrm>
            <a:off x="640080" y="1874520"/>
            <a:ext cx="7223760" cy="30289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500" b="1">
                <a:solidFill>
                  <a:srgbClr val="3E4756"/>
                </a:solidFill>
                <a:latin typeface="Aptos"/>
                <a:cs typeface="Aptos"/>
              </a:rPr>
              <a:t>Master specification стала папкой, а не файлом</a:t>
            </a:r>
            <a:endParaRPr lang="ru-RU" sz="1500"/>
          </a:p>
        </p:txBody>
      </p:sp>
      <p:sp>
        <p:nvSpPr>
          <p:cNvPr id="8" name="text 8"/>
          <p:cNvSpPr txBox="1"/>
          <p:nvPr/>
        </p:nvSpPr>
        <p:spPr>
          <a:xfrm>
            <a:off x="640080" y="2331720"/>
            <a:ext cx="7406640" cy="85661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700">
                <a:solidFill>
                  <a:srgbClr val="22303D"/>
                </a:solidFill>
                <a:latin typeface="Aptos"/>
                <a:cs typeface="Aptos"/>
              </a:rPr>
              <a:t>В новом подходе сохранен OpenSpec lifecycle, но заменен источник правды: теперь это каталог документов сервиса с машинным навигационным слоем.</a:t>
            </a:r>
            <a:endParaRPr lang="ru-RU" sz="1700"/>
          </a:p>
        </p:txBody>
      </p:sp>
      <p:sp>
        <p:nvSpPr>
          <p:cNvPr id="9" name="text 9"/>
          <p:cNvSpPr txBox="1"/>
          <p:nvPr/>
        </p:nvSpPr>
        <p:spPr>
          <a:xfrm>
            <a:off x="804672" y="3141345"/>
            <a:ext cx="6583680" cy="7645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• </a:t>
            </a:r>
            <a:r>
              <a:rPr lang="ru-RU" sz="1500" b="1">
                <a:solidFill>
                  <a:srgbClr val="25313D"/>
                </a:solidFill>
                <a:latin typeface="Aptos"/>
                <a:cs typeface="Aptos"/>
              </a:rPr>
              <a:t>openspec/&lt;service&gt;/</a:t>
            </a:r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 хранит реальные документы команды</a:t>
            </a:r>
            <a:endParaRPr lang="ru-RU" sz="1500"/>
          </a:p>
          <a:p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• </a:t>
            </a:r>
            <a:r>
              <a:rPr lang="ru-RU" sz="1500" b="1">
                <a:solidFill>
                  <a:srgbClr val="25313D"/>
                </a:solidFill>
                <a:latin typeface="Aptos"/>
                <a:cs typeface="Aptos"/>
              </a:rPr>
              <a:t>_sdd/manifest.yaml</a:t>
            </a:r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 индексирует файлы, связи и приоритеты чтения</a:t>
            </a:r>
            <a:endParaRPr lang="ru-RU" sz="1500"/>
          </a:p>
          <a:p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• coverage.md и stale-files.md показывают пробелы и устаревание</a:t>
            </a:r>
            <a:endParaRPr lang="ru-RU" sz="1500"/>
          </a:p>
        </p:txBody>
      </p:sp>
      <p:sp>
        <p:nvSpPr>
          <p:cNvPr id="10" name="shape 10"/>
          <p:cNvSpPr/>
          <p:nvPr/>
        </p:nvSpPr>
        <p:spPr>
          <a:xfrm>
            <a:off x="8275320" y="2926080"/>
            <a:ext cx="3063240" cy="2423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DA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8439912" y="3108960"/>
            <a:ext cx="2697480" cy="167259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300">
                <a:solidFill>
                  <a:srgbClr val="1821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openspec/&lt;service&gt;/</a:t>
            </a:r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300">
                <a:solidFill>
                  <a:srgbClr val="1821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_sdd/</a:t>
            </a:r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300">
                <a:solidFill>
                  <a:srgbClr val="1821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manifest.yaml</a:t>
            </a:r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300">
                <a:solidFill>
                  <a:srgbClr val="1821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navigation.md</a:t>
            </a:r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300">
                <a:solidFill>
                  <a:srgbClr val="1821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workflow/</a:t>
            </a:r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300">
                <a:solidFill>
                  <a:srgbClr val="1821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integrations/</a:t>
            </a:r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300">
                <a:solidFill>
                  <a:srgbClr val="1821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openapi/</a:t>
            </a:r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1300">
                <a:solidFill>
                  <a:srgbClr val="1821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dbml/</a:t>
            </a:r>
            <a:endParaRPr lang="ru-RU" sz="13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621792" y="6327648"/>
            <a:ext cx="1417320" cy="45720"/>
          </a:xfrm>
          <a:prstGeom prst="roundRect">
            <a:avLst/>
          </a:prstGeom>
          <a:solidFill>
            <a:srgbClr val="E7ECE8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621792" y="6327648"/>
            <a:ext cx="708660" cy="45720"/>
          </a:xfrm>
          <a:prstGeom prst="roundRect">
            <a:avLst/>
          </a:prstGeom>
          <a:solidFill>
            <a:srgbClr val="D99A2B"/>
          </a:solid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B5F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1792" y="502920"/>
            <a:ext cx="502920" cy="109728"/>
          </a:xfrm>
          <a:prstGeom prst="roundRect">
            <a:avLst/>
          </a:prstGeom>
          <a:solidFill>
            <a:srgbClr val="D99A2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1792" y="704088"/>
            <a:ext cx="2834640" cy="2260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000" b="1">
                <a:solidFill>
                  <a:srgbClr val="0F6B5F"/>
                </a:solidFill>
                <a:latin typeface="Aptos"/>
                <a:cs typeface="Aptos"/>
              </a:rPr>
              <a:t>OpenSpec adaptation · 05</a:t>
            </a:r>
            <a:endParaRPr lang="ru-RU" sz="1000"/>
          </a:p>
        </p:txBody>
      </p:sp>
      <p:sp>
        <p:nvSpPr>
          <p:cNvPr id="6" name="text 6"/>
          <p:cNvSpPr txBox="1"/>
          <p:nvPr/>
        </p:nvSpPr>
        <p:spPr>
          <a:xfrm>
            <a:off x="621665" y="1097280"/>
            <a:ext cx="9485630" cy="59499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3400" b="1">
                <a:solidFill>
                  <a:srgbClr val="18212B"/>
                </a:solidFill>
                <a:latin typeface="Bahnschrift" panose="020B0502040204020203"/>
                <a:cs typeface="Bahnschrift" panose="020B0502040204020203"/>
              </a:rPr>
              <a:t>Как агент ориентируется в 100+ файлах</a:t>
            </a:r>
            <a:endParaRPr lang="ru-RU" sz="3400"/>
          </a:p>
        </p:txBody>
      </p:sp>
      <p:sp>
        <p:nvSpPr>
          <p:cNvPr id="7" name="text 7"/>
          <p:cNvSpPr txBox="1"/>
          <p:nvPr/>
        </p:nvSpPr>
        <p:spPr>
          <a:xfrm>
            <a:off x="640080" y="1874520"/>
            <a:ext cx="9193530" cy="30289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500" b="1">
                <a:solidFill>
                  <a:srgbClr val="3E4756"/>
                </a:solidFill>
                <a:latin typeface="Aptos"/>
                <a:cs typeface="Aptos"/>
              </a:rPr>
              <a:t>Документация имеет внутренние сылки + есть Manifest(работает как индекс)</a:t>
            </a:r>
            <a:endParaRPr lang="ru-RU" sz="1500"/>
          </a:p>
        </p:txBody>
      </p:sp>
      <p:sp>
        <p:nvSpPr>
          <p:cNvPr id="8" name="text 8"/>
          <p:cNvSpPr txBox="1"/>
          <p:nvPr/>
        </p:nvSpPr>
        <p:spPr>
          <a:xfrm>
            <a:off x="640080" y="2331720"/>
            <a:ext cx="7406640" cy="59499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700">
                <a:solidFill>
                  <a:srgbClr val="22303D"/>
                </a:solidFill>
                <a:latin typeface="Aptos"/>
                <a:cs typeface="Aptos"/>
              </a:rPr>
              <a:t>Агент сначала читает карту, затем выбирает набор релевантных источников по tags, entities, integrations, endpoints и связям.</a:t>
            </a:r>
            <a:endParaRPr lang="ru-RU" sz="1700"/>
          </a:p>
        </p:txBody>
      </p:sp>
      <p:sp>
        <p:nvSpPr>
          <p:cNvPr id="9" name="text 9"/>
          <p:cNvSpPr txBox="1"/>
          <p:nvPr/>
        </p:nvSpPr>
        <p:spPr>
          <a:xfrm>
            <a:off x="839597" y="3068955"/>
            <a:ext cx="6583680" cy="7645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• Не читаем всю папку рекурсивно</a:t>
            </a:r>
            <a:endParaRPr lang="ru-RU" sz="1500"/>
          </a:p>
          <a:p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• Выбираем документы по</a:t>
            </a:r>
            <a:r>
              <a:rPr lang="en-US" altLang="ru-RU" sz="1500">
                <a:solidFill>
                  <a:srgbClr val="25313D"/>
                </a:solidFill>
                <a:latin typeface="Aptos"/>
                <a:cs typeface="Aptos"/>
              </a:rPr>
              <a:t> </a:t>
            </a:r>
            <a:r>
              <a:rPr lang="ru-RU" altLang="ru-RU" sz="1500">
                <a:solidFill>
                  <a:srgbClr val="25313D"/>
                </a:solidFill>
                <a:latin typeface="Aptos"/>
                <a:cs typeface="Aptos"/>
              </a:rPr>
              <a:t>внутренним связям </a:t>
            </a:r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и навигационному слою</a:t>
            </a:r>
            <a:endParaRPr lang="ru-RU" sz="1500"/>
          </a:p>
          <a:p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• В change.md фиксируем, какие источники использованы и почему</a:t>
            </a:r>
            <a:endParaRPr lang="ru-RU" sz="1500"/>
          </a:p>
        </p:txBody>
      </p:sp>
      <p:sp>
        <p:nvSpPr>
          <p:cNvPr id="10" name="shape 10"/>
          <p:cNvSpPr/>
          <p:nvPr/>
        </p:nvSpPr>
        <p:spPr>
          <a:xfrm>
            <a:off x="8275320" y="3154680"/>
            <a:ext cx="1298448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DA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8348472" y="3282696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100" b="1">
                <a:solidFill>
                  <a:srgbClr val="18212B"/>
                </a:solidFill>
                <a:latin typeface="Aptos"/>
                <a:cs typeface="Aptos"/>
              </a:rPr>
              <a:t>docs</a:t>
            </a:r>
            <a:endParaRPr lang="ru-RU" sz="1100"/>
          </a:p>
        </p:txBody>
      </p:sp>
      <p:sp>
        <p:nvSpPr>
          <p:cNvPr id="12" name="shape 12"/>
          <p:cNvSpPr/>
          <p:nvPr/>
        </p:nvSpPr>
        <p:spPr>
          <a:xfrm>
            <a:off x="9848088" y="3154680"/>
            <a:ext cx="1298448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DA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9921240" y="3282696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100" b="1">
                <a:solidFill>
                  <a:srgbClr val="18212B"/>
                </a:solidFill>
                <a:latin typeface="Aptos"/>
                <a:cs typeface="Aptos"/>
              </a:rPr>
              <a:t>navigation</a:t>
            </a:r>
            <a:endParaRPr lang="ru-RU" sz="1100"/>
          </a:p>
        </p:txBody>
      </p:sp>
      <p:sp>
        <p:nvSpPr>
          <p:cNvPr id="14" name="shape 14"/>
          <p:cNvSpPr/>
          <p:nvPr/>
        </p:nvSpPr>
        <p:spPr>
          <a:xfrm>
            <a:off x="8275320" y="3977640"/>
            <a:ext cx="1298448" cy="502920"/>
          </a:xfrm>
          <a:prstGeom prst="roundRect">
            <a:avLst/>
          </a:prstGeom>
          <a:solidFill>
            <a:srgbClr val="0F6B5F"/>
          </a:solidFill>
          <a:ln w="9525">
            <a:solidFill>
              <a:srgbClr val="0F6B5F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8348472" y="4105656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100" b="1">
                <a:solidFill>
                  <a:srgbClr val="FFFFFF"/>
                </a:solidFill>
                <a:latin typeface="Aptos"/>
                <a:cs typeface="Aptos"/>
              </a:rPr>
              <a:t>manifest</a:t>
            </a:r>
            <a:endParaRPr lang="ru-RU" sz="1100"/>
          </a:p>
        </p:txBody>
      </p:sp>
      <p:sp>
        <p:nvSpPr>
          <p:cNvPr id="16" name="shape 16"/>
          <p:cNvSpPr/>
          <p:nvPr/>
        </p:nvSpPr>
        <p:spPr>
          <a:xfrm>
            <a:off x="9848088" y="3977640"/>
            <a:ext cx="1298448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DA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9921240" y="4105656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100" b="1">
                <a:solidFill>
                  <a:srgbClr val="18212B"/>
                </a:solidFill>
                <a:latin typeface="Aptos"/>
                <a:cs typeface="Aptos"/>
              </a:rPr>
              <a:t>sources</a:t>
            </a:r>
            <a:endParaRPr lang="ru-RU" sz="1100"/>
          </a:p>
        </p:txBody>
      </p:sp>
      <p:sp>
        <p:nvSpPr>
          <p:cNvPr id="18" name="text 18"/>
          <p:cNvSpPr txBox="1"/>
          <p:nvPr/>
        </p:nvSpPr>
        <p:spPr>
          <a:xfrm>
            <a:off x="9546336" y="3483864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800" b="1">
                <a:solidFill>
                  <a:srgbClr val="D99A2B"/>
                </a:solidFill>
                <a:latin typeface="Bahnschrift" panose="020B0502040204020203"/>
                <a:cs typeface="Bahnschrift" panose="020B0502040204020203"/>
              </a:rPr>
              <a:t>→</a:t>
            </a:r>
            <a:endParaRPr lang="ru-RU" sz="1800"/>
          </a:p>
        </p:txBody>
      </p:sp>
      <p:sp>
        <p:nvSpPr>
          <p:cNvPr id="19" name="text 19"/>
          <p:cNvSpPr txBox="1"/>
          <p:nvPr/>
        </p:nvSpPr>
        <p:spPr>
          <a:xfrm>
            <a:off x="9546336" y="42976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800" b="1">
                <a:solidFill>
                  <a:srgbClr val="D99A2B"/>
                </a:solidFill>
                <a:latin typeface="Bahnschrift" panose="020B0502040204020203"/>
                <a:cs typeface="Bahnschrift" panose="020B0502040204020203"/>
              </a:rPr>
              <a:t>→</a:t>
            </a:r>
            <a:endParaRPr lang="ru-RU" sz="1800"/>
          </a:p>
        </p:txBody>
      </p:sp>
      <p:sp>
        <p:nvSpPr>
          <p:cNvPr id="20" name="shape 20"/>
          <p:cNvSpPr/>
          <p:nvPr/>
        </p:nvSpPr>
        <p:spPr>
          <a:xfrm>
            <a:off x="621792" y="6327648"/>
            <a:ext cx="1417320" cy="45720"/>
          </a:xfrm>
          <a:prstGeom prst="roundRect">
            <a:avLst/>
          </a:prstGeom>
          <a:solidFill>
            <a:srgbClr val="E7ECE8"/>
          </a:solidFill>
          <a:ln>
            <a:noFill/>
          </a:ln>
        </p:spPr>
      </p:sp>
      <p:sp>
        <p:nvSpPr>
          <p:cNvPr id="21" name="shape 21"/>
          <p:cNvSpPr/>
          <p:nvPr/>
        </p:nvSpPr>
        <p:spPr>
          <a:xfrm>
            <a:off x="621792" y="6327648"/>
            <a:ext cx="850392" cy="45720"/>
          </a:xfrm>
          <a:prstGeom prst="roundRect">
            <a:avLst/>
          </a:prstGeom>
          <a:solidFill>
            <a:srgbClr val="D99A2B"/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txBody>
          <a:bodyPr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B5F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1792" y="502920"/>
            <a:ext cx="502920" cy="109728"/>
          </a:xfrm>
          <a:prstGeom prst="roundRect">
            <a:avLst/>
          </a:prstGeom>
          <a:solidFill>
            <a:srgbClr val="D99A2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1792" y="704088"/>
            <a:ext cx="2834640" cy="21945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000" b="1">
                <a:solidFill>
                  <a:srgbClr val="0F6B5F"/>
                </a:solidFill>
                <a:latin typeface="Aptos"/>
                <a:cs typeface="Aptos"/>
              </a:rPr>
              <a:t>OpenSpec adaptation · 08</a:t>
            </a:r>
            <a:endParaRPr lang="ru-RU" sz="1000"/>
          </a:p>
        </p:txBody>
      </p:sp>
      <p:sp>
        <p:nvSpPr>
          <p:cNvPr id="6" name="text 6"/>
          <p:cNvSpPr txBox="1"/>
          <p:nvPr/>
        </p:nvSpPr>
        <p:spPr>
          <a:xfrm>
            <a:off x="621792" y="109728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3400" b="1">
                <a:solidFill>
                  <a:srgbClr val="18212B"/>
                </a:solidFill>
                <a:latin typeface="Bahnschrift" panose="020B0502040204020203"/>
                <a:cs typeface="Bahnschrift" panose="020B0502040204020203"/>
              </a:rPr>
              <a:t>Что осталось стандартным</a:t>
            </a:r>
            <a:endParaRPr lang="ru-RU" sz="3400"/>
          </a:p>
        </p:txBody>
      </p:sp>
      <p:sp>
        <p:nvSpPr>
          <p:cNvPr id="7" name="text 7"/>
          <p:cNvSpPr txBox="1"/>
          <p:nvPr/>
        </p:nvSpPr>
        <p:spPr>
          <a:xfrm>
            <a:off x="640080" y="1874520"/>
            <a:ext cx="7223760" cy="30289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500" b="1">
                <a:solidFill>
                  <a:srgbClr val="3E4756"/>
                </a:solidFill>
                <a:latin typeface="Aptos"/>
                <a:cs typeface="Aptos"/>
              </a:rPr>
              <a:t>Основной процесс OpenSpec остался без изменений</a:t>
            </a:r>
            <a:endParaRPr lang="ru-RU" sz="1500"/>
          </a:p>
        </p:txBody>
      </p:sp>
      <p:sp>
        <p:nvSpPr>
          <p:cNvPr id="8" name="text 8"/>
          <p:cNvSpPr txBox="1"/>
          <p:nvPr/>
        </p:nvSpPr>
        <p:spPr>
          <a:xfrm>
            <a:off x="640080" y="2331720"/>
            <a:ext cx="7406640" cy="85661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700">
                <a:solidFill>
                  <a:srgbClr val="22303D"/>
                </a:solidFill>
                <a:latin typeface="Aptos"/>
                <a:cs typeface="Aptos"/>
              </a:rPr>
              <a:t>Изменился способ подключения master specification. Этапы согласования, проектирования, реализации и архивации остались прежними.</a:t>
            </a:r>
            <a:endParaRPr lang="ru-RU" sz="1700"/>
          </a:p>
        </p:txBody>
      </p:sp>
      <p:sp>
        <p:nvSpPr>
          <p:cNvPr id="9" name="text 9"/>
          <p:cNvSpPr txBox="1"/>
          <p:nvPr/>
        </p:nvSpPr>
        <p:spPr>
          <a:xfrm>
            <a:off x="839597" y="3217545"/>
            <a:ext cx="6583680" cy="122618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• change.md по-прежнему описывает ЗАЧЕМ и ЧТО</a:t>
            </a:r>
            <a:endParaRPr lang="ru-RU" sz="1500"/>
          </a:p>
          <a:p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• design.md и tasks.md остаются инженерным мостом к реализации</a:t>
            </a:r>
            <a:endParaRPr lang="ru-RU" sz="1500"/>
          </a:p>
          <a:p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• implement выполняет задачи и требует сборку/тесты/линтер</a:t>
            </a:r>
            <a:endParaRPr lang="ru-RU" sz="1500">
              <a:solidFill>
                <a:srgbClr val="25313D"/>
              </a:solidFill>
              <a:latin typeface="Aptos"/>
              <a:cs typeface="Aptos"/>
            </a:endParaRPr>
          </a:p>
          <a:p>
            <a:r>
              <a:rPr lang="ru-RU" sz="1500">
                <a:solidFill>
                  <a:srgbClr val="25313D"/>
                </a:solidFill>
                <a:latin typeface="Aptos"/>
                <a:cs typeface="Aptos"/>
                <a:sym typeface="+mn-ea"/>
              </a:rPr>
              <a:t>• по окончании разработки выполняется обновление мастер-спецификации и архивирование</a:t>
            </a:r>
            <a:endParaRPr lang="ru-RU" sz="1500"/>
          </a:p>
        </p:txBody>
      </p:sp>
      <p:sp>
        <p:nvSpPr>
          <p:cNvPr id="18" name="shape 18"/>
          <p:cNvSpPr/>
          <p:nvPr/>
        </p:nvSpPr>
        <p:spPr>
          <a:xfrm>
            <a:off x="621792" y="6327648"/>
            <a:ext cx="1417320" cy="45720"/>
          </a:xfrm>
          <a:prstGeom prst="roundRect">
            <a:avLst/>
          </a:prstGeom>
          <a:solidFill>
            <a:srgbClr val="E7ECE8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621792" y="6327648"/>
            <a:ext cx="1133856" cy="45720"/>
          </a:xfrm>
          <a:prstGeom prst="roundRect">
            <a:avLst/>
          </a:prstGeom>
          <a:solidFill>
            <a:srgbClr val="D99A2B"/>
          </a:solidFill>
          <a:ln>
            <a:noFill/>
          </a:ln>
        </p:spPr>
      </p:sp>
      <p:sp>
        <p:nvSpPr>
          <p:cNvPr id="20" name="Text Box 19"/>
          <p:cNvSpPr txBox="1"/>
          <p:nvPr/>
        </p:nvSpPr>
        <p:spPr>
          <a:xfrm>
            <a:off x="2135505" y="4859655"/>
            <a:ext cx="8573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init -&gt; propose -&gt; review/approve -&gt; design -&gt; implement -&gt; apply/verify -&gt; archive</a:t>
            </a:r>
            <a:endParaRPr lang="en-US" altLang="en-US"/>
          </a:p>
        </p:txBody>
      </p:sp>
      <p:sp>
        <p:nvSpPr>
          <p:cNvPr id="21" name="text 7"/>
          <p:cNvSpPr txBox="1"/>
          <p:nvPr/>
        </p:nvSpPr>
        <p:spPr>
          <a:xfrm>
            <a:off x="407035" y="4568190"/>
            <a:ext cx="7223760" cy="30289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500" b="1">
                <a:solidFill>
                  <a:srgbClr val="3E4756"/>
                </a:solidFill>
                <a:latin typeface="Aptos"/>
                <a:cs typeface="Aptos"/>
              </a:rPr>
              <a:t>Было:</a:t>
            </a:r>
            <a:endParaRPr lang="ru-RU" sz="1500"/>
          </a:p>
        </p:txBody>
      </p:sp>
      <p:sp>
        <p:nvSpPr>
          <p:cNvPr id="22" name="text 7"/>
          <p:cNvSpPr txBox="1"/>
          <p:nvPr/>
        </p:nvSpPr>
        <p:spPr>
          <a:xfrm>
            <a:off x="407035" y="5253355"/>
            <a:ext cx="7223760" cy="30289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500" b="1">
                <a:solidFill>
                  <a:srgbClr val="3E4756"/>
                </a:solidFill>
                <a:latin typeface="Aptos"/>
                <a:cs typeface="Aptos"/>
              </a:rPr>
              <a:t>Стало:</a:t>
            </a:r>
            <a:endParaRPr lang="ru-RU" sz="1500"/>
          </a:p>
        </p:txBody>
      </p:sp>
      <p:sp>
        <p:nvSpPr>
          <p:cNvPr id="23" name="Text Box 22"/>
          <p:cNvSpPr txBox="1"/>
          <p:nvPr/>
        </p:nvSpPr>
        <p:spPr>
          <a:xfrm>
            <a:off x="839470" y="5661025"/>
            <a:ext cx="10426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init</a:t>
            </a:r>
            <a:r>
              <a:rPr lang="ru-RU" altLang="en-US" b="1"/>
              <a:t>-</a:t>
            </a:r>
            <a:r>
              <a:rPr lang="en-US" altLang="ru-RU" b="1"/>
              <a:t>master-spec</a:t>
            </a:r>
            <a:r>
              <a:rPr lang="en-US" altLang="en-US"/>
              <a:t> -&gt; propose -&gt; review/approve -&gt; design -&gt; implement -&gt; apply/verify -&gt; archive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4445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B5F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1792" y="502920"/>
            <a:ext cx="502920" cy="109728"/>
          </a:xfrm>
          <a:prstGeom prst="roundRect">
            <a:avLst/>
          </a:prstGeom>
          <a:solidFill>
            <a:srgbClr val="D99A2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1792" y="704088"/>
            <a:ext cx="2834640" cy="2260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000" b="1">
                <a:solidFill>
                  <a:srgbClr val="0F6B5F"/>
                </a:solidFill>
                <a:latin typeface="Aptos"/>
                <a:cs typeface="Aptos"/>
              </a:rPr>
              <a:t>OpenSpec adaptation · 0</a:t>
            </a:r>
            <a:r>
              <a:rPr lang="en-US" altLang="ru-RU" sz="1000" b="1">
                <a:solidFill>
                  <a:srgbClr val="0F6B5F"/>
                </a:solidFill>
                <a:latin typeface="Aptos"/>
                <a:cs typeface="Aptos"/>
              </a:rPr>
              <a:t>6</a:t>
            </a:r>
            <a:endParaRPr lang="en-US" altLang="ru-RU" sz="1000" b="1">
              <a:solidFill>
                <a:srgbClr val="0F6B5F"/>
              </a:solidFill>
              <a:latin typeface="Aptos"/>
              <a:cs typeface="Aptos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621792" y="109728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3400" b="1">
                <a:solidFill>
                  <a:srgbClr val="18212B"/>
                </a:solidFill>
                <a:latin typeface="Bahnschrift" panose="020B0502040204020203"/>
                <a:cs typeface="Bahnschrift" panose="020B0502040204020203"/>
              </a:rPr>
              <a:t>Новый сценарий: change-from-diff</a:t>
            </a:r>
            <a:endParaRPr lang="ru-RU" sz="3400"/>
          </a:p>
        </p:txBody>
      </p:sp>
      <p:sp>
        <p:nvSpPr>
          <p:cNvPr id="7" name="text 7"/>
          <p:cNvSpPr txBox="1"/>
          <p:nvPr/>
        </p:nvSpPr>
        <p:spPr>
          <a:xfrm>
            <a:off x="621665" y="2291715"/>
            <a:ext cx="7223760" cy="30289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500" b="1">
                <a:solidFill>
                  <a:srgbClr val="3E4756"/>
                </a:solidFill>
                <a:latin typeface="Aptos"/>
                <a:cs typeface="Aptos"/>
              </a:rPr>
              <a:t>Аналитик может работать привычным способом</a:t>
            </a:r>
            <a:endParaRPr lang="ru-RU" sz="1500"/>
          </a:p>
        </p:txBody>
      </p:sp>
      <p:sp>
        <p:nvSpPr>
          <p:cNvPr id="8" name="text 8"/>
          <p:cNvSpPr txBox="1"/>
          <p:nvPr/>
        </p:nvSpPr>
        <p:spPr>
          <a:xfrm>
            <a:off x="640080" y="2708910"/>
            <a:ext cx="7406640" cy="85661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700">
                <a:solidFill>
                  <a:srgbClr val="22303D"/>
                </a:solidFill>
                <a:latin typeface="Aptos"/>
                <a:cs typeface="Aptos"/>
              </a:rPr>
              <a:t>Если нужны быстрые небольшие изменения, аналитик правит master-specification в ветке, framework создает </a:t>
            </a:r>
            <a:r>
              <a:rPr lang="ru-RU" sz="1700" b="1">
                <a:solidFill>
                  <a:srgbClr val="22303D"/>
                </a:solidFill>
                <a:latin typeface="Aptos"/>
                <a:cs typeface="Aptos"/>
              </a:rPr>
              <a:t>`change.md`</a:t>
            </a:r>
            <a:r>
              <a:rPr lang="ru-RU" sz="1700">
                <a:solidFill>
                  <a:srgbClr val="22303D"/>
                </a:solidFill>
                <a:latin typeface="Aptos"/>
                <a:cs typeface="Aptos"/>
              </a:rPr>
              <a:t> из разницы между релизной веткой и новой.</a:t>
            </a:r>
            <a:endParaRPr lang="ru-RU" sz="1700"/>
          </a:p>
        </p:txBody>
      </p:sp>
      <p:sp>
        <p:nvSpPr>
          <p:cNvPr id="18" name="shape 18"/>
          <p:cNvSpPr/>
          <p:nvPr/>
        </p:nvSpPr>
        <p:spPr>
          <a:xfrm>
            <a:off x="621792" y="6327648"/>
            <a:ext cx="1417320" cy="45720"/>
          </a:xfrm>
          <a:prstGeom prst="roundRect">
            <a:avLst/>
          </a:prstGeom>
          <a:solidFill>
            <a:srgbClr val="E7ECE8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621792" y="6327648"/>
            <a:ext cx="992124" cy="45720"/>
          </a:xfrm>
          <a:prstGeom prst="roundRect">
            <a:avLst/>
          </a:prstGeom>
          <a:solidFill>
            <a:srgbClr val="D99A2B"/>
          </a:solidFill>
          <a:ln>
            <a:noFill/>
          </a:ln>
        </p:spPr>
      </p:sp>
      <p:sp>
        <p:nvSpPr>
          <p:cNvPr id="20" name="Text Box 19"/>
          <p:cNvSpPr txBox="1"/>
          <p:nvPr/>
        </p:nvSpPr>
        <p:spPr>
          <a:xfrm>
            <a:off x="2423795" y="4296410"/>
            <a:ext cx="8573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propose -&gt; review/approve -&gt; design -&gt; implement -&gt; apply/verify -&gt; archive</a:t>
            </a:r>
            <a:endParaRPr lang="en-US" altLang="en-US"/>
          </a:p>
        </p:txBody>
      </p:sp>
      <p:sp>
        <p:nvSpPr>
          <p:cNvPr id="21" name="text 7"/>
          <p:cNvSpPr txBox="1"/>
          <p:nvPr/>
        </p:nvSpPr>
        <p:spPr>
          <a:xfrm>
            <a:off x="695325" y="4004945"/>
            <a:ext cx="7223760" cy="30289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500" b="1">
                <a:solidFill>
                  <a:srgbClr val="3E4756"/>
                </a:solidFill>
                <a:latin typeface="Aptos"/>
                <a:cs typeface="Aptos"/>
              </a:rPr>
              <a:t>Было:</a:t>
            </a:r>
            <a:endParaRPr lang="ru-RU" sz="1500"/>
          </a:p>
        </p:txBody>
      </p:sp>
      <p:sp>
        <p:nvSpPr>
          <p:cNvPr id="22" name="text 7"/>
          <p:cNvSpPr txBox="1"/>
          <p:nvPr/>
        </p:nvSpPr>
        <p:spPr>
          <a:xfrm>
            <a:off x="695325" y="4690110"/>
            <a:ext cx="7223760" cy="30289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500" b="1">
                <a:solidFill>
                  <a:srgbClr val="3E4756"/>
                </a:solidFill>
                <a:latin typeface="Aptos"/>
                <a:cs typeface="Aptos"/>
              </a:rPr>
              <a:t>Стало:</a:t>
            </a:r>
            <a:endParaRPr lang="ru-RU" sz="1500"/>
          </a:p>
        </p:txBody>
      </p:sp>
      <p:sp>
        <p:nvSpPr>
          <p:cNvPr id="23" name="Text Box 22"/>
          <p:cNvSpPr txBox="1"/>
          <p:nvPr/>
        </p:nvSpPr>
        <p:spPr>
          <a:xfrm>
            <a:off x="1415415" y="5085080"/>
            <a:ext cx="10426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/>
              <a:t>change-from-diff</a:t>
            </a:r>
            <a:r>
              <a:rPr lang="en-US" altLang="en-US"/>
              <a:t> -&gt; review/approve -&gt; design -&gt; implement -&gt; apply/verify -&gt; archive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B5F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1792" y="502920"/>
            <a:ext cx="502920" cy="109728"/>
          </a:xfrm>
          <a:prstGeom prst="roundRect">
            <a:avLst/>
          </a:prstGeom>
          <a:solidFill>
            <a:srgbClr val="D99A2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1792" y="704088"/>
            <a:ext cx="2834640" cy="21945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000" b="1">
                <a:solidFill>
                  <a:srgbClr val="0F6B5F"/>
                </a:solidFill>
                <a:latin typeface="Aptos"/>
                <a:cs typeface="Aptos"/>
              </a:rPr>
              <a:t>OpenSpec adaptation · 09</a:t>
            </a:r>
            <a:endParaRPr lang="ru-RU" sz="1000"/>
          </a:p>
        </p:txBody>
      </p:sp>
      <p:sp>
        <p:nvSpPr>
          <p:cNvPr id="6" name="text 6"/>
          <p:cNvSpPr txBox="1"/>
          <p:nvPr/>
        </p:nvSpPr>
        <p:spPr>
          <a:xfrm>
            <a:off x="621792" y="1097280"/>
            <a:ext cx="7589520" cy="82296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3400" b="1">
                <a:solidFill>
                  <a:srgbClr val="18212B"/>
                </a:solidFill>
                <a:latin typeface="Bahnschrift" panose="020B0502040204020203"/>
                <a:cs typeface="Bahnschrift" panose="020B0502040204020203"/>
              </a:rPr>
              <a:t>Что выигрывают команды</a:t>
            </a:r>
            <a:endParaRPr lang="ru-RU" sz="3400"/>
          </a:p>
        </p:txBody>
      </p:sp>
      <p:sp>
        <p:nvSpPr>
          <p:cNvPr id="7" name="text 7"/>
          <p:cNvSpPr txBox="1"/>
          <p:nvPr/>
        </p:nvSpPr>
        <p:spPr>
          <a:xfrm>
            <a:off x="640080" y="187452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500" b="1">
                <a:solidFill>
                  <a:srgbClr val="3E4756"/>
                </a:solidFill>
                <a:latin typeface="Aptos"/>
                <a:cs typeface="Aptos"/>
              </a:rPr>
              <a:t>Практическая ценность модификации</a:t>
            </a:r>
            <a:endParaRPr lang="ru-RU" sz="1500"/>
          </a:p>
        </p:txBody>
      </p:sp>
      <p:sp>
        <p:nvSpPr>
          <p:cNvPr id="8" name="text 8"/>
          <p:cNvSpPr txBox="1"/>
          <p:nvPr/>
        </p:nvSpPr>
        <p:spPr>
          <a:xfrm>
            <a:off x="640080" y="2331720"/>
            <a:ext cx="7406640" cy="59499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700">
                <a:solidFill>
                  <a:srgbClr val="22303D"/>
                </a:solidFill>
                <a:latin typeface="Aptos"/>
                <a:cs typeface="Aptos"/>
              </a:rPr>
              <a:t>Адаптация фреймворка для больших проектов, гибкость внесения изменений</a:t>
            </a:r>
            <a:endParaRPr lang="ru-RU" sz="1700"/>
          </a:p>
        </p:txBody>
      </p:sp>
      <p:sp>
        <p:nvSpPr>
          <p:cNvPr id="9" name="text 9"/>
          <p:cNvSpPr txBox="1"/>
          <p:nvPr/>
        </p:nvSpPr>
        <p:spPr>
          <a:xfrm>
            <a:off x="804672" y="3140710"/>
            <a:ext cx="6583680" cy="145732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• Много файлов - не проблема</a:t>
            </a:r>
            <a:endParaRPr lang="ru-RU" sz="1500">
              <a:solidFill>
                <a:srgbClr val="25313D"/>
              </a:solidFill>
              <a:latin typeface="Aptos"/>
              <a:cs typeface="Aptos"/>
            </a:endParaRPr>
          </a:p>
          <a:p>
            <a:r>
              <a:rPr lang="ru-RU" sz="1500">
                <a:solidFill>
                  <a:srgbClr val="25313D"/>
                </a:solidFill>
                <a:latin typeface="Aptos"/>
                <a:cs typeface="Aptos"/>
                <a:sym typeface="+mn-ea"/>
              </a:rPr>
              <a:t>• </a:t>
            </a:r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Переиспользуем уже согласованную аналитику вместо переписывания с нуля</a:t>
            </a:r>
            <a:r>
              <a:rPr lang="en-US" altLang="ru-RU" sz="1500">
                <a:solidFill>
                  <a:srgbClr val="25313D"/>
                </a:solidFill>
                <a:latin typeface="Aptos"/>
                <a:cs typeface="Aptos"/>
              </a:rPr>
              <a:t> (</a:t>
            </a:r>
            <a:r>
              <a:rPr lang="ru-RU" altLang="ru-RU" sz="1500">
                <a:solidFill>
                  <a:srgbClr val="25313D"/>
                </a:solidFill>
                <a:latin typeface="Aptos"/>
                <a:cs typeface="Aptos"/>
              </a:rPr>
              <a:t>агент не всегда точен при </a:t>
            </a:r>
            <a:r>
              <a:rPr lang="en-US" altLang="ru-RU" sz="1500">
                <a:solidFill>
                  <a:srgbClr val="25313D"/>
                </a:solidFill>
                <a:latin typeface="Aptos"/>
                <a:cs typeface="Aptos"/>
              </a:rPr>
              <a:t>reverse-engeneering)</a:t>
            </a:r>
            <a:endParaRPr lang="ru-RU" sz="1500"/>
          </a:p>
          <a:p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• Уменьшаем перегруз контекста для агента при работе с </a:t>
            </a:r>
            <a:r>
              <a:rPr lang="en-US" sz="1500">
                <a:solidFill>
                  <a:srgbClr val="25313D"/>
                </a:solidFill>
                <a:latin typeface="Aptos"/>
                <a:cs typeface="Aptos"/>
              </a:rPr>
              <a:t>master-</a:t>
            </a:r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спецификацией (кристаллизация контекста на каждом этапе)</a:t>
            </a:r>
            <a:endParaRPr lang="ru-RU" sz="1500"/>
          </a:p>
          <a:p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• Работаем с OpenAPI, DBML, диаграммами и YAML</a:t>
            </a:r>
            <a:endParaRPr lang="ru-RU" sz="1500"/>
          </a:p>
        </p:txBody>
      </p:sp>
      <p:sp>
        <p:nvSpPr>
          <p:cNvPr id="18" name="shape 18"/>
          <p:cNvSpPr/>
          <p:nvPr/>
        </p:nvSpPr>
        <p:spPr>
          <a:xfrm>
            <a:off x="621792" y="6327648"/>
            <a:ext cx="1417320" cy="45720"/>
          </a:xfrm>
          <a:prstGeom prst="roundRect">
            <a:avLst/>
          </a:prstGeom>
          <a:solidFill>
            <a:srgbClr val="E7ECE8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621792" y="6327648"/>
            <a:ext cx="1275588" cy="45720"/>
          </a:xfrm>
          <a:prstGeom prst="roundRect">
            <a:avLst/>
          </a:prstGeom>
          <a:solidFill>
            <a:srgbClr val="D99A2B"/>
          </a:solid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6B5F"/>
          </a:solidFill>
          <a:ln>
            <a:noFill/>
          </a:ln>
        </p:spPr>
      </p:sp>
      <p:sp>
        <p:nvSpPr>
          <p:cNvPr id="4" name="shape 4"/>
          <p:cNvSpPr/>
          <p:nvPr/>
        </p:nvSpPr>
        <p:spPr>
          <a:xfrm>
            <a:off x="621792" y="502920"/>
            <a:ext cx="502920" cy="109728"/>
          </a:xfrm>
          <a:prstGeom prst="roundRect">
            <a:avLst/>
          </a:prstGeom>
          <a:solidFill>
            <a:srgbClr val="D99A2B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21792" y="704088"/>
            <a:ext cx="2834640" cy="219456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000" b="1">
                <a:solidFill>
                  <a:srgbClr val="0F6B5F"/>
                </a:solidFill>
                <a:latin typeface="Aptos"/>
                <a:cs typeface="Aptos"/>
              </a:rPr>
              <a:t>OpenSpec adaptation · 10</a:t>
            </a:r>
            <a:endParaRPr lang="ru-RU" sz="1000"/>
          </a:p>
        </p:txBody>
      </p:sp>
      <p:sp>
        <p:nvSpPr>
          <p:cNvPr id="6" name="text 6"/>
          <p:cNvSpPr txBox="1"/>
          <p:nvPr/>
        </p:nvSpPr>
        <p:spPr>
          <a:xfrm>
            <a:off x="621665" y="1097280"/>
            <a:ext cx="9858375" cy="59499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3400" b="1">
                <a:solidFill>
                  <a:srgbClr val="18212B"/>
                </a:solidFill>
                <a:latin typeface="Bahnschrift" panose="020B0502040204020203"/>
                <a:cs typeface="Bahnschrift" panose="020B0502040204020203"/>
              </a:rPr>
              <a:t>Ограничения и следующий шаг</a:t>
            </a:r>
            <a:endParaRPr lang="ru-RU" sz="3400"/>
          </a:p>
        </p:txBody>
      </p:sp>
      <p:sp>
        <p:nvSpPr>
          <p:cNvPr id="8" name="text 8"/>
          <p:cNvSpPr txBox="1"/>
          <p:nvPr/>
        </p:nvSpPr>
        <p:spPr>
          <a:xfrm>
            <a:off x="695325" y="1988820"/>
            <a:ext cx="7406640" cy="59499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700">
                <a:solidFill>
                  <a:srgbClr val="22303D"/>
                </a:solidFill>
                <a:latin typeface="Aptos"/>
                <a:cs typeface="Aptos"/>
              </a:rPr>
              <a:t>Главная сложность - актуальная аналитика для старта и корреткный перевод ее в </a:t>
            </a:r>
            <a:r>
              <a:rPr lang="en-US" sz="1700">
                <a:solidFill>
                  <a:srgbClr val="22303D"/>
                </a:solidFill>
                <a:latin typeface="Aptos"/>
                <a:cs typeface="Aptos"/>
              </a:rPr>
              <a:t>MD</a:t>
            </a:r>
            <a:r>
              <a:rPr lang="ru-RU" altLang="en-US" sz="1700">
                <a:solidFill>
                  <a:srgbClr val="22303D"/>
                </a:solidFill>
                <a:latin typeface="Aptos"/>
                <a:cs typeface="Aptos"/>
              </a:rPr>
              <a:t>-</a:t>
            </a:r>
            <a:r>
              <a:rPr lang="ru-RU" sz="1700">
                <a:solidFill>
                  <a:srgbClr val="22303D"/>
                </a:solidFill>
                <a:latin typeface="Aptos"/>
                <a:cs typeface="Aptos"/>
              </a:rPr>
              <a:t>формат</a:t>
            </a:r>
            <a:endParaRPr lang="ru-RU" sz="1700">
              <a:solidFill>
                <a:srgbClr val="22303D"/>
              </a:solidFill>
              <a:latin typeface="Aptos"/>
              <a:cs typeface="Aptos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767207" y="2761615"/>
            <a:ext cx="6583680" cy="1226185"/>
          </a:xfrm>
          <a:prstGeom prst="rect">
            <a:avLst/>
          </a:prstGeom>
          <a:noFill/>
          <a:ln>
            <a:noFill/>
          </a:ln>
        </p:spPr>
        <p:txBody>
          <a:bodyPr wrap="square" lIns="54864" tIns="36576" rIns="54864" bIns="36576" anchor="t">
            <a:spAutoFit/>
          </a:bodyPr>
          <a:lstStyle/>
          <a:p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• Нужны качественные решения по переводу из </a:t>
            </a:r>
            <a:r>
              <a:rPr lang="en-US" sz="1500">
                <a:solidFill>
                  <a:srgbClr val="25313D"/>
                </a:solidFill>
                <a:latin typeface="Aptos"/>
                <a:cs typeface="Aptos"/>
              </a:rPr>
              <a:t>Confluence </a:t>
            </a:r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в </a:t>
            </a:r>
            <a:r>
              <a:rPr lang="en-US" sz="1500">
                <a:solidFill>
                  <a:srgbClr val="25313D"/>
                </a:solidFill>
                <a:latin typeface="Aptos"/>
                <a:cs typeface="Aptos"/>
              </a:rPr>
              <a:t>md</a:t>
            </a:r>
            <a:r>
              <a:rPr lang="ru-RU" altLang="en-US" sz="1500">
                <a:solidFill>
                  <a:srgbClr val="25313D"/>
                </a:solidFill>
                <a:latin typeface="Aptos"/>
                <a:cs typeface="Aptos"/>
              </a:rPr>
              <a:t>-</a:t>
            </a:r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формат</a:t>
            </a:r>
            <a:endParaRPr lang="ru-RU" sz="1500">
              <a:solidFill>
                <a:srgbClr val="25313D"/>
              </a:solidFill>
              <a:latin typeface="Aptos"/>
              <a:cs typeface="Aptos"/>
            </a:endParaRPr>
          </a:p>
          <a:p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• Режим </a:t>
            </a:r>
            <a:r>
              <a:rPr lang="ru-RU" sz="1500" b="1">
                <a:solidFill>
                  <a:srgbClr val="18212B"/>
                </a:solidFill>
                <a:latin typeface="Bahnschrift" panose="020B0502040204020203"/>
                <a:cs typeface="Bahnschrift" panose="020B0502040204020203"/>
                <a:sym typeface="+mn-ea"/>
              </a:rPr>
              <a:t>change-from-diff </a:t>
            </a:r>
            <a:r>
              <a:rPr lang="ru-RU" sz="1500" b="0">
                <a:solidFill>
                  <a:srgbClr val="18212B"/>
                </a:solidFill>
                <a:latin typeface="Bahnschrift" panose="020B0502040204020203"/>
                <a:cs typeface="Bahnschrift" panose="020B0502040204020203"/>
                <a:sym typeface="+mn-ea"/>
              </a:rPr>
              <a:t>не всегда корректен на больших изменениях (возможно зависит от модели)</a:t>
            </a:r>
            <a:endParaRPr lang="ru-RU" sz="1500"/>
          </a:p>
          <a:p>
            <a:r>
              <a:rPr lang="ru-RU" sz="1500">
                <a:solidFill>
                  <a:srgbClr val="25313D"/>
                </a:solidFill>
                <a:latin typeface="Aptos"/>
                <a:cs typeface="Aptos"/>
              </a:rPr>
              <a:t>• Требуется защита от расхождения спецификации и кода (отдельным шагом)</a:t>
            </a:r>
            <a:endParaRPr lang="ru-RU" sz="1500"/>
          </a:p>
        </p:txBody>
      </p:sp>
      <p:sp>
        <p:nvSpPr>
          <p:cNvPr id="18" name="shape 18"/>
          <p:cNvSpPr/>
          <p:nvPr/>
        </p:nvSpPr>
        <p:spPr>
          <a:xfrm>
            <a:off x="621792" y="6327648"/>
            <a:ext cx="1417320" cy="45720"/>
          </a:xfrm>
          <a:prstGeom prst="roundRect">
            <a:avLst/>
          </a:prstGeom>
          <a:solidFill>
            <a:srgbClr val="E7ECE8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621792" y="6327648"/>
            <a:ext cx="1417320" cy="45720"/>
          </a:xfrm>
          <a:prstGeom prst="roundRect">
            <a:avLst/>
          </a:prstGeom>
          <a:solidFill>
            <a:srgbClr val="D99A2B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penSpec Adaptation">
  <a:themeElements>
    <a:clrScheme name="OpenSpec">
      <a:dk1>
        <a:srgbClr val="18212B"/>
      </a:dk1>
      <a:lt1>
        <a:srgbClr val="F7F8F5"/>
      </a:lt1>
      <a:dk2>
        <a:srgbClr val="3E4756"/>
      </a:dk2>
      <a:lt2>
        <a:srgbClr val="E7ECE8"/>
      </a:lt2>
      <a:accent1>
        <a:srgbClr val="0F6B5F"/>
      </a:accent1>
      <a:accent2>
        <a:srgbClr val="2D66B3"/>
      </a:accent2>
      <a:accent3>
        <a:srgbClr val="D99A2B"/>
      </a:accent3>
      <a:accent4>
        <a:srgbClr val="C84B4B"/>
      </a:accent4>
      <a:accent5>
        <a:srgbClr val="7B8794"/>
      </a:accent5>
      <a:accent6>
        <a:srgbClr val="A7B6AE"/>
      </a:accent6>
      <a:hlink>
        <a:srgbClr val="2D66B3"/>
      </a:hlink>
      <a:folHlink>
        <a:srgbClr val="0F6B5F"/>
      </a:folHlink>
    </a:clrScheme>
    <a:fontScheme name="Aptos">
      <a:majorFont>
        <a:latin typeface="Bahnschrift"/>
        <a:ea typeface=""/>
        <a:cs typeface=""/>
      </a:majorFont>
      <a:minorFont>
        <a:latin typeface="Aptos"/>
        <a:ea typeface=""/>
        <a:cs typeface=""/>
      </a:minorFont>
    </a:fontScheme>
    <a:fmtScheme name="OpenSpec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4237</Words>
  <Application>WPS Presentation</Application>
  <PresentationFormat>Widescreen</PresentationFormat>
  <Paragraphs>155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Aptos</vt:lpstr>
      <vt:lpstr>Segoe UI</vt:lpstr>
      <vt:lpstr>Bahnschrift</vt:lpstr>
      <vt:lpstr>Cascadia Mono</vt:lpstr>
      <vt:lpstr>Microsoft YaHei</vt:lpstr>
      <vt:lpstr>Arial Unicode MS</vt:lpstr>
      <vt:lpstr>Calibri</vt:lpstr>
      <vt:lpstr>Segoe Print</vt:lpstr>
      <vt:lpstr>OpenSpec Adaptation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Почему мы адаптировали OpenSpec</dc:title>
  <dc:creator>docs-hub</dc:creator>
  <cp:lastModifiedBy>deanv</cp:lastModifiedBy>
  <cp:revision>5</cp:revision>
  <dcterms:created xsi:type="dcterms:W3CDTF">2026-07-08T09:50:18Z</dcterms:created>
  <dcterms:modified xsi:type="dcterms:W3CDTF">2026-07-08T10:27:44Z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2E53AC7A97DC4194BA4CA7F3D2ECBEB2_12</vt:lpwstr>
  </property>
  <property fmtid="{D5CDD505-2E9C-101B-9397-08002B2CF9AE}" pid="3" name="KSOProductBuildVer">
    <vt:lpwstr>1033-12.2.0.23206</vt:lpwstr>
  </property>
</Properties>
</file>
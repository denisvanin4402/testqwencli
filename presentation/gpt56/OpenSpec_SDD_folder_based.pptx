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рамка доклада: это рассказ о нашем пути, а не сравнительный тест реализаций OpenSpec. Парадигма и SDD lifecycle сохранены. Точка расширения — представление master specification как folder-based spec, потому что source of truth команды уже является системой документов. Knowledge graph — направление развития, а не готовая функция.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попытка начать документировать систему с нуля. За 3+ года сформировался analyst-first процесс по 10 сервисам и библиотекам. Высокая актуальность документации к коду — исходное ограничение и одновременно актив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масштаб без попытки доказать, что каждый сервис одинаков. Цифры из текущей master specification: 80+ процессов, 15+ интеграций, 50+ справочников, 30+ UI-форм, 80+ алгоритмов UI. Пилот invest-dkz — около 100 MD-документов и 18 workflow-документов.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Рассказать путь последовательно. Сначала существовала зрелая аналитика в Confluence. Затем команда решила, что для SDD и агентных workflow документации нужны Markdown, Git, diff и review. Для этого создан отдельный docs-hub. Сейчас один сервис переведен полностью, вместе со справочниками и общими библиотеками; функциональность остальных сервисов переносится постепенно.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для снятия ощущения fork или новой методологии. Change-first, review/approve, design, tasks, implement, verify/apply и archive остались теми же. В нашей реализации master specification идентифицируется корневой папкой сервиса — folder-based spec — а не конкретным отдельным файлом. Skills работают поверх этой папки через навигационный слой.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не доказываем ограничения других реализаций. Показываем обязательный сценарий нашего решения: один change может потребовать документы из нескольких областей и форматов. Мы заранее решили формализовать выбор связанного контекста, источники, coverage и stale-сигналы, потому что такой контракт соответствует нашему объему и структуре знаний.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нашей реализации master specification адресуется корневой папкой документов целиком. Manifest помогает выбирать контекст по tags, entities, integrations, endpoints, events, related_files и depends_on. Coverage показывает пробелы, stale-files предупреждает об изменениях. Supporting skills адаптированы к этому контракту; lifecycle и change-артефакты не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все схемы из reasons.md. Путь 1 подключает существующую документацию через init-master-spec. Путь 2 сохраняет обычный propose. Путь 3 соответствует текущей работе аналитика: документы меняются в ветке, change.md генерируется из diff. После этого общий review/design/implement/verify/archive.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реализованные свойства без обещаний измеренного превосходства: документы docs-hub остаются source of truth, контекст выбирается через индекс, источники и Git refs фиксируются, аналитик может идти через propose или change-from-diff. Честно обозначить roadmap: freshness, schemas, validators, CI и формализация verify. Knowledge graph — только потенциал.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позиция команды: это не обязательный стандарт и не утверждение, что другие структуры не работают. Мы адаптировали OpenSpec к уже существующей системе знаний, полностью перевели один сервис и постепенно переносим остальные области. Подход продолжаем проверять на реальных изменениях и усиливать валидаторами, CI и связями.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0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4" name="S0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5" name="S0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7" name="S01_HeroCircle1"/>
          <p:cNvSpPr/>
          <p:nvPr/>
        </p:nvSpPr>
        <p:spPr>
          <a:xfrm>
            <a:off x="8366760" y="-411480"/>
            <a:ext cx="4297680" cy="4297680"/>
          </a:xfrm>
          <a:prstGeom prst="ellipse">
            <a:avLst/>
          </a:prstGeom>
          <a:solidFill>
            <a:srgbClr val="EAF0FF">
              <a:alpha val="90000"/>
            </a:srgbClr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8" name="S01_HeroCircle2"/>
          <p:cNvSpPr/>
          <p:nvPr/>
        </p:nvSpPr>
        <p:spPr>
          <a:xfrm>
            <a:off x="9281160" y="320040"/>
            <a:ext cx="3108960" cy="3108960"/>
          </a:xfrm>
          <a:prstGeom prst="ellipse">
            <a:avLst/>
          </a:prstGeom>
          <a:solidFill>
            <a:srgbClr val="E5F8F6">
              <a:alpha val="95000"/>
            </a:srgbClr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" name="S01_HeroPill_Bg"/>
          <p:cNvSpPr/>
          <p:nvPr/>
        </p:nvSpPr>
        <p:spPr>
          <a:xfrm>
            <a:off x="658368" y="566928"/>
            <a:ext cx="234086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01_HeroPill_Text"/>
          <p:cNvSpPr/>
          <p:nvPr/>
        </p:nvSpPr>
        <p:spPr>
          <a:xfrm>
            <a:off x="658368" y="571500"/>
            <a:ext cx="2340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· OPENSPEC · BROWNFIELD</a:t>
            </a:r>
            <a:endParaRPr lang="en-US" sz="1020" dirty="0"/>
          </a:p>
        </p:txBody>
      </p:sp>
      <p:sp>
        <p:nvSpPr>
          <p:cNvPr id="11" name="S01_HeroTitle"/>
          <p:cNvSpPr/>
          <p:nvPr/>
        </p:nvSpPr>
        <p:spPr>
          <a:xfrm>
            <a:off x="658368" y="117043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 масштабе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большого brownfield-сервиса</a:t>
            </a:r>
            <a:endParaRPr lang="en-US" sz="3150" dirty="0"/>
          </a:p>
        </p:txBody>
      </p:sp>
      <p:sp>
        <p:nvSpPr>
          <p:cNvPr id="12" name="S01_HeroSubtitle"/>
          <p:cNvSpPr/>
          <p:nvPr/>
        </p:nvSpPr>
        <p:spPr>
          <a:xfrm>
            <a:off x="676656" y="2907792"/>
            <a:ext cx="6629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Путь от Confluence к folder-based master specification в Git</a:t>
            </a:r>
            <a:endParaRPr lang="en-US" sz="1750" dirty="0"/>
          </a:p>
        </p:txBody>
      </p:sp>
      <p:sp>
        <p:nvSpPr>
          <p:cNvPr id="13" name="S01_HeroStatementCard"/>
          <p:cNvSpPr/>
          <p:nvPr/>
        </p:nvSpPr>
        <p:spPr>
          <a:xfrm>
            <a:off x="658368" y="3703320"/>
            <a:ext cx="6748272" cy="1170432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9050" dist="50800" dir="2700000">
              <a:srgbClr val="22304A">
                <a:alpha val="12000"/>
              </a:srgbClr>
            </a:outerShdw>
          </a:effectLst>
        </p:spPr>
      </p:sp>
      <p:sp>
        <p:nvSpPr>
          <p:cNvPr id="14" name="S01_HeroStatementAccent"/>
          <p:cNvSpPr/>
          <p:nvPr/>
        </p:nvSpPr>
        <p:spPr>
          <a:xfrm>
            <a:off x="658368" y="37033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S01_HeroStatement"/>
          <p:cNvSpPr/>
          <p:nvPr/>
        </p:nvSpPr>
        <p:spPr>
          <a:xfrm>
            <a:off x="987552" y="3904488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Тот же OpenSpec lifecycle.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= folder.</a:t>
            </a:r>
            <a:endParaRPr lang="en-US" sz="2100" dirty="0"/>
          </a:p>
        </p:txBody>
      </p:sp>
      <p:sp>
        <p:nvSpPr>
          <p:cNvPr id="16" name="S01_HeroVisualCard"/>
          <p:cNvSpPr/>
          <p:nvPr/>
        </p:nvSpPr>
        <p:spPr>
          <a:xfrm>
            <a:off x="7973568" y="1234440"/>
            <a:ext cx="3401568" cy="41605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22304A">
                <a:alpha val="1200000000"/>
              </a:srgbClr>
            </a:outerShdw>
          </a:effectLst>
        </p:spPr>
      </p:sp>
      <p:sp>
        <p:nvSpPr>
          <p:cNvPr id="17" name="S01_HeroFolder_Body"/>
          <p:cNvSpPr/>
          <p:nvPr/>
        </p:nvSpPr>
        <p:spPr>
          <a:xfrm>
            <a:off x="8302752" y="1762597"/>
            <a:ext cx="713232" cy="413675"/>
          </a:xfrm>
          <a:prstGeom prst="roundRect">
            <a:avLst>
              <a:gd name="adj" fmla="val 88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S01_HeroFolder_Tab"/>
          <p:cNvSpPr/>
          <p:nvPr/>
        </p:nvSpPr>
        <p:spPr>
          <a:xfrm>
            <a:off x="8375904" y="1645920"/>
            <a:ext cx="328087" cy="201534"/>
          </a:xfrm>
          <a:prstGeom prst="roundRect">
            <a:avLst>
              <a:gd name="adj" fmla="val 1361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1_HeroFolderLabel"/>
          <p:cNvSpPr/>
          <p:nvPr/>
        </p:nvSpPr>
        <p:spPr>
          <a:xfrm>
            <a:off x="9180576" y="1673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00" dirty="0"/>
          </a:p>
        </p:txBody>
      </p:sp>
      <p:sp>
        <p:nvSpPr>
          <p:cNvPr id="20" name="S01_HeroFile1_Page"/>
          <p:cNvSpPr/>
          <p:nvPr/>
        </p:nvSpPr>
        <p:spPr>
          <a:xfrm>
            <a:off x="8339328" y="2395728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01_HeroFile1_Line1"/>
          <p:cNvSpPr/>
          <p:nvPr/>
        </p:nvSpPr>
        <p:spPr>
          <a:xfrm>
            <a:off x="8416138" y="2555748"/>
            <a:ext cx="230429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2" name="S01_HeroFile1_Line2"/>
          <p:cNvSpPr/>
          <p:nvPr/>
        </p:nvSpPr>
        <p:spPr>
          <a:xfrm>
            <a:off x="8416138" y="2647188"/>
            <a:ext cx="199705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3" name="S01_HeroFile1_Line3"/>
          <p:cNvSpPr/>
          <p:nvPr/>
        </p:nvSpPr>
        <p:spPr>
          <a:xfrm>
            <a:off x="8416138" y="2738628"/>
            <a:ext cx="161300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4" name="S01_HeroFileLabel1"/>
          <p:cNvSpPr/>
          <p:nvPr/>
        </p:nvSpPr>
        <p:spPr>
          <a:xfrm>
            <a:off x="8915400" y="24963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50" dirty="0"/>
          </a:p>
        </p:txBody>
      </p:sp>
      <p:sp>
        <p:nvSpPr>
          <p:cNvPr id="25" name="S01_HeroFile2_Page"/>
          <p:cNvSpPr/>
          <p:nvPr/>
        </p:nvSpPr>
        <p:spPr>
          <a:xfrm>
            <a:off x="8339328" y="301752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01_HeroFile2_Line1"/>
          <p:cNvSpPr/>
          <p:nvPr/>
        </p:nvSpPr>
        <p:spPr>
          <a:xfrm>
            <a:off x="8416138" y="3177540"/>
            <a:ext cx="230429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7" name="S01_HeroFile2_Line2"/>
          <p:cNvSpPr/>
          <p:nvPr/>
        </p:nvSpPr>
        <p:spPr>
          <a:xfrm>
            <a:off x="8416138" y="3268980"/>
            <a:ext cx="199705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8" name="S01_HeroFile2_Line3"/>
          <p:cNvSpPr/>
          <p:nvPr/>
        </p:nvSpPr>
        <p:spPr>
          <a:xfrm>
            <a:off x="8416138" y="3360420"/>
            <a:ext cx="161300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9" name="S01_HeroFileLabel2"/>
          <p:cNvSpPr/>
          <p:nvPr/>
        </p:nvSpPr>
        <p:spPr>
          <a:xfrm>
            <a:off x="8915400" y="3118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 · data/</a:t>
            </a:r>
            <a:endParaRPr lang="en-US" sz="1150" dirty="0"/>
          </a:p>
        </p:txBody>
      </p:sp>
      <p:sp>
        <p:nvSpPr>
          <p:cNvPr id="30" name="S01_HeroFile3_Page"/>
          <p:cNvSpPr/>
          <p:nvPr/>
        </p:nvSpPr>
        <p:spPr>
          <a:xfrm>
            <a:off x="8339328" y="363931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1_HeroFile3_Line1"/>
          <p:cNvSpPr/>
          <p:nvPr/>
        </p:nvSpPr>
        <p:spPr>
          <a:xfrm>
            <a:off x="8416138" y="3799332"/>
            <a:ext cx="230429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2" name="S01_HeroFile3_Line2"/>
          <p:cNvSpPr/>
          <p:nvPr/>
        </p:nvSpPr>
        <p:spPr>
          <a:xfrm>
            <a:off x="8416138" y="3890772"/>
            <a:ext cx="199705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3" name="S01_HeroFile3_Line3"/>
          <p:cNvSpPr/>
          <p:nvPr/>
        </p:nvSpPr>
        <p:spPr>
          <a:xfrm>
            <a:off x="8416138" y="3982212"/>
            <a:ext cx="161300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4" name="S01_HeroFileLabel3"/>
          <p:cNvSpPr/>
          <p:nvPr/>
        </p:nvSpPr>
        <p:spPr>
          <a:xfrm>
            <a:off x="8915400" y="37398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DBML</a:t>
            </a:r>
            <a:endParaRPr lang="en-US" sz="1150" dirty="0"/>
          </a:p>
        </p:txBody>
      </p:sp>
      <p:sp>
        <p:nvSpPr>
          <p:cNvPr id="35" name="S01_HeroIndexLink"/>
          <p:cNvSpPr/>
          <p:nvPr/>
        </p:nvSpPr>
        <p:spPr>
          <a:xfrm>
            <a:off x="8659368" y="4370832"/>
            <a:ext cx="1856232" cy="914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1_HeroIndexPill_Bg"/>
          <p:cNvSpPr/>
          <p:nvPr/>
        </p:nvSpPr>
        <p:spPr>
          <a:xfrm>
            <a:off x="8339328" y="4599432"/>
            <a:ext cx="2395728" cy="438912"/>
          </a:xfrm>
          <a:prstGeom prst="roundRect">
            <a:avLst>
              <a:gd name="adj" fmla="val 16667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37" name="S01_HeroIndexPill_Text"/>
          <p:cNvSpPr/>
          <p:nvPr/>
        </p:nvSpPr>
        <p:spPr>
          <a:xfrm>
            <a:off x="8339328" y="4604004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карта связей</a:t>
            </a:r>
            <a:endParaRPr lang="en-US" sz="1150" dirty="0"/>
          </a:p>
        </p:txBody>
      </p:sp>
      <p:sp>
        <p:nvSpPr>
          <p:cNvPr id="38" name="S01_HeroBottomPill1_Bg"/>
          <p:cNvSpPr/>
          <p:nvPr/>
        </p:nvSpPr>
        <p:spPr>
          <a:xfrm>
            <a:off x="658368" y="5285232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1_HeroBottomPill1_Text"/>
          <p:cNvSpPr/>
          <p:nvPr/>
        </p:nvSpPr>
        <p:spPr>
          <a:xfrm>
            <a:off x="658368" y="52898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тот же change-first процесс</a:t>
            </a:r>
            <a:endParaRPr lang="en-US" sz="1060" dirty="0"/>
          </a:p>
        </p:txBody>
      </p:sp>
      <p:sp>
        <p:nvSpPr>
          <p:cNvPr id="40" name="S01_HeroBottomPill2_Bg"/>
          <p:cNvSpPr/>
          <p:nvPr/>
        </p:nvSpPr>
        <p:spPr>
          <a:xfrm>
            <a:off x="2944368" y="5285232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1_HeroBottomPill2_Text"/>
          <p:cNvSpPr/>
          <p:nvPr/>
        </p:nvSpPr>
        <p:spPr>
          <a:xfrm>
            <a:off x="2944368" y="528980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все master specs в docs-hub</a:t>
            </a:r>
            <a:endParaRPr lang="en-US" sz="1060" dirty="0"/>
          </a:p>
        </p:txBody>
      </p:sp>
      <p:sp>
        <p:nvSpPr>
          <p:cNvPr id="42" name="S01_HeroBottomPill3_Bg"/>
          <p:cNvSpPr/>
          <p:nvPr/>
        </p:nvSpPr>
        <p:spPr>
          <a:xfrm>
            <a:off x="5449824" y="5285232"/>
            <a:ext cx="195681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1_HeroBottomPill3_Text"/>
          <p:cNvSpPr/>
          <p:nvPr/>
        </p:nvSpPr>
        <p:spPr>
          <a:xfrm>
            <a:off x="5449824" y="528980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постепенное внедрение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КОНТЕКСТ</a:t>
            </a:r>
            <a:endParaRPr lang="en-US" sz="850" dirty="0"/>
          </a:p>
        </p:txBody>
      </p:sp>
      <p:sp>
        <p:nvSpPr>
          <p:cNvPr id="4" name="S0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Документация уже является частью delivery-процесса</a:t>
            </a:r>
            <a:endParaRPr lang="en-US" sz="2850" dirty="0"/>
          </a:p>
        </p:txBody>
      </p:sp>
      <p:sp>
        <p:nvSpPr>
          <p:cNvPr id="5" name="S0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меняется описание поведения — затем код.</a:t>
            </a:r>
            <a:endParaRPr lang="en-US" sz="1320" dirty="0"/>
          </a:p>
        </p:txBody>
      </p:sp>
      <p:sp>
        <p:nvSpPr>
          <p:cNvPr id="6" name="S0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8" name="S0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2_MetricYears_Card"/>
          <p:cNvSpPr/>
          <p:nvPr/>
        </p:nvSpPr>
        <p:spPr>
          <a:xfrm>
            <a:off x="658368" y="1444752"/>
            <a:ext cx="23774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2_MetricYears_Accent"/>
          <p:cNvSpPr/>
          <p:nvPr/>
        </p:nvSpPr>
        <p:spPr>
          <a:xfrm>
            <a:off x="658368" y="1444752"/>
            <a:ext cx="73152" cy="9418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2_MetricYears_Number"/>
          <p:cNvSpPr/>
          <p:nvPr/>
        </p:nvSpPr>
        <p:spPr>
          <a:xfrm>
            <a:off x="877824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400" dirty="0"/>
          </a:p>
        </p:txBody>
      </p:sp>
      <p:sp>
        <p:nvSpPr>
          <p:cNvPr id="13" name="S02_MetricYears_Label"/>
          <p:cNvSpPr/>
          <p:nvPr/>
        </p:nvSpPr>
        <p:spPr>
          <a:xfrm>
            <a:off x="1828800" y="158191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года развития проекта</a:t>
            </a:r>
            <a:endParaRPr lang="en-US" sz="1250" dirty="0"/>
          </a:p>
        </p:txBody>
      </p:sp>
      <p:sp>
        <p:nvSpPr>
          <p:cNvPr id="14" name="S02_MetricServices_Card"/>
          <p:cNvSpPr/>
          <p:nvPr/>
        </p:nvSpPr>
        <p:spPr>
          <a:xfrm>
            <a:off x="3200400" y="1444752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2_MetricServices_Accent"/>
          <p:cNvSpPr/>
          <p:nvPr/>
        </p:nvSpPr>
        <p:spPr>
          <a:xfrm>
            <a:off x="3200400" y="1444752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S02_MetricServices_Number"/>
          <p:cNvSpPr/>
          <p:nvPr/>
        </p:nvSpPr>
        <p:spPr>
          <a:xfrm>
            <a:off x="3419856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S02_MetricServices_Label"/>
          <p:cNvSpPr/>
          <p:nvPr/>
        </p:nvSpPr>
        <p:spPr>
          <a:xfrm>
            <a:off x="4370832" y="1581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сервисов и библиотек</a:t>
            </a:r>
            <a:endParaRPr lang="en-US" sz="1250" dirty="0"/>
          </a:p>
        </p:txBody>
      </p:sp>
      <p:sp>
        <p:nvSpPr>
          <p:cNvPr id="18" name="S02_MetricSequence_Card"/>
          <p:cNvSpPr/>
          <p:nvPr/>
        </p:nvSpPr>
        <p:spPr>
          <a:xfrm>
            <a:off x="5907024" y="1444752"/>
            <a:ext cx="30632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2_MetricSequence_Accent"/>
          <p:cNvSpPr/>
          <p:nvPr/>
        </p:nvSpPr>
        <p:spPr>
          <a:xfrm>
            <a:off x="5907024" y="1444752"/>
            <a:ext cx="73152" cy="941832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0" name="S02_MetricSequence_Number"/>
          <p:cNvSpPr/>
          <p:nvPr/>
        </p:nvSpPr>
        <p:spPr>
          <a:xfrm>
            <a:off x="6126480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 → CODE</a:t>
            </a:r>
            <a:endParaRPr lang="en-US" sz="2400" dirty="0"/>
          </a:p>
        </p:txBody>
      </p:sp>
      <p:sp>
        <p:nvSpPr>
          <p:cNvPr id="21" name="S02_MetricSequence_Label"/>
          <p:cNvSpPr/>
          <p:nvPr/>
        </p:nvSpPr>
        <p:spPr>
          <a:xfrm>
            <a:off x="7077456" y="15819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описания предшествует коду</a:t>
            </a:r>
            <a:endParaRPr lang="en-US" sz="1250" dirty="0"/>
          </a:p>
        </p:txBody>
      </p:sp>
      <p:sp>
        <p:nvSpPr>
          <p:cNvPr id="22" name="S02_BugException_Bg"/>
          <p:cNvSpPr/>
          <p:nvPr/>
        </p:nvSpPr>
        <p:spPr>
          <a:xfrm>
            <a:off x="9144000" y="1591056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3" name="S02_BugException_Text"/>
          <p:cNvSpPr/>
          <p:nvPr/>
        </p:nvSpPr>
        <p:spPr>
          <a:xfrm>
            <a:off x="9144000" y="1595628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кроме исправления багов</a:t>
            </a:r>
            <a:endParaRPr lang="en-US" sz="1120" dirty="0"/>
          </a:p>
        </p:txBody>
      </p:sp>
      <p:sp>
        <p:nvSpPr>
          <p:cNvPr id="24" name="S02_CurrentFlow1_Card"/>
          <p:cNvSpPr/>
          <p:nvPr/>
        </p:nvSpPr>
        <p:spPr>
          <a:xfrm>
            <a:off x="658368" y="2889504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5" name="S02_CurrentFlow1_Dot"/>
          <p:cNvSpPr/>
          <p:nvPr/>
        </p:nvSpPr>
        <p:spPr>
          <a:xfrm>
            <a:off x="77724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S02_CurrentFlow1_Title"/>
          <p:cNvSpPr/>
          <p:nvPr/>
        </p:nvSpPr>
        <p:spPr>
          <a:xfrm>
            <a:off x="1078992" y="29809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</a:t>
            </a:r>
            <a:endParaRPr lang="en-US" sz="1250" dirty="0"/>
          </a:p>
        </p:txBody>
      </p:sp>
      <p:sp>
        <p:nvSpPr>
          <p:cNvPr id="27" name="S02_CurrentFlow1_Subtitle"/>
          <p:cNvSpPr/>
          <p:nvPr/>
        </p:nvSpPr>
        <p:spPr>
          <a:xfrm>
            <a:off x="1078992" y="329184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формулирует изменение</a:t>
            </a:r>
            <a:endParaRPr lang="en-US" sz="1050" dirty="0"/>
          </a:p>
        </p:txBody>
      </p:sp>
      <p:sp>
        <p:nvSpPr>
          <p:cNvPr id="28" name="S02_CurrentArrow1"/>
          <p:cNvSpPr/>
          <p:nvPr/>
        </p:nvSpPr>
        <p:spPr>
          <a:xfrm>
            <a:off x="2148840" y="3474720"/>
            <a:ext cx="173736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02_CurrentFlow2_Card"/>
          <p:cNvSpPr/>
          <p:nvPr/>
        </p:nvSpPr>
        <p:spPr>
          <a:xfrm>
            <a:off x="2395728" y="2889504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0" name="S02_CurrentFlow2_Dot"/>
          <p:cNvSpPr/>
          <p:nvPr/>
        </p:nvSpPr>
        <p:spPr>
          <a:xfrm>
            <a:off x="2514600" y="3026664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2_CurrentFlow2_Title"/>
          <p:cNvSpPr/>
          <p:nvPr/>
        </p:nvSpPr>
        <p:spPr>
          <a:xfrm>
            <a:off x="2816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2" name="S02_CurrentFlow2_Subtitle"/>
          <p:cNvSpPr/>
          <p:nvPr/>
        </p:nvSpPr>
        <p:spPr>
          <a:xfrm>
            <a:off x="2816352" y="329184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правка выделена цветом</a:t>
            </a:r>
            <a:endParaRPr lang="en-US" sz="1050" dirty="0"/>
          </a:p>
        </p:txBody>
      </p:sp>
      <p:sp>
        <p:nvSpPr>
          <p:cNvPr id="33" name="S02_CurrentArrow2"/>
          <p:cNvSpPr/>
          <p:nvPr/>
        </p:nvSpPr>
        <p:spPr>
          <a:xfrm>
            <a:off x="4462272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02_CurrentFlow3_Card"/>
          <p:cNvSpPr/>
          <p:nvPr/>
        </p:nvSpPr>
        <p:spPr>
          <a:xfrm>
            <a:off x="4718304" y="2889504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35" name="S02_CurrentFlow3_Dot"/>
          <p:cNvSpPr/>
          <p:nvPr/>
        </p:nvSpPr>
        <p:spPr>
          <a:xfrm>
            <a:off x="4837176" y="3026664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6" name="S02_CurrentFlow3_Title"/>
          <p:cNvSpPr/>
          <p:nvPr/>
        </p:nvSpPr>
        <p:spPr>
          <a:xfrm>
            <a:off x="5138928" y="29809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37" name="S02_CurrentFlow3_Subtitle"/>
          <p:cNvSpPr/>
          <p:nvPr/>
        </p:nvSpPr>
        <p:spPr>
          <a:xfrm>
            <a:off x="5138928" y="329184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согласовано для разработки</a:t>
            </a:r>
            <a:endParaRPr lang="en-US" sz="1050" dirty="0"/>
          </a:p>
        </p:txBody>
      </p:sp>
      <p:sp>
        <p:nvSpPr>
          <p:cNvPr id="38" name="S02_CurrentArrow3"/>
          <p:cNvSpPr/>
          <p:nvPr/>
        </p:nvSpPr>
        <p:spPr>
          <a:xfrm>
            <a:off x="6620256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9" name="S02_CurrentFlow4_Card"/>
          <p:cNvSpPr/>
          <p:nvPr/>
        </p:nvSpPr>
        <p:spPr>
          <a:xfrm>
            <a:off x="6876288" y="2889504"/>
            <a:ext cx="1737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40" name="S02_CurrentFlow4_Dot"/>
          <p:cNvSpPr/>
          <p:nvPr/>
        </p:nvSpPr>
        <p:spPr>
          <a:xfrm>
            <a:off x="699516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S02_CurrentFlow4_Title"/>
          <p:cNvSpPr/>
          <p:nvPr/>
        </p:nvSpPr>
        <p:spPr>
          <a:xfrm>
            <a:off x="7296912" y="29809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2" name="S02_CurrentFlow4_Subtitle"/>
          <p:cNvSpPr/>
          <p:nvPr/>
        </p:nvSpPr>
        <p:spPr>
          <a:xfrm>
            <a:off x="7296912" y="32918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в коде</a:t>
            </a:r>
            <a:endParaRPr lang="en-US" sz="1050" dirty="0"/>
          </a:p>
        </p:txBody>
      </p:sp>
      <p:sp>
        <p:nvSpPr>
          <p:cNvPr id="43" name="S02_CurrentArrow4"/>
          <p:cNvSpPr/>
          <p:nvPr/>
        </p:nvSpPr>
        <p:spPr>
          <a:xfrm>
            <a:off x="8686800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44" name="S02_CurrentFlow5_Card"/>
          <p:cNvSpPr/>
          <p:nvPr/>
        </p:nvSpPr>
        <p:spPr>
          <a:xfrm>
            <a:off x="8942832" y="2889504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45" name="S02_CurrentFlow5_Dot"/>
          <p:cNvSpPr/>
          <p:nvPr/>
        </p:nvSpPr>
        <p:spPr>
          <a:xfrm>
            <a:off x="9061704" y="3026664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2_CurrentFlow5_Title"/>
          <p:cNvSpPr/>
          <p:nvPr/>
        </p:nvSpPr>
        <p:spPr>
          <a:xfrm>
            <a:off x="9363456" y="298094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Актуальная master spec</a:t>
            </a:r>
            <a:endParaRPr lang="en-US" sz="1250" dirty="0"/>
          </a:p>
        </p:txBody>
      </p:sp>
      <p:sp>
        <p:nvSpPr>
          <p:cNvPr id="47" name="S02_CurrentFlow5_Subtitle"/>
          <p:cNvSpPr/>
          <p:nvPr/>
        </p:nvSpPr>
        <p:spPr>
          <a:xfrm>
            <a:off x="9363456" y="3291840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цветовая разметка снята</a:t>
            </a:r>
            <a:endParaRPr lang="en-US" sz="1050" dirty="0"/>
          </a:p>
        </p:txBody>
      </p:sp>
      <p:sp>
        <p:nvSpPr>
          <p:cNvPr id="48" name="S02_DeliveryThesisCard"/>
          <p:cNvSpPr/>
          <p:nvPr/>
        </p:nvSpPr>
        <p:spPr>
          <a:xfrm>
            <a:off x="658368" y="4526280"/>
            <a:ext cx="10844784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9" name="S02_DeliveryThesis"/>
          <p:cNvSpPr/>
          <p:nvPr/>
        </p:nvSpPr>
        <p:spPr>
          <a:xfrm>
            <a:off x="1024128" y="47548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— не отчёт после разработки, а вход в разработку.</a:t>
            </a:r>
            <a:endParaRPr lang="en-US" sz="1950" dirty="0"/>
          </a:p>
        </p:txBody>
      </p:sp>
      <p:sp>
        <p:nvSpPr>
          <p:cNvPr id="50" name="S02_DeliverySoT_Bg"/>
          <p:cNvSpPr/>
          <p:nvPr/>
        </p:nvSpPr>
        <p:spPr>
          <a:xfrm>
            <a:off x="8595360" y="4754880"/>
            <a:ext cx="24414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2_DeliverySoT_Text"/>
          <p:cNvSpPr/>
          <p:nvPr/>
        </p:nvSpPr>
        <p:spPr>
          <a:xfrm>
            <a:off x="8595360" y="4759452"/>
            <a:ext cx="2441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of truth уже существует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3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 ЗНАНИЯ</a:t>
            </a:r>
            <a:endParaRPr lang="en-US" sz="850" dirty="0"/>
          </a:p>
        </p:txBody>
      </p:sp>
      <p:sp>
        <p:nvSpPr>
          <p:cNvPr id="4" name="S03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— это система документов</a:t>
            </a:r>
            <a:endParaRPr lang="en-US" sz="2850" dirty="0"/>
          </a:p>
        </p:txBody>
      </p:sp>
      <p:sp>
        <p:nvSpPr>
          <p:cNvPr id="5" name="S03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связывает процессы, данные, UI и интеграции.</a:t>
            </a:r>
            <a:endParaRPr lang="en-US" sz="1320" dirty="0"/>
          </a:p>
        </p:txBody>
      </p:sp>
      <p:sp>
        <p:nvSpPr>
          <p:cNvPr id="6" name="S03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3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8" name="S03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3_BranchProcess"/>
          <p:cNvSpPr/>
          <p:nvPr/>
        </p:nvSpPr>
        <p:spPr>
          <a:xfrm flipH="1" flipV="1">
            <a:off x="3630168" y="2112264"/>
            <a:ext cx="1014984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1" name="S03_BranchIntegration"/>
          <p:cNvSpPr/>
          <p:nvPr/>
        </p:nvSpPr>
        <p:spPr>
          <a:xfrm flipV="1">
            <a:off x="7552944" y="2112264"/>
            <a:ext cx="1005840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2" name="S03_BranchDictionary"/>
          <p:cNvSpPr/>
          <p:nvPr/>
        </p:nvSpPr>
        <p:spPr>
          <a:xfrm flipH="1">
            <a:off x="3630168" y="3694176"/>
            <a:ext cx="1014984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3" name="S03_BranchUI"/>
          <p:cNvSpPr/>
          <p:nvPr/>
        </p:nvSpPr>
        <p:spPr>
          <a:xfrm>
            <a:off x="7552944" y="3694176"/>
            <a:ext cx="1005840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4" name="S03_BranchAlgorithms"/>
          <p:cNvSpPr/>
          <p:nvPr/>
        </p:nvSpPr>
        <p:spPr>
          <a:xfrm>
            <a:off x="6099048" y="4151376"/>
            <a:ext cx="914" cy="676656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5" name="S03_MasterSpecCenter"/>
          <p:cNvSpPr/>
          <p:nvPr/>
        </p:nvSpPr>
        <p:spPr>
          <a:xfrm>
            <a:off x="4645152" y="2304288"/>
            <a:ext cx="2907792" cy="1847088"/>
          </a:xfrm>
          <a:prstGeom prst="roundRect">
            <a:avLst>
              <a:gd name="adj" fmla="val 396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22304A">
                <a:alpha val="120000000000000"/>
              </a:srgbClr>
            </a:outerShdw>
          </a:effectLst>
        </p:spPr>
      </p:sp>
      <p:sp>
        <p:nvSpPr>
          <p:cNvPr id="16" name="S03_MasterSpecService_Bg"/>
          <p:cNvSpPr/>
          <p:nvPr/>
        </p:nvSpPr>
        <p:spPr>
          <a:xfrm>
            <a:off x="5175504" y="256032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3_MasterSpecService_Text"/>
          <p:cNvSpPr/>
          <p:nvPr/>
        </p:nvSpPr>
        <p:spPr>
          <a:xfrm>
            <a:off x="5175504" y="2564892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</a:t>
            </a:r>
            <a:endParaRPr lang="en-US" sz="1050" dirty="0"/>
          </a:p>
        </p:txBody>
      </p:sp>
      <p:sp>
        <p:nvSpPr>
          <p:cNvPr id="18" name="S03_MasterSpecCenterText"/>
          <p:cNvSpPr/>
          <p:nvPr/>
        </p:nvSpPr>
        <p:spPr>
          <a:xfrm>
            <a:off x="4992624" y="3063240"/>
            <a:ext cx="22128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SPECIFICATION</a:t>
            </a:r>
            <a:endParaRPr lang="en-US" sz="2000" dirty="0"/>
          </a:p>
        </p:txBody>
      </p:sp>
      <p:sp>
        <p:nvSpPr>
          <p:cNvPr id="19" name="S03_BranchCard1"/>
          <p:cNvSpPr/>
          <p:nvPr/>
        </p:nvSpPr>
        <p:spPr>
          <a:xfrm>
            <a:off x="658368" y="162763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S03_BranchMetric1"/>
          <p:cNvSpPr/>
          <p:nvPr/>
        </p:nvSpPr>
        <p:spPr>
          <a:xfrm>
            <a:off x="859536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21" name="S03_BranchTitle1"/>
          <p:cNvSpPr/>
          <p:nvPr/>
        </p:nvSpPr>
        <p:spPr>
          <a:xfrm>
            <a:off x="1609344" y="1783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бизнес-процессов</a:t>
            </a:r>
            <a:endParaRPr lang="en-US" sz="1350" dirty="0"/>
          </a:p>
        </p:txBody>
      </p:sp>
      <p:sp>
        <p:nvSpPr>
          <p:cNvPr id="22" name="S03_BranchSubtitle1"/>
          <p:cNvSpPr/>
          <p:nvPr/>
        </p:nvSpPr>
        <p:spPr>
          <a:xfrm>
            <a:off x="1609344" y="21305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шагов в каждом</a:t>
            </a:r>
            <a:endParaRPr lang="en-US" sz="1050" dirty="0"/>
          </a:p>
        </p:txBody>
      </p:sp>
      <p:sp>
        <p:nvSpPr>
          <p:cNvPr id="23" name="S03_BranchCard2"/>
          <p:cNvSpPr/>
          <p:nvPr/>
        </p:nvSpPr>
        <p:spPr>
          <a:xfrm>
            <a:off x="8558784" y="162763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4" name="S03_BranchMetric2"/>
          <p:cNvSpPr/>
          <p:nvPr/>
        </p:nvSpPr>
        <p:spPr>
          <a:xfrm>
            <a:off x="8759952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S03_BranchTitle2"/>
          <p:cNvSpPr/>
          <p:nvPr/>
        </p:nvSpPr>
        <p:spPr>
          <a:xfrm>
            <a:off x="9509760" y="1783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интеграций</a:t>
            </a:r>
            <a:endParaRPr lang="en-US" sz="1350" dirty="0"/>
          </a:p>
        </p:txBody>
      </p:sp>
      <p:sp>
        <p:nvSpPr>
          <p:cNvPr id="26" name="S03_BranchSubtitle2"/>
          <p:cNvSpPr/>
          <p:nvPr/>
        </p:nvSpPr>
        <p:spPr>
          <a:xfrm>
            <a:off x="9509760" y="213055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 + контракты</a:t>
            </a:r>
            <a:endParaRPr lang="en-US" sz="1050" dirty="0"/>
          </a:p>
        </p:txBody>
      </p:sp>
      <p:sp>
        <p:nvSpPr>
          <p:cNvPr id="27" name="S03_BranchCard3"/>
          <p:cNvSpPr/>
          <p:nvPr/>
        </p:nvSpPr>
        <p:spPr>
          <a:xfrm>
            <a:off x="658368" y="382219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28" name="S03_BranchMetric3"/>
          <p:cNvSpPr/>
          <p:nvPr/>
        </p:nvSpPr>
        <p:spPr>
          <a:xfrm>
            <a:off x="859536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50+</a:t>
            </a:r>
            <a:endParaRPr lang="en-US" sz="2200" dirty="0"/>
          </a:p>
        </p:txBody>
      </p:sp>
      <p:sp>
        <p:nvSpPr>
          <p:cNvPr id="29" name="S03_BranchTitle3"/>
          <p:cNvSpPr/>
          <p:nvPr/>
        </p:nvSpPr>
        <p:spPr>
          <a:xfrm>
            <a:off x="1609344" y="397764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справочников</a:t>
            </a:r>
            <a:endParaRPr lang="en-US" sz="1350" dirty="0"/>
          </a:p>
        </p:txBody>
      </p:sp>
      <p:sp>
        <p:nvSpPr>
          <p:cNvPr id="30" name="S03_BranchSubtitle3"/>
          <p:cNvSpPr/>
          <p:nvPr/>
        </p:nvSpPr>
        <p:spPr>
          <a:xfrm>
            <a:off x="1609344" y="432511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— отдельная сущность</a:t>
            </a:r>
            <a:endParaRPr lang="en-US" sz="1050" dirty="0"/>
          </a:p>
        </p:txBody>
      </p:sp>
      <p:sp>
        <p:nvSpPr>
          <p:cNvPr id="31" name="S03_BranchCard4"/>
          <p:cNvSpPr/>
          <p:nvPr/>
        </p:nvSpPr>
        <p:spPr>
          <a:xfrm>
            <a:off x="8558784" y="382219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2" name="S03_BranchMetric4"/>
          <p:cNvSpPr/>
          <p:nvPr/>
        </p:nvSpPr>
        <p:spPr>
          <a:xfrm>
            <a:off x="8759952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200" dirty="0"/>
          </a:p>
        </p:txBody>
      </p:sp>
      <p:sp>
        <p:nvSpPr>
          <p:cNvPr id="33" name="S03_BranchTitle4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форм UI</a:t>
            </a:r>
            <a:endParaRPr lang="en-US" sz="1350" dirty="0"/>
          </a:p>
        </p:txBody>
      </p:sp>
      <p:sp>
        <p:nvSpPr>
          <p:cNvPr id="34" name="S03_BranchSubtitle4"/>
          <p:cNvSpPr/>
          <p:nvPr/>
        </p:nvSpPr>
        <p:spPr>
          <a:xfrm>
            <a:off x="9509760" y="432511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и действия</a:t>
            </a:r>
            <a:endParaRPr lang="en-US" sz="1050" dirty="0"/>
          </a:p>
        </p:txBody>
      </p:sp>
      <p:sp>
        <p:nvSpPr>
          <p:cNvPr id="35" name="S03_BranchCard5"/>
          <p:cNvSpPr/>
          <p:nvPr/>
        </p:nvSpPr>
        <p:spPr>
          <a:xfrm>
            <a:off x="4389120" y="482803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36" name="S03_BranchMetric5"/>
          <p:cNvSpPr/>
          <p:nvPr/>
        </p:nvSpPr>
        <p:spPr>
          <a:xfrm>
            <a:off x="4590288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37" name="S03_BranchTitle5"/>
          <p:cNvSpPr/>
          <p:nvPr/>
        </p:nvSpPr>
        <p:spPr>
          <a:xfrm>
            <a:off x="5340096" y="49834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алгоритмов действий UI</a:t>
            </a:r>
            <a:endParaRPr lang="en-US" sz="1350" dirty="0"/>
          </a:p>
        </p:txBody>
      </p:sp>
      <p:sp>
        <p:nvSpPr>
          <p:cNvPr id="38" name="S03_PilotPill_Bg"/>
          <p:cNvSpPr/>
          <p:nvPr/>
        </p:nvSpPr>
        <p:spPr>
          <a:xfrm>
            <a:off x="658368" y="589788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_PilotPill_Text"/>
          <p:cNvSpPr/>
          <p:nvPr/>
        </p:nvSpPr>
        <p:spPr>
          <a:xfrm>
            <a:off x="658368" y="5902452"/>
            <a:ext cx="4681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invest-dkz · ≈100 MD-документов · 18 workflow</a:t>
            </a:r>
            <a:endParaRPr lang="en-US" sz="1080" dirty="0"/>
          </a:p>
        </p:txBody>
      </p:sp>
      <p:sp>
        <p:nvSpPr>
          <p:cNvPr id="40" name="S03_FormatsPill_Bg"/>
          <p:cNvSpPr/>
          <p:nvPr/>
        </p:nvSpPr>
        <p:spPr>
          <a:xfrm>
            <a:off x="5532120" y="5897880"/>
            <a:ext cx="597103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_FormatsPill_Text"/>
          <p:cNvSpPr/>
          <p:nvPr/>
        </p:nvSpPr>
        <p:spPr>
          <a:xfrm>
            <a:off x="5532120" y="5902452"/>
            <a:ext cx="5971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 · настройки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4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ПОДГОТОВКА ОСНОВЫ</a:t>
            </a:r>
            <a:endParaRPr lang="en-US" sz="850" dirty="0"/>
          </a:p>
        </p:txBody>
      </p:sp>
      <p:sp>
        <p:nvSpPr>
          <p:cNvPr id="4" name="S04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Сначала создали основу для автоматизации: MD + Git</a:t>
            </a:r>
            <a:endParaRPr lang="en-US" sz="2850" dirty="0"/>
          </a:p>
        </p:txBody>
      </p:sp>
      <p:sp>
        <p:nvSpPr>
          <p:cNvPr id="5" name="S04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docs-hub — отдельный репозиторий, где будут жить master specifications всех сервисов.</a:t>
            </a:r>
            <a:endParaRPr lang="en-US" sz="1320" dirty="0"/>
          </a:p>
        </p:txBody>
      </p:sp>
      <p:sp>
        <p:nvSpPr>
          <p:cNvPr id="6" name="S04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4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30" dirty="0"/>
          </a:p>
        </p:txBody>
      </p:sp>
      <p:sp>
        <p:nvSpPr>
          <p:cNvPr id="8" name="S04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4_DocsJourney1_Card"/>
          <p:cNvSpPr/>
          <p:nvPr/>
        </p:nvSpPr>
        <p:spPr>
          <a:xfrm>
            <a:off x="65836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1" name="S04_DocsJourney1_Dot"/>
          <p:cNvSpPr/>
          <p:nvPr/>
        </p:nvSpPr>
        <p:spPr>
          <a:xfrm>
            <a:off x="777240" y="1764792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4_DocsJourney1_Title"/>
          <p:cNvSpPr/>
          <p:nvPr/>
        </p:nvSpPr>
        <p:spPr>
          <a:xfrm>
            <a:off x="107899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13" name="S04_DocsJourney1_Subtitle"/>
          <p:cNvSpPr/>
          <p:nvPr/>
        </p:nvSpPr>
        <p:spPr>
          <a:xfrm>
            <a:off x="107899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зрелая структурированная аналитика</a:t>
            </a:r>
            <a:endParaRPr lang="en-US" sz="1050" dirty="0"/>
          </a:p>
        </p:txBody>
      </p:sp>
      <p:sp>
        <p:nvSpPr>
          <p:cNvPr id="14" name="S04_DocsJourneyArrow1"/>
          <p:cNvSpPr/>
          <p:nvPr/>
        </p:nvSpPr>
        <p:spPr>
          <a:xfrm>
            <a:off x="263347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04_DocsJourney2_Card"/>
          <p:cNvSpPr/>
          <p:nvPr/>
        </p:nvSpPr>
        <p:spPr>
          <a:xfrm>
            <a:off x="289864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16" name="S04_DocsJourney2_Dot"/>
          <p:cNvSpPr/>
          <p:nvPr/>
        </p:nvSpPr>
        <p:spPr>
          <a:xfrm>
            <a:off x="3017520" y="1764792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7" name="S04_DocsJourney2_Title"/>
          <p:cNvSpPr/>
          <p:nvPr/>
        </p:nvSpPr>
        <p:spPr>
          <a:xfrm>
            <a:off x="331927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+ Git</a:t>
            </a:r>
            <a:endParaRPr lang="en-US" sz="1250" dirty="0"/>
          </a:p>
        </p:txBody>
      </p:sp>
      <p:sp>
        <p:nvSpPr>
          <p:cNvPr id="18" name="S04_DocsJourney2_Subtitle"/>
          <p:cNvSpPr/>
          <p:nvPr/>
        </p:nvSpPr>
        <p:spPr>
          <a:xfrm>
            <a:off x="331927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версионирование · diff · review</a:t>
            </a:r>
            <a:endParaRPr lang="en-US" sz="1050" dirty="0"/>
          </a:p>
        </p:txBody>
      </p:sp>
      <p:sp>
        <p:nvSpPr>
          <p:cNvPr id="19" name="S04_DocsJourneyArrow2"/>
          <p:cNvSpPr/>
          <p:nvPr/>
        </p:nvSpPr>
        <p:spPr>
          <a:xfrm>
            <a:off x="487375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0" name="S04_DocsJourney3_Card"/>
          <p:cNvSpPr/>
          <p:nvPr/>
        </p:nvSpPr>
        <p:spPr>
          <a:xfrm>
            <a:off x="513892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1" name="S04_DocsJourney3_Dot"/>
          <p:cNvSpPr/>
          <p:nvPr/>
        </p:nvSpPr>
        <p:spPr>
          <a:xfrm>
            <a:off x="5257800" y="1764792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2" name="S04_DocsJourney3_Title"/>
          <p:cNvSpPr/>
          <p:nvPr/>
        </p:nvSpPr>
        <p:spPr>
          <a:xfrm>
            <a:off x="555955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docs-hub</a:t>
            </a:r>
            <a:endParaRPr lang="en-US" sz="1250" dirty="0"/>
          </a:p>
        </p:txBody>
      </p:sp>
      <p:sp>
        <p:nvSpPr>
          <p:cNvPr id="23" name="S04_DocsJourney3_Subtitle"/>
          <p:cNvSpPr/>
          <p:nvPr/>
        </p:nvSpPr>
        <p:spPr>
          <a:xfrm>
            <a:off x="555955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отдельный репозиторий документации</a:t>
            </a:r>
            <a:endParaRPr lang="en-US" sz="1050" dirty="0"/>
          </a:p>
        </p:txBody>
      </p:sp>
      <p:sp>
        <p:nvSpPr>
          <p:cNvPr id="24" name="S04_DocsJourneyArrow3"/>
          <p:cNvSpPr/>
          <p:nvPr/>
        </p:nvSpPr>
        <p:spPr>
          <a:xfrm>
            <a:off x="711403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4_DocsJourney4_Card"/>
          <p:cNvSpPr/>
          <p:nvPr/>
        </p:nvSpPr>
        <p:spPr>
          <a:xfrm>
            <a:off x="737920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26" name="S04_DocsJourney4_Dot"/>
          <p:cNvSpPr/>
          <p:nvPr/>
        </p:nvSpPr>
        <p:spPr>
          <a:xfrm>
            <a:off x="7498080" y="1764792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7" name="S04_DocsJourney4_Title"/>
          <p:cNvSpPr/>
          <p:nvPr/>
        </p:nvSpPr>
        <p:spPr>
          <a:xfrm>
            <a:off x="779983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specs</a:t>
            </a:r>
            <a:endParaRPr lang="en-US" sz="1250" dirty="0"/>
          </a:p>
        </p:txBody>
      </p:sp>
      <p:sp>
        <p:nvSpPr>
          <p:cNvPr id="28" name="S04_DocsJourney4_Subtitle"/>
          <p:cNvSpPr/>
          <p:nvPr/>
        </p:nvSpPr>
        <p:spPr>
          <a:xfrm>
            <a:off x="779983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папки сервисов и библиотек</a:t>
            </a:r>
            <a:endParaRPr lang="en-US" sz="1050" dirty="0"/>
          </a:p>
        </p:txBody>
      </p:sp>
      <p:sp>
        <p:nvSpPr>
          <p:cNvPr id="29" name="S04_DocsJourneyArrow4"/>
          <p:cNvSpPr/>
          <p:nvPr/>
        </p:nvSpPr>
        <p:spPr>
          <a:xfrm>
            <a:off x="935431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S04_DocsJourney5_Card"/>
          <p:cNvSpPr/>
          <p:nvPr/>
        </p:nvSpPr>
        <p:spPr>
          <a:xfrm>
            <a:off x="9619488" y="1627632"/>
            <a:ext cx="18836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31" name="S04_DocsJourney5_Dot"/>
          <p:cNvSpPr/>
          <p:nvPr/>
        </p:nvSpPr>
        <p:spPr>
          <a:xfrm>
            <a:off x="9738360" y="1764792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2" name="S04_DocsJourney5_Title"/>
          <p:cNvSpPr/>
          <p:nvPr/>
        </p:nvSpPr>
        <p:spPr>
          <a:xfrm>
            <a:off x="10040112" y="1719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workflow</a:t>
            </a:r>
            <a:endParaRPr lang="en-US" sz="1250" dirty="0"/>
          </a:p>
        </p:txBody>
      </p:sp>
      <p:sp>
        <p:nvSpPr>
          <p:cNvPr id="33" name="S04_DocsJourney5_Subtitle"/>
          <p:cNvSpPr/>
          <p:nvPr/>
        </p:nvSpPr>
        <p:spPr>
          <a:xfrm>
            <a:off x="10040112" y="2029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с изменениями в Git</a:t>
            </a:r>
            <a:endParaRPr lang="en-US" sz="1050" dirty="0"/>
          </a:p>
        </p:txBody>
      </p:sp>
      <p:sp>
        <p:nvSpPr>
          <p:cNvPr id="34" name="S04_MigrationDoneCard"/>
          <p:cNvSpPr/>
          <p:nvPr/>
        </p:nvSpPr>
        <p:spPr>
          <a:xfrm>
            <a:off x="658368" y="3127248"/>
            <a:ext cx="67848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22304A">
                <a:alpha val="12000000000000000000"/>
              </a:srgbClr>
            </a:outerShdw>
          </a:effectLst>
        </p:spPr>
      </p:sp>
      <p:sp>
        <p:nvSpPr>
          <p:cNvPr id="35" name="S04_MigrationDoneLabel_Bg"/>
          <p:cNvSpPr/>
          <p:nvPr/>
        </p:nvSpPr>
        <p:spPr>
          <a:xfrm>
            <a:off x="932688" y="3401568"/>
            <a:ext cx="1243584" cy="384048"/>
          </a:xfrm>
          <a:prstGeom prst="roundRect">
            <a:avLst>
              <a:gd name="adj" fmla="val 19048"/>
            </a:avLst>
          </a:prstGeom>
          <a:solidFill>
            <a:srgbClr val="E8F7F0"/>
          </a:solidFill>
          <a:ln w="12700">
            <a:solidFill>
              <a:srgbClr val="E8F7F0">
                <a:alpha val="0"/>
              </a:srgbClr>
            </a:solidFill>
            <a:prstDash val="solid"/>
          </a:ln>
        </p:spPr>
      </p:sp>
      <p:sp>
        <p:nvSpPr>
          <p:cNvPr id="36" name="S04_MigrationDoneLabel_Text"/>
          <p:cNvSpPr/>
          <p:nvPr/>
        </p:nvSpPr>
        <p:spPr>
          <a:xfrm>
            <a:off x="932688" y="3406140"/>
            <a:ext cx="12435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УЖЕ СДЕЛАНО</a:t>
            </a:r>
            <a:endParaRPr lang="en-US" sz="1050" dirty="0"/>
          </a:p>
        </p:txBody>
      </p:sp>
      <p:sp>
        <p:nvSpPr>
          <p:cNvPr id="37" name="S04_MigrationDoneTitle"/>
          <p:cNvSpPr/>
          <p:nvPr/>
        </p:nvSpPr>
        <p:spPr>
          <a:xfrm>
            <a:off x="941832" y="3977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сервис переведён полностью</a:t>
            </a:r>
            <a:endParaRPr lang="en-US" sz="1850" dirty="0"/>
          </a:p>
        </p:txBody>
      </p:sp>
      <p:sp>
        <p:nvSpPr>
          <p:cNvPr id="38" name="S04_MigrationDoneMetric"/>
          <p:cNvSpPr/>
          <p:nvPr/>
        </p:nvSpPr>
        <p:spPr>
          <a:xfrm>
            <a:off x="941832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≈100 документов в структурированном MD</a:t>
            </a:r>
            <a:endParaRPr lang="en-US" sz="1260" dirty="0"/>
          </a:p>
        </p:txBody>
      </p:sp>
      <p:sp>
        <p:nvSpPr>
          <p:cNvPr id="39" name="S04_MigrationDoneTag1_Bg"/>
          <p:cNvSpPr/>
          <p:nvPr/>
        </p:nvSpPr>
        <p:spPr>
          <a:xfrm>
            <a:off x="4590288" y="386791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40" name="S04_MigrationDoneTag1_Text"/>
          <p:cNvSpPr/>
          <p:nvPr/>
        </p:nvSpPr>
        <p:spPr>
          <a:xfrm>
            <a:off x="4590288" y="387248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справочники</a:t>
            </a:r>
            <a:endParaRPr lang="en-US" sz="1000" dirty="0"/>
          </a:p>
        </p:txBody>
      </p:sp>
      <p:sp>
        <p:nvSpPr>
          <p:cNvPr id="41" name="S04_MigrationDoneTag2_Bg"/>
          <p:cNvSpPr/>
          <p:nvPr/>
        </p:nvSpPr>
        <p:spPr>
          <a:xfrm>
            <a:off x="5742432" y="3867912"/>
            <a:ext cx="1353312" cy="365760"/>
          </a:xfrm>
          <a:prstGeom prst="roundRect">
            <a:avLst>
              <a:gd name="adj" fmla="val 2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42" name="S04_MigrationDoneTag2_Text"/>
          <p:cNvSpPr/>
          <p:nvPr/>
        </p:nvSpPr>
        <p:spPr>
          <a:xfrm>
            <a:off x="5742432" y="387248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общие библиотеки</a:t>
            </a:r>
            <a:endParaRPr lang="en-US" sz="1000" dirty="0"/>
          </a:p>
        </p:txBody>
      </p:sp>
      <p:sp>
        <p:nvSpPr>
          <p:cNvPr id="43" name="S04_MigrationDoneTag3_Bg"/>
          <p:cNvSpPr/>
          <p:nvPr/>
        </p:nvSpPr>
        <p:spPr>
          <a:xfrm>
            <a:off x="4590288" y="441655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44" name="S04_MigrationDoneTag3_Text"/>
          <p:cNvSpPr/>
          <p:nvPr/>
        </p:nvSpPr>
        <p:spPr>
          <a:xfrm>
            <a:off x="4590288" y="442112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5" name="S04_MigrationDoneTag4_Bg"/>
          <p:cNvSpPr/>
          <p:nvPr/>
        </p:nvSpPr>
        <p:spPr>
          <a:xfrm>
            <a:off x="5742432" y="4416552"/>
            <a:ext cx="1353312" cy="365760"/>
          </a:xfrm>
          <a:prstGeom prst="roundRect">
            <a:avLst>
              <a:gd name="adj" fmla="val 20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46" name="S04_MigrationDoneTag4_Text"/>
          <p:cNvSpPr/>
          <p:nvPr/>
        </p:nvSpPr>
        <p:spPr>
          <a:xfrm>
            <a:off x="5742432" y="442112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OpenAPI · DBML</a:t>
            </a:r>
            <a:endParaRPr lang="en-US" sz="1000" dirty="0"/>
          </a:p>
        </p:txBody>
      </p:sp>
      <p:sp>
        <p:nvSpPr>
          <p:cNvPr id="47" name="S04_MigrationNowCard"/>
          <p:cNvSpPr/>
          <p:nvPr/>
        </p:nvSpPr>
        <p:spPr>
          <a:xfrm>
            <a:off x="7708392" y="3127248"/>
            <a:ext cx="3794760" cy="2212848"/>
          </a:xfrm>
          <a:prstGeom prst="roundRect">
            <a:avLst>
              <a:gd name="adj" fmla="val 3306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22304A">
                <a:alpha val="1.2e+24"/>
              </a:srgbClr>
            </a:outerShdw>
          </a:effectLst>
        </p:spPr>
      </p:sp>
      <p:sp>
        <p:nvSpPr>
          <p:cNvPr id="48" name="S04_MigrationNowLabel_Bg"/>
          <p:cNvSpPr/>
          <p:nvPr/>
        </p:nvSpPr>
        <p:spPr>
          <a:xfrm>
            <a:off x="7982712" y="3401568"/>
            <a:ext cx="1033272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9" name="S04_MigrationNowLabel_Text"/>
          <p:cNvSpPr/>
          <p:nvPr/>
        </p:nvSpPr>
        <p:spPr>
          <a:xfrm>
            <a:off x="7982712" y="3406140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50" name="S04_MigrationNowTitle"/>
          <p:cNvSpPr/>
          <p:nvPr/>
        </p:nvSpPr>
        <p:spPr>
          <a:xfrm>
            <a:off x="7982712" y="39776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 постепенно</a:t>
            </a:r>
            <a:endParaRPr lang="en-US" sz="1850" dirty="0"/>
          </a:p>
        </p:txBody>
      </p:sp>
      <p:sp>
        <p:nvSpPr>
          <p:cNvPr id="51" name="S04_MigrationNowText"/>
          <p:cNvSpPr/>
          <p:nvPr/>
        </p:nvSpPr>
        <p:spPr>
          <a:xfrm>
            <a:off x="7982712" y="44531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 остальных сервисов добавляется в docs-hub по мере реальных задач.</a:t>
            </a:r>
            <a:endParaRPr lang="en-US" sz="1240" dirty="0"/>
          </a:p>
        </p:txBody>
      </p:sp>
      <p:sp>
        <p:nvSpPr>
          <p:cNvPr id="52" name="S04_DocsHubThesisCard"/>
          <p:cNvSpPr/>
          <p:nvPr/>
        </p:nvSpPr>
        <p:spPr>
          <a:xfrm>
            <a:off x="658368" y="5614416"/>
            <a:ext cx="10844784" cy="484632"/>
          </a:xfrm>
          <a:prstGeom prst="roundRect">
            <a:avLst>
              <a:gd name="adj" fmla="val 150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3" name="S04_DocsHubThesis"/>
          <p:cNvSpPr/>
          <p:nvPr/>
        </p:nvSpPr>
        <p:spPr>
          <a:xfrm>
            <a:off x="960120" y="5742432"/>
            <a:ext cx="10222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и Git — не самоцель: это техническая основа для SDD, автоматизации и воспроизводимого процесса изменений.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5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ОБЩАЯ ОСНОВА</a:t>
            </a:r>
            <a:endParaRPr lang="en-US" sz="850" dirty="0"/>
          </a:p>
        </p:txBody>
      </p:sp>
      <p:sp>
        <p:nvSpPr>
          <p:cNvPr id="4" name="S05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Парадигма OpenSpec не изменилась</a:t>
            </a:r>
            <a:endParaRPr lang="en-US" sz="2850" dirty="0"/>
          </a:p>
        </p:txBody>
      </p:sp>
      <p:sp>
        <p:nvSpPr>
          <p:cNvPr id="5" name="S05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сохранили lifecycle и расширили только представление master specification.</a:t>
            </a:r>
            <a:endParaRPr lang="en-US" sz="1320" dirty="0"/>
          </a:p>
        </p:txBody>
      </p:sp>
      <p:sp>
        <p:nvSpPr>
          <p:cNvPr id="6" name="S05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5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30" dirty="0"/>
          </a:p>
        </p:txBody>
      </p:sp>
      <p:sp>
        <p:nvSpPr>
          <p:cNvPr id="8" name="S05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5_LifecycleCard1"/>
          <p:cNvSpPr/>
          <p:nvPr/>
        </p:nvSpPr>
        <p:spPr>
          <a:xfrm>
            <a:off x="65836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5_LifecycleText1"/>
          <p:cNvSpPr/>
          <p:nvPr/>
        </p:nvSpPr>
        <p:spPr>
          <a:xfrm>
            <a:off x="73152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</a:t>
            </a:r>
            <a:endParaRPr lang="en-US" sz="1230" dirty="0"/>
          </a:p>
        </p:txBody>
      </p:sp>
      <p:sp>
        <p:nvSpPr>
          <p:cNvPr id="12" name="S05_LifecycleArrow1"/>
          <p:cNvSpPr/>
          <p:nvPr/>
        </p:nvSpPr>
        <p:spPr>
          <a:xfrm>
            <a:off x="199339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05_LifecycleCard2"/>
          <p:cNvSpPr/>
          <p:nvPr/>
        </p:nvSpPr>
        <p:spPr>
          <a:xfrm>
            <a:off x="222199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S05_LifecycleText2"/>
          <p:cNvSpPr/>
          <p:nvPr/>
        </p:nvSpPr>
        <p:spPr>
          <a:xfrm>
            <a:off x="229514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1230" dirty="0"/>
          </a:p>
        </p:txBody>
      </p:sp>
      <p:sp>
        <p:nvSpPr>
          <p:cNvPr id="15" name="S05_LifecycleArrow2"/>
          <p:cNvSpPr/>
          <p:nvPr/>
        </p:nvSpPr>
        <p:spPr>
          <a:xfrm>
            <a:off x="3557016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05_LifecycleCard3"/>
          <p:cNvSpPr/>
          <p:nvPr/>
        </p:nvSpPr>
        <p:spPr>
          <a:xfrm>
            <a:off x="3785616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7" name="S05_LifecycleText3"/>
          <p:cNvSpPr/>
          <p:nvPr/>
        </p:nvSpPr>
        <p:spPr>
          <a:xfrm>
            <a:off x="3858768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approve</a:t>
            </a:r>
            <a:endParaRPr lang="en-US" sz="1230" dirty="0"/>
          </a:p>
        </p:txBody>
      </p:sp>
      <p:sp>
        <p:nvSpPr>
          <p:cNvPr id="18" name="S05_LifecycleArrow3"/>
          <p:cNvSpPr/>
          <p:nvPr/>
        </p:nvSpPr>
        <p:spPr>
          <a:xfrm>
            <a:off x="5120640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05_LifecycleCard4"/>
          <p:cNvSpPr/>
          <p:nvPr/>
        </p:nvSpPr>
        <p:spPr>
          <a:xfrm>
            <a:off x="5349240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0" name="S05_LifecycleText4"/>
          <p:cNvSpPr/>
          <p:nvPr/>
        </p:nvSpPr>
        <p:spPr>
          <a:xfrm>
            <a:off x="5422392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230" dirty="0"/>
          </a:p>
        </p:txBody>
      </p:sp>
      <p:sp>
        <p:nvSpPr>
          <p:cNvPr id="21" name="S05_LifecycleArrow4"/>
          <p:cNvSpPr/>
          <p:nvPr/>
        </p:nvSpPr>
        <p:spPr>
          <a:xfrm>
            <a:off x="6684264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05_LifecycleCard5"/>
          <p:cNvSpPr/>
          <p:nvPr/>
        </p:nvSpPr>
        <p:spPr>
          <a:xfrm>
            <a:off x="6912864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3" name="S05_LifecycleText5"/>
          <p:cNvSpPr/>
          <p:nvPr/>
        </p:nvSpPr>
        <p:spPr>
          <a:xfrm>
            <a:off x="6986016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230" dirty="0"/>
          </a:p>
        </p:txBody>
      </p:sp>
      <p:sp>
        <p:nvSpPr>
          <p:cNvPr id="24" name="S05_LifecycleArrow5"/>
          <p:cNvSpPr/>
          <p:nvPr/>
        </p:nvSpPr>
        <p:spPr>
          <a:xfrm>
            <a:off x="8247888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5_LifecycleCard6"/>
          <p:cNvSpPr/>
          <p:nvPr/>
        </p:nvSpPr>
        <p:spPr>
          <a:xfrm>
            <a:off x="847648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6" name="S05_LifecycleText6"/>
          <p:cNvSpPr/>
          <p:nvPr/>
        </p:nvSpPr>
        <p:spPr>
          <a:xfrm>
            <a:off x="854964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verify</a:t>
            </a:r>
            <a:endParaRPr lang="en-US" sz="1230" dirty="0"/>
          </a:p>
        </p:txBody>
      </p:sp>
      <p:sp>
        <p:nvSpPr>
          <p:cNvPr id="27" name="S05_LifecycleArrow6"/>
          <p:cNvSpPr/>
          <p:nvPr/>
        </p:nvSpPr>
        <p:spPr>
          <a:xfrm>
            <a:off x="981151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05_LifecycleCard7"/>
          <p:cNvSpPr/>
          <p:nvPr/>
        </p:nvSpPr>
        <p:spPr>
          <a:xfrm>
            <a:off x="1004011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9" name="S05_LifecycleText7"/>
          <p:cNvSpPr/>
          <p:nvPr/>
        </p:nvSpPr>
        <p:spPr>
          <a:xfrm>
            <a:off x="1011326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230" dirty="0"/>
          </a:p>
        </p:txBody>
      </p:sp>
      <p:sp>
        <p:nvSpPr>
          <p:cNvPr id="30" name="S05_OpenSpecInvariantCard"/>
          <p:cNvSpPr/>
          <p:nvPr/>
        </p:nvSpPr>
        <p:spPr>
          <a:xfrm>
            <a:off x="658368" y="2578608"/>
            <a:ext cx="5138928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22304A">
                <a:alpha val="1.2e+29"/>
              </a:srgbClr>
            </a:outerShdw>
          </a:effectLst>
        </p:spPr>
      </p:sp>
      <p:sp>
        <p:nvSpPr>
          <p:cNvPr id="31" name="S05_OpenSpecInvariantLabel_Bg"/>
          <p:cNvSpPr/>
          <p:nvPr/>
        </p:nvSpPr>
        <p:spPr>
          <a:xfrm>
            <a:off x="932688" y="28346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S05_OpenSpecInvariantLabel_Text"/>
          <p:cNvSpPr/>
          <p:nvPr/>
        </p:nvSpPr>
        <p:spPr>
          <a:xfrm>
            <a:off x="932688" y="283921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 ИЗМЕНЕНИЙ</a:t>
            </a:r>
            <a:endParaRPr lang="en-US" sz="1080" dirty="0"/>
          </a:p>
        </p:txBody>
      </p:sp>
      <p:sp>
        <p:nvSpPr>
          <p:cNvPr id="33" name="S05_OpenSpecInvariantTitle"/>
          <p:cNvSpPr/>
          <p:nvPr/>
        </p:nvSpPr>
        <p:spPr>
          <a:xfrm>
            <a:off x="941832" y="34381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lifecycle</a:t>
            </a:r>
            <a:endParaRPr lang="en-US" sz="1800" dirty="0"/>
          </a:p>
        </p:txBody>
      </p:sp>
      <p:sp>
        <p:nvSpPr>
          <p:cNvPr id="34" name="S05_OpenSpecInvariant1_Dot"/>
          <p:cNvSpPr/>
          <p:nvPr/>
        </p:nvSpPr>
        <p:spPr>
          <a:xfrm>
            <a:off x="950976" y="40325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S05_OpenSpecInvariant1_Text"/>
          <p:cNvSpPr/>
          <p:nvPr/>
        </p:nvSpPr>
        <p:spPr>
          <a:xfrm>
            <a:off x="1133856" y="391363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change-first: требования до кода</a:t>
            </a:r>
            <a:endParaRPr lang="en-US" sz="1300" dirty="0"/>
          </a:p>
        </p:txBody>
      </p:sp>
      <p:sp>
        <p:nvSpPr>
          <p:cNvPr id="36" name="S05_OpenSpecInvariant2_Dot"/>
          <p:cNvSpPr/>
          <p:nvPr/>
        </p:nvSpPr>
        <p:spPr>
          <a:xfrm>
            <a:off x="950976" y="4526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5_OpenSpecInvariant2_Text"/>
          <p:cNvSpPr/>
          <p:nvPr/>
        </p:nvSpPr>
        <p:spPr>
          <a:xfrm>
            <a:off x="1133856" y="4407408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change.md · design.md · tasks.md</a:t>
            </a:r>
            <a:endParaRPr lang="en-US" sz="1300" dirty="0"/>
          </a:p>
        </p:txBody>
      </p:sp>
      <p:sp>
        <p:nvSpPr>
          <p:cNvPr id="38" name="S05_OpenSpecInvariant3_Dot"/>
          <p:cNvSpPr/>
          <p:nvPr/>
        </p:nvSpPr>
        <p:spPr>
          <a:xfrm>
            <a:off x="950976" y="50200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S05_OpenSpecInvariant3_Text"/>
          <p:cNvSpPr/>
          <p:nvPr/>
        </p:nvSpPr>
        <p:spPr>
          <a:xfrm>
            <a:off x="1133856" y="490118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implement · verify · archive</a:t>
            </a:r>
            <a:endParaRPr lang="en-US" sz="1300" dirty="0"/>
          </a:p>
        </p:txBody>
      </p:sp>
      <p:sp>
        <p:nvSpPr>
          <p:cNvPr id="40" name="S05_FolderBasedContractCard"/>
          <p:cNvSpPr/>
          <p:nvPr/>
        </p:nvSpPr>
        <p:spPr>
          <a:xfrm>
            <a:off x="6062472" y="257860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22304A">
                <a:alpha val="1.2e+34"/>
              </a:srgbClr>
            </a:outerShdw>
          </a:effectLst>
        </p:spPr>
      </p:sp>
      <p:sp>
        <p:nvSpPr>
          <p:cNvPr id="41" name="S05_FolderBasedContractLabel_Bg"/>
          <p:cNvSpPr/>
          <p:nvPr/>
        </p:nvSpPr>
        <p:spPr>
          <a:xfrm>
            <a:off x="6345936" y="2834640"/>
            <a:ext cx="170992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5_FolderBasedContractLabel_Text"/>
          <p:cNvSpPr/>
          <p:nvPr/>
        </p:nvSpPr>
        <p:spPr>
          <a:xfrm>
            <a:off x="6345936" y="2839212"/>
            <a:ext cx="1709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ТОЧКА РАСШИРЕНИЯ</a:t>
            </a:r>
            <a:endParaRPr lang="en-US" sz="1040" dirty="0"/>
          </a:p>
        </p:txBody>
      </p:sp>
      <p:sp>
        <p:nvSpPr>
          <p:cNvPr id="43" name="S05_FolderBasedContractTitle"/>
          <p:cNvSpPr/>
          <p:nvPr/>
        </p:nvSpPr>
        <p:spPr>
          <a:xfrm>
            <a:off x="6364224" y="3438144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= folder</a:t>
            </a:r>
            <a:endParaRPr lang="en-US" sz="1800" dirty="0"/>
          </a:p>
        </p:txBody>
      </p:sp>
      <p:sp>
        <p:nvSpPr>
          <p:cNvPr id="44" name="S05_FolderBasedContractFolder_Body"/>
          <p:cNvSpPr/>
          <p:nvPr/>
        </p:nvSpPr>
        <p:spPr>
          <a:xfrm>
            <a:off x="6382512" y="4074201"/>
            <a:ext cx="585216" cy="342351"/>
          </a:xfrm>
          <a:prstGeom prst="roundRect">
            <a:avLst>
              <a:gd name="adj" fmla="val 10684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5" name="S05_FolderBasedContractFolder_Tab"/>
          <p:cNvSpPr/>
          <p:nvPr/>
        </p:nvSpPr>
        <p:spPr>
          <a:xfrm>
            <a:off x="6455664" y="3977640"/>
            <a:ext cx="269199" cy="166787"/>
          </a:xfrm>
          <a:prstGeom prst="roundRect">
            <a:avLst>
              <a:gd name="adj" fmla="val 1644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5_FolderBasedContractPath"/>
          <p:cNvSpPr/>
          <p:nvPr/>
        </p:nvSpPr>
        <p:spPr>
          <a:xfrm>
            <a:off x="717804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47" name="S05_FolderBasedContract1_Dot"/>
          <p:cNvSpPr/>
          <p:nvPr/>
        </p:nvSpPr>
        <p:spPr>
          <a:xfrm>
            <a:off x="6391656" y="46542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5_FolderBasedContract1_Text"/>
          <p:cNvSpPr/>
          <p:nvPr/>
        </p:nvSpPr>
        <p:spPr>
          <a:xfrm>
            <a:off x="6574536" y="453542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внутри — любое количество документов и форматов</a:t>
            </a:r>
            <a:endParaRPr lang="en-US" sz="1270" dirty="0"/>
          </a:p>
        </p:txBody>
      </p:sp>
      <p:sp>
        <p:nvSpPr>
          <p:cNvPr id="49" name="S05_FolderBasedContract2_Dot"/>
          <p:cNvSpPr/>
          <p:nvPr/>
        </p:nvSpPr>
        <p:spPr>
          <a:xfrm>
            <a:off x="6391656" y="51114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5_FolderBasedContract2_Text"/>
          <p:cNvSpPr/>
          <p:nvPr/>
        </p:nvSpPr>
        <p:spPr>
          <a:xfrm>
            <a:off x="6574536" y="499262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создаёт карту чтения и связей</a:t>
            </a:r>
            <a:endParaRPr lang="en-US" sz="1270" dirty="0"/>
          </a:p>
        </p:txBody>
      </p:sp>
      <p:sp>
        <p:nvSpPr>
          <p:cNvPr id="51" name="S05_LifecycleThesis_Bg"/>
          <p:cNvSpPr/>
          <p:nvPr/>
        </p:nvSpPr>
        <p:spPr>
          <a:xfrm>
            <a:off x="1243584" y="5742432"/>
            <a:ext cx="9710928" cy="429768"/>
          </a:xfrm>
          <a:prstGeom prst="roundRect">
            <a:avLst>
              <a:gd name="adj" fmla="val 17021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52" name="S05_LifecycleThesis_Text"/>
          <p:cNvSpPr/>
          <p:nvPr/>
        </p:nvSpPr>
        <p:spPr>
          <a:xfrm>
            <a:off x="1243584" y="5747004"/>
            <a:ext cx="9710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Это всё та же OpenSpec: workflow работает поверх другой формы source of truth.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6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ПРОЕКТНЫЕ ТРЕБОВАНИЯ</a:t>
            </a:r>
            <a:endParaRPr lang="en-US" sz="850" dirty="0"/>
          </a:p>
        </p:txBody>
      </p:sp>
      <p:sp>
        <p:nvSpPr>
          <p:cNvPr id="4" name="S06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Требования, которые мы заложили для своего масштаба</a:t>
            </a:r>
            <a:endParaRPr lang="en-US" sz="2850" dirty="0"/>
          </a:p>
        </p:txBody>
      </p:sp>
      <p:sp>
        <p:nvSpPr>
          <p:cNvPr id="5" name="S06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Проектировали под ожидаемый объём и структуру нашей документации.</a:t>
            </a:r>
            <a:endParaRPr lang="en-US" sz="1320" dirty="0"/>
          </a:p>
        </p:txBody>
      </p:sp>
      <p:sp>
        <p:nvSpPr>
          <p:cNvPr id="6" name="S06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6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30" dirty="0"/>
          </a:p>
        </p:txBody>
      </p:sp>
      <p:sp>
        <p:nvSpPr>
          <p:cNvPr id="8" name="S06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6_CrossChange_Bg"/>
          <p:cNvSpPr/>
          <p:nvPr/>
        </p:nvSpPr>
        <p:spPr>
          <a:xfrm>
            <a:off x="2980944" y="1408176"/>
            <a:ext cx="6236208" cy="457200"/>
          </a:xfrm>
          <a:prstGeom prst="roundRect">
            <a:avLst>
              <a:gd name="adj" fmla="val 16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1" name="S06_CrossChange_Text"/>
          <p:cNvSpPr/>
          <p:nvPr/>
        </p:nvSpPr>
        <p:spPr>
          <a:xfrm>
            <a:off x="2980944" y="1412748"/>
            <a:ext cx="6236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CHANGE · связанный контекст сервиса</a:t>
            </a:r>
            <a:endParaRPr lang="en-US" sz="1240" dirty="0"/>
          </a:p>
        </p:txBody>
      </p:sp>
      <p:sp>
        <p:nvSpPr>
          <p:cNvPr id="12" name="S06_CrossAreaArrow1"/>
          <p:cNvSpPr/>
          <p:nvPr/>
        </p:nvSpPr>
        <p:spPr>
          <a:xfrm flipH="1">
            <a:off x="2258568" y="1865376"/>
            <a:ext cx="384048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3" name="S06_CrossAreaCard1"/>
          <p:cNvSpPr/>
          <p:nvPr/>
        </p:nvSpPr>
        <p:spPr>
          <a:xfrm>
            <a:off x="65836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</p:sp>
      <p:sp>
        <p:nvSpPr>
          <p:cNvPr id="14" name="S06_CrossAreaPill1_Bg"/>
          <p:cNvSpPr/>
          <p:nvPr/>
        </p:nvSpPr>
        <p:spPr>
          <a:xfrm>
            <a:off x="87782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6_CrossAreaPill1_Text"/>
          <p:cNvSpPr/>
          <p:nvPr/>
        </p:nvSpPr>
        <p:spPr>
          <a:xfrm>
            <a:off x="87782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A</a:t>
            </a:r>
            <a:endParaRPr lang="en-US" sz="1060" dirty="0"/>
          </a:p>
        </p:txBody>
      </p:sp>
      <p:sp>
        <p:nvSpPr>
          <p:cNvPr id="16" name="S06_CrossAreaTitle1"/>
          <p:cNvSpPr/>
          <p:nvPr/>
        </p:nvSpPr>
        <p:spPr>
          <a:xfrm>
            <a:off x="171907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430" dirty="0"/>
          </a:p>
        </p:txBody>
      </p:sp>
      <p:sp>
        <p:nvSpPr>
          <p:cNvPr id="17" name="S06_CrossAreaFiles1"/>
          <p:cNvSpPr/>
          <p:nvPr/>
        </p:nvSpPr>
        <p:spPr>
          <a:xfrm>
            <a:off x="87782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workflow/*.md · rules</a:t>
            </a:r>
            <a:endParaRPr lang="en-US" sz="1060" dirty="0"/>
          </a:p>
        </p:txBody>
      </p:sp>
      <p:sp>
        <p:nvSpPr>
          <p:cNvPr id="18" name="S06_CrossAreaArrow2"/>
          <p:cNvSpPr/>
          <p:nvPr/>
        </p:nvSpPr>
        <p:spPr>
          <a:xfrm flipH="1">
            <a:off x="6007608" y="1865376"/>
            <a:ext cx="9144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9" name="S06_CrossAreaCard2"/>
          <p:cNvSpPr/>
          <p:nvPr/>
        </p:nvSpPr>
        <p:spPr>
          <a:xfrm>
            <a:off x="440740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00A6A6"/>
            </a:solidFill>
            <a:prstDash val="solid"/>
          </a:ln>
        </p:spPr>
      </p:sp>
      <p:sp>
        <p:nvSpPr>
          <p:cNvPr id="20" name="S06_CrossAreaPill2_Bg"/>
          <p:cNvSpPr/>
          <p:nvPr/>
        </p:nvSpPr>
        <p:spPr>
          <a:xfrm>
            <a:off x="462686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1" name="S06_CrossAreaPill2_Text"/>
          <p:cNvSpPr/>
          <p:nvPr/>
        </p:nvSpPr>
        <p:spPr>
          <a:xfrm>
            <a:off x="462686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B</a:t>
            </a:r>
            <a:endParaRPr lang="en-US" sz="1060" dirty="0"/>
          </a:p>
        </p:txBody>
      </p:sp>
      <p:sp>
        <p:nvSpPr>
          <p:cNvPr id="22" name="S06_CrossAreaTitle2"/>
          <p:cNvSpPr/>
          <p:nvPr/>
        </p:nvSpPr>
        <p:spPr>
          <a:xfrm>
            <a:off x="546811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</a:t>
            </a:r>
            <a:endParaRPr lang="en-US" sz="1430" dirty="0"/>
          </a:p>
        </p:txBody>
      </p:sp>
      <p:sp>
        <p:nvSpPr>
          <p:cNvPr id="23" name="S06_CrossAreaFiles2"/>
          <p:cNvSpPr/>
          <p:nvPr/>
        </p:nvSpPr>
        <p:spPr>
          <a:xfrm>
            <a:off x="462686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model/*.md · DBML</a:t>
            </a:r>
            <a:endParaRPr lang="en-US" sz="1060" dirty="0"/>
          </a:p>
        </p:txBody>
      </p:sp>
      <p:sp>
        <p:nvSpPr>
          <p:cNvPr id="24" name="S06_CrossAreaArrow3"/>
          <p:cNvSpPr/>
          <p:nvPr/>
        </p:nvSpPr>
        <p:spPr>
          <a:xfrm>
            <a:off x="6099048" y="1865376"/>
            <a:ext cx="365760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5" name="S06_CrossAreaCard3"/>
          <p:cNvSpPr/>
          <p:nvPr/>
        </p:nvSpPr>
        <p:spPr>
          <a:xfrm>
            <a:off x="815644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7657D5"/>
            </a:solidFill>
            <a:prstDash val="solid"/>
          </a:ln>
        </p:spPr>
      </p:sp>
      <p:sp>
        <p:nvSpPr>
          <p:cNvPr id="26" name="S06_CrossAreaPill3_Bg"/>
          <p:cNvSpPr/>
          <p:nvPr/>
        </p:nvSpPr>
        <p:spPr>
          <a:xfrm>
            <a:off x="837590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7" name="S06_CrossAreaPill3_Text"/>
          <p:cNvSpPr/>
          <p:nvPr/>
        </p:nvSpPr>
        <p:spPr>
          <a:xfrm>
            <a:off x="837590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C</a:t>
            </a:r>
            <a:endParaRPr lang="en-US" sz="1060" dirty="0"/>
          </a:p>
        </p:txBody>
      </p:sp>
      <p:sp>
        <p:nvSpPr>
          <p:cNvPr id="28" name="S06_CrossAreaTitle3"/>
          <p:cNvSpPr/>
          <p:nvPr/>
        </p:nvSpPr>
        <p:spPr>
          <a:xfrm>
            <a:off x="921715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/ integration</a:t>
            </a:r>
            <a:endParaRPr lang="en-US" sz="1430" dirty="0"/>
          </a:p>
        </p:txBody>
      </p:sp>
      <p:sp>
        <p:nvSpPr>
          <p:cNvPr id="29" name="S06_CrossAreaFiles3"/>
          <p:cNvSpPr/>
          <p:nvPr/>
        </p:nvSpPr>
        <p:spPr>
          <a:xfrm>
            <a:off x="837590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integrations</a:t>
            </a:r>
            <a:endParaRPr lang="en-US" sz="1060" dirty="0"/>
          </a:p>
        </p:txBody>
      </p:sp>
      <p:sp>
        <p:nvSpPr>
          <p:cNvPr id="30" name="S06_SharedContextCard"/>
          <p:cNvSpPr/>
          <p:nvPr/>
        </p:nvSpPr>
        <p:spPr>
          <a:xfrm>
            <a:off x="1097280" y="3758184"/>
            <a:ext cx="9994392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06_SharedContextText"/>
          <p:cNvSpPr/>
          <p:nvPr/>
        </p:nvSpPr>
        <p:spPr>
          <a:xfrm>
            <a:off x="1399032" y="3931920"/>
            <a:ext cx="939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Нужно увидеть вместе: сущности · business rules · endpoints · events · зависимые документы</a:t>
            </a:r>
            <a:endParaRPr lang="en-US" sz="1340" dirty="0"/>
          </a:p>
        </p:txBody>
      </p:sp>
      <p:sp>
        <p:nvSpPr>
          <p:cNvPr id="32" name="S06_ScaleRequirementCard1"/>
          <p:cNvSpPr/>
          <p:nvPr/>
        </p:nvSpPr>
        <p:spPr>
          <a:xfrm>
            <a:off x="658368" y="4617720"/>
            <a:ext cx="2615184" cy="1179576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S06_ScaleRequirementDot1"/>
          <p:cNvSpPr/>
          <p:nvPr/>
        </p:nvSpPr>
        <p:spPr>
          <a:xfrm>
            <a:off x="859536" y="4828032"/>
            <a:ext cx="219456" cy="21945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4" name="S06_ScaleRequirementTitle1"/>
          <p:cNvSpPr/>
          <p:nvPr/>
        </p:nvSpPr>
        <p:spPr>
          <a:xfrm>
            <a:off x="1188720" y="47548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Сохранить модульность</a:t>
            </a:r>
            <a:endParaRPr lang="en-US" sz="1270" dirty="0"/>
          </a:p>
        </p:txBody>
      </p:sp>
      <p:sp>
        <p:nvSpPr>
          <p:cNvPr id="35" name="S06_ScaleRequirementText1"/>
          <p:cNvSpPr/>
          <p:nvPr/>
        </p:nvSpPr>
        <p:spPr>
          <a:xfrm>
            <a:off x="859536" y="5230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собирать зрелую аналитику в новый монолит</a:t>
            </a:r>
            <a:endParaRPr lang="en-US" sz="1060" dirty="0"/>
          </a:p>
        </p:txBody>
      </p:sp>
      <p:sp>
        <p:nvSpPr>
          <p:cNvPr id="36" name="S06_ScaleRequirementCard2"/>
          <p:cNvSpPr/>
          <p:nvPr/>
        </p:nvSpPr>
        <p:spPr>
          <a:xfrm>
            <a:off x="3401568" y="4617720"/>
            <a:ext cx="2615184" cy="1179576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7" name="S06_ScaleRequirementDot2"/>
          <p:cNvSpPr/>
          <p:nvPr/>
        </p:nvSpPr>
        <p:spPr>
          <a:xfrm>
            <a:off x="3602736" y="4828032"/>
            <a:ext cx="219456" cy="21945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8" name="S06_ScaleRequirementTitle2"/>
          <p:cNvSpPr/>
          <p:nvPr/>
        </p:nvSpPr>
        <p:spPr>
          <a:xfrm>
            <a:off x="3931920" y="47548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Выбирать контекст</a:t>
            </a:r>
            <a:endParaRPr lang="en-US" sz="1270" dirty="0"/>
          </a:p>
        </p:txBody>
      </p:sp>
      <p:sp>
        <p:nvSpPr>
          <p:cNvPr id="39" name="S06_ScaleRequirementText2"/>
          <p:cNvSpPr/>
          <p:nvPr/>
        </p:nvSpPr>
        <p:spPr>
          <a:xfrm>
            <a:off x="3602736" y="5230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явно находить связанные документы и сущности</a:t>
            </a:r>
            <a:endParaRPr lang="en-US" sz="1060" dirty="0"/>
          </a:p>
        </p:txBody>
      </p:sp>
      <p:sp>
        <p:nvSpPr>
          <p:cNvPr id="40" name="S06_ScaleRequirementCard3"/>
          <p:cNvSpPr/>
          <p:nvPr/>
        </p:nvSpPr>
        <p:spPr>
          <a:xfrm>
            <a:off x="6144768" y="4617720"/>
            <a:ext cx="2615184" cy="1179576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41" name="S06_ScaleRequirementDot3"/>
          <p:cNvSpPr/>
          <p:nvPr/>
        </p:nvSpPr>
        <p:spPr>
          <a:xfrm>
            <a:off x="6345936" y="4828032"/>
            <a:ext cx="219456" cy="219456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2" name="S06_ScaleRequirementTitle3"/>
          <p:cNvSpPr/>
          <p:nvPr/>
        </p:nvSpPr>
        <p:spPr>
          <a:xfrm>
            <a:off x="6675120" y="47548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Поддержать форматы</a:t>
            </a:r>
            <a:endParaRPr lang="en-US" sz="1270" dirty="0"/>
          </a:p>
        </p:txBody>
      </p:sp>
      <p:sp>
        <p:nvSpPr>
          <p:cNvPr id="43" name="S06_ScaleRequirementText3"/>
          <p:cNvSpPr/>
          <p:nvPr/>
        </p:nvSpPr>
        <p:spPr>
          <a:xfrm>
            <a:off x="6345936" y="5230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· OpenAPI · YAML · DBML · диаграммы</a:t>
            </a:r>
            <a:endParaRPr lang="en-US" sz="1060" dirty="0"/>
          </a:p>
        </p:txBody>
      </p:sp>
      <p:sp>
        <p:nvSpPr>
          <p:cNvPr id="44" name="S06_ScaleRequirementCard4"/>
          <p:cNvSpPr/>
          <p:nvPr/>
        </p:nvSpPr>
        <p:spPr>
          <a:xfrm>
            <a:off x="8887968" y="4617720"/>
            <a:ext cx="2615184" cy="1179576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06_ScaleRequirementDot4"/>
          <p:cNvSpPr/>
          <p:nvPr/>
        </p:nvSpPr>
        <p:spPr>
          <a:xfrm>
            <a:off x="9089136" y="4828032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6" name="S06_ScaleRequirementTitle4"/>
          <p:cNvSpPr/>
          <p:nvPr/>
        </p:nvSpPr>
        <p:spPr>
          <a:xfrm>
            <a:off x="9418320" y="47548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Видеть состояние</a:t>
            </a:r>
            <a:endParaRPr lang="en-US" sz="1270" dirty="0"/>
          </a:p>
        </p:txBody>
      </p:sp>
      <p:sp>
        <p:nvSpPr>
          <p:cNvPr id="47" name="S06_ScaleRequirementText4"/>
          <p:cNvSpPr/>
          <p:nvPr/>
        </p:nvSpPr>
        <p:spPr>
          <a:xfrm>
            <a:off x="9089136" y="5230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 · coverage · stale-сигналы</a:t>
            </a:r>
            <a:endParaRPr lang="en-US" sz="1060" dirty="0"/>
          </a:p>
        </p:txBody>
      </p:sp>
      <p:sp>
        <p:nvSpPr>
          <p:cNvPr id="48" name="S06_CrossSlideThesis"/>
          <p:cNvSpPr/>
          <p:nvPr/>
        </p:nvSpPr>
        <p:spPr>
          <a:xfrm>
            <a:off x="2743200" y="610819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Мы решили заложить эти механизмы сразу — как контракт нашей реализации.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7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АРХИТЕКТУРА РАСШИРЕНИЯ</a:t>
            </a:r>
            <a:endParaRPr lang="en-US" sz="850" dirty="0"/>
          </a:p>
        </p:txBody>
      </p:sp>
      <p:sp>
        <p:nvSpPr>
          <p:cNvPr id="4" name="S07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spec: папка как единая master specification</a:t>
            </a:r>
            <a:endParaRPr lang="en-US" sz="2850" dirty="0"/>
          </a:p>
        </p:txBody>
      </p:sp>
      <p:sp>
        <p:nvSpPr>
          <p:cNvPr id="5" name="S07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Документы остаются source of truth; _sdd создаёт карту чтения и связей.</a:t>
            </a:r>
            <a:endParaRPr lang="en-US" sz="1320" dirty="0"/>
          </a:p>
        </p:txBody>
      </p:sp>
      <p:sp>
        <p:nvSpPr>
          <p:cNvPr id="6" name="S07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7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30" dirty="0"/>
          </a:p>
        </p:txBody>
      </p:sp>
      <p:sp>
        <p:nvSpPr>
          <p:cNvPr id="8" name="S07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7_FolderTreeCard"/>
          <p:cNvSpPr/>
          <p:nvPr/>
        </p:nvSpPr>
        <p:spPr>
          <a:xfrm>
            <a:off x="658368" y="1444752"/>
            <a:ext cx="3456432" cy="450799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22304A">
                <a:alpha val="1.1999999999999999e+39"/>
              </a:srgbClr>
            </a:outerShdw>
          </a:effectLst>
        </p:spPr>
      </p:sp>
      <p:sp>
        <p:nvSpPr>
          <p:cNvPr id="11" name="S07_FolderTreeLabel_Bg"/>
          <p:cNvSpPr/>
          <p:nvPr/>
        </p:nvSpPr>
        <p:spPr>
          <a:xfrm>
            <a:off x="914400" y="1700784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7_FolderTreeLabel_Text"/>
          <p:cNvSpPr/>
          <p:nvPr/>
        </p:nvSpPr>
        <p:spPr>
          <a:xfrm>
            <a:off x="914400" y="1705356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</a:t>
            </a:r>
            <a:endParaRPr lang="en-US" sz="1040" dirty="0"/>
          </a:p>
        </p:txBody>
      </p:sp>
      <p:sp>
        <p:nvSpPr>
          <p:cNvPr id="13" name="S07_FolderTreeRoot_Body"/>
          <p:cNvSpPr/>
          <p:nvPr/>
        </p:nvSpPr>
        <p:spPr>
          <a:xfrm>
            <a:off x="932688" y="2418222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S07_FolderTreeRoot_Tab"/>
          <p:cNvSpPr/>
          <p:nvPr/>
        </p:nvSpPr>
        <p:spPr>
          <a:xfrm>
            <a:off x="1005840" y="2331720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7_FolderTreeRootText"/>
          <p:cNvSpPr/>
          <p:nvPr/>
        </p:nvSpPr>
        <p:spPr>
          <a:xfrm>
            <a:off x="164592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16" name="S07_FolderTreeSpine"/>
          <p:cNvSpPr/>
          <p:nvPr/>
        </p:nvSpPr>
        <p:spPr>
          <a:xfrm>
            <a:off x="1197864" y="2724912"/>
            <a:ext cx="914" cy="2633472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7" name="S07_FolderTreeBranch1"/>
          <p:cNvSpPr/>
          <p:nvPr/>
        </p:nvSpPr>
        <p:spPr>
          <a:xfrm>
            <a:off x="1197864" y="3063240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8" name="S07_FolderTreeFolder1_Body"/>
          <p:cNvSpPr/>
          <p:nvPr/>
        </p:nvSpPr>
        <p:spPr>
          <a:xfrm>
            <a:off x="1581912" y="2966131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7_FolderTreeFolder1_Tab"/>
          <p:cNvSpPr/>
          <p:nvPr/>
        </p:nvSpPr>
        <p:spPr>
          <a:xfrm>
            <a:off x="1655064" y="2907792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07_FolderTreeText1"/>
          <p:cNvSpPr/>
          <p:nvPr/>
        </p:nvSpPr>
        <p:spPr>
          <a:xfrm>
            <a:off x="2066544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30" dirty="0"/>
          </a:p>
        </p:txBody>
      </p:sp>
      <p:sp>
        <p:nvSpPr>
          <p:cNvPr id="21" name="S07_FolderTreeBranch2"/>
          <p:cNvSpPr/>
          <p:nvPr/>
        </p:nvSpPr>
        <p:spPr>
          <a:xfrm>
            <a:off x="1197864" y="3547872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2" name="S07_FolderTreeFolder2_Body"/>
          <p:cNvSpPr/>
          <p:nvPr/>
        </p:nvSpPr>
        <p:spPr>
          <a:xfrm>
            <a:off x="1581912" y="3450763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3" name="S07_FolderTreeFolder2_Tab"/>
          <p:cNvSpPr/>
          <p:nvPr/>
        </p:nvSpPr>
        <p:spPr>
          <a:xfrm>
            <a:off x="1655064" y="3392424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4" name="S07_FolderTreeText2"/>
          <p:cNvSpPr/>
          <p:nvPr/>
        </p:nvSpPr>
        <p:spPr>
          <a:xfrm>
            <a:off x="206654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integrations/</a:t>
            </a:r>
            <a:endParaRPr lang="en-US" sz="1130" dirty="0"/>
          </a:p>
        </p:txBody>
      </p:sp>
      <p:sp>
        <p:nvSpPr>
          <p:cNvPr id="25" name="S07_FolderTreeBranch3"/>
          <p:cNvSpPr/>
          <p:nvPr/>
        </p:nvSpPr>
        <p:spPr>
          <a:xfrm>
            <a:off x="1197864" y="4032504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6" name="S07_FolderTreeFolder3_Body"/>
          <p:cNvSpPr/>
          <p:nvPr/>
        </p:nvSpPr>
        <p:spPr>
          <a:xfrm>
            <a:off x="1581912" y="3935395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7_FolderTreeFolder3_Tab"/>
          <p:cNvSpPr/>
          <p:nvPr/>
        </p:nvSpPr>
        <p:spPr>
          <a:xfrm>
            <a:off x="1655064" y="3877056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8" name="S07_FolderTreeText3"/>
          <p:cNvSpPr/>
          <p:nvPr/>
        </p:nvSpPr>
        <p:spPr>
          <a:xfrm>
            <a:off x="2066544" y="389534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</a:t>
            </a:r>
            <a:endParaRPr lang="en-US" sz="1130" dirty="0"/>
          </a:p>
        </p:txBody>
      </p:sp>
      <p:sp>
        <p:nvSpPr>
          <p:cNvPr id="29" name="S07_FolderTreeBranch4"/>
          <p:cNvSpPr/>
          <p:nvPr/>
        </p:nvSpPr>
        <p:spPr>
          <a:xfrm>
            <a:off x="1197864" y="4517136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0" name="S07_FolderTreeFolder4_Body"/>
          <p:cNvSpPr/>
          <p:nvPr/>
        </p:nvSpPr>
        <p:spPr>
          <a:xfrm>
            <a:off x="1581912" y="4420027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7_FolderTreeFolder4_Tab"/>
          <p:cNvSpPr/>
          <p:nvPr/>
        </p:nvSpPr>
        <p:spPr>
          <a:xfrm>
            <a:off x="1655064" y="4361688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2" name="S07_FolderTreeText4"/>
          <p:cNvSpPr/>
          <p:nvPr/>
        </p:nvSpPr>
        <p:spPr>
          <a:xfrm>
            <a:off x="2066544" y="437997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· dbml/</a:t>
            </a:r>
            <a:endParaRPr lang="en-US" sz="1130" dirty="0"/>
          </a:p>
        </p:txBody>
      </p:sp>
      <p:sp>
        <p:nvSpPr>
          <p:cNvPr id="33" name="S07_FolderTreeBranch5"/>
          <p:cNvSpPr/>
          <p:nvPr/>
        </p:nvSpPr>
        <p:spPr>
          <a:xfrm>
            <a:off x="1197864" y="5001768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4" name="S07_FolderTreeFolder5_Body"/>
          <p:cNvSpPr/>
          <p:nvPr/>
        </p:nvSpPr>
        <p:spPr>
          <a:xfrm>
            <a:off x="1581912" y="4904659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5" name="S07_FolderTreeFolder5_Tab"/>
          <p:cNvSpPr/>
          <p:nvPr/>
        </p:nvSpPr>
        <p:spPr>
          <a:xfrm>
            <a:off x="1655064" y="4846320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6" name="S07_FolderTreeText5"/>
          <p:cNvSpPr/>
          <p:nvPr/>
        </p:nvSpPr>
        <p:spPr>
          <a:xfrm>
            <a:off x="2066544" y="486460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diagrams/ · settings/</a:t>
            </a:r>
            <a:endParaRPr lang="en-US" sz="1130" dirty="0"/>
          </a:p>
        </p:txBody>
      </p:sp>
      <p:sp>
        <p:nvSpPr>
          <p:cNvPr id="37" name="S07_FolderFormats_Bg"/>
          <p:cNvSpPr/>
          <p:nvPr/>
        </p:nvSpPr>
        <p:spPr>
          <a:xfrm>
            <a:off x="941832" y="546811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7_FolderFormats_Text"/>
          <p:cNvSpPr/>
          <p:nvPr/>
        </p:nvSpPr>
        <p:spPr>
          <a:xfrm>
            <a:off x="941832" y="54726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diagrams</a:t>
            </a:r>
            <a:endParaRPr lang="en-US" sz="940" dirty="0"/>
          </a:p>
        </p:txBody>
      </p:sp>
      <p:sp>
        <p:nvSpPr>
          <p:cNvPr id="39" name="S07_FolderToIndex"/>
          <p:cNvSpPr/>
          <p:nvPr/>
        </p:nvSpPr>
        <p:spPr>
          <a:xfrm>
            <a:off x="4114800" y="3675888"/>
            <a:ext cx="292608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0" name="S07_IndexLayerCard"/>
          <p:cNvSpPr/>
          <p:nvPr/>
        </p:nvSpPr>
        <p:spPr>
          <a:xfrm>
            <a:off x="4462272" y="1444752"/>
            <a:ext cx="3072384" cy="4507992"/>
          </a:xfrm>
          <a:prstGeom prst="roundRect">
            <a:avLst>
              <a:gd name="adj" fmla="val 238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22304A">
                <a:alpha val="1.1999999999999999e+44"/>
              </a:srgbClr>
            </a:outerShdw>
          </a:effectLst>
        </p:spPr>
      </p:sp>
      <p:sp>
        <p:nvSpPr>
          <p:cNvPr id="41" name="S07_IndexLayerLabel_Bg"/>
          <p:cNvSpPr/>
          <p:nvPr/>
        </p:nvSpPr>
        <p:spPr>
          <a:xfrm>
            <a:off x="4736592" y="170078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7_IndexLayerLabel_Text"/>
          <p:cNvSpPr/>
          <p:nvPr/>
        </p:nvSpPr>
        <p:spPr>
          <a:xfrm>
            <a:off x="4736592" y="170535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120" dirty="0"/>
          </a:p>
        </p:txBody>
      </p:sp>
      <p:sp>
        <p:nvSpPr>
          <p:cNvPr id="43" name="S07_IndexLayerKicker"/>
          <p:cNvSpPr/>
          <p:nvPr/>
        </p:nvSpPr>
        <p:spPr>
          <a:xfrm>
            <a:off x="5925312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8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</a:t>
            </a:r>
            <a:endParaRPr lang="en-US" sz="830" dirty="0"/>
          </a:p>
        </p:txBody>
      </p:sp>
      <p:sp>
        <p:nvSpPr>
          <p:cNvPr id="44" name="S07_IndexFileCard1"/>
          <p:cNvSpPr/>
          <p:nvPr/>
        </p:nvSpPr>
        <p:spPr>
          <a:xfrm>
            <a:off x="4718304" y="23774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5" name="S07_IndexFileAccent1"/>
          <p:cNvSpPr/>
          <p:nvPr/>
        </p:nvSpPr>
        <p:spPr>
          <a:xfrm>
            <a:off x="4718304" y="2377440"/>
            <a:ext cx="64008" cy="5669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6" name="S07_IndexFileTitle1"/>
          <p:cNvSpPr/>
          <p:nvPr/>
        </p:nvSpPr>
        <p:spPr>
          <a:xfrm>
            <a:off x="49377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manifest.yaml</a:t>
            </a:r>
            <a:endParaRPr lang="en-US" sz="1170" dirty="0"/>
          </a:p>
        </p:txBody>
      </p:sp>
      <p:sp>
        <p:nvSpPr>
          <p:cNvPr id="47" name="S07_IndexFileSubtitle1"/>
          <p:cNvSpPr/>
          <p:nvPr/>
        </p:nvSpPr>
        <p:spPr>
          <a:xfrm>
            <a:off x="4937760" y="26974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 · типы · hash · связи</a:t>
            </a:r>
            <a:endParaRPr lang="en-US" sz="890" dirty="0"/>
          </a:p>
        </p:txBody>
      </p:sp>
      <p:sp>
        <p:nvSpPr>
          <p:cNvPr id="48" name="S07_IndexFileCard2"/>
          <p:cNvSpPr/>
          <p:nvPr/>
        </p:nvSpPr>
        <p:spPr>
          <a:xfrm>
            <a:off x="4718304" y="313639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9" name="S07_IndexFileAccent2"/>
          <p:cNvSpPr/>
          <p:nvPr/>
        </p:nvSpPr>
        <p:spPr>
          <a:xfrm>
            <a:off x="4718304" y="3136392"/>
            <a:ext cx="64008" cy="5669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7_IndexFileTitle2"/>
          <p:cNvSpPr/>
          <p:nvPr/>
        </p:nvSpPr>
        <p:spPr>
          <a:xfrm>
            <a:off x="4937760" y="3227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navigation.md</a:t>
            </a:r>
            <a:endParaRPr lang="en-US" sz="1170" dirty="0"/>
          </a:p>
        </p:txBody>
      </p:sp>
      <p:sp>
        <p:nvSpPr>
          <p:cNvPr id="51" name="S07_IndexFileSubtitle2"/>
          <p:cNvSpPr/>
          <p:nvPr/>
        </p:nvSpPr>
        <p:spPr>
          <a:xfrm>
            <a:off x="4937760" y="34564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читать первым</a:t>
            </a:r>
            <a:endParaRPr lang="en-US" sz="890" dirty="0"/>
          </a:p>
        </p:txBody>
      </p:sp>
      <p:sp>
        <p:nvSpPr>
          <p:cNvPr id="52" name="S07_IndexFileCard3"/>
          <p:cNvSpPr/>
          <p:nvPr/>
        </p:nvSpPr>
        <p:spPr>
          <a:xfrm>
            <a:off x="4718304" y="389534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3" name="S07_IndexFileAccent3"/>
          <p:cNvSpPr/>
          <p:nvPr/>
        </p:nvSpPr>
        <p:spPr>
          <a:xfrm>
            <a:off x="4718304" y="3895344"/>
            <a:ext cx="64008" cy="566928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4" name="S07_IndexFileTitle3"/>
          <p:cNvSpPr/>
          <p:nvPr/>
        </p:nvSpPr>
        <p:spPr>
          <a:xfrm>
            <a:off x="493776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coverage.md</a:t>
            </a:r>
            <a:endParaRPr lang="en-US" sz="1170" dirty="0"/>
          </a:p>
        </p:txBody>
      </p:sp>
      <p:sp>
        <p:nvSpPr>
          <p:cNvPr id="55" name="S07_IndexFileSubtitle3"/>
          <p:cNvSpPr/>
          <p:nvPr/>
        </p:nvSpPr>
        <p:spPr>
          <a:xfrm>
            <a:off x="4937760" y="421538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описано / где пробел</a:t>
            </a:r>
            <a:endParaRPr lang="en-US" sz="890" dirty="0"/>
          </a:p>
        </p:txBody>
      </p:sp>
      <p:sp>
        <p:nvSpPr>
          <p:cNvPr id="56" name="S07_IndexFileCard4"/>
          <p:cNvSpPr/>
          <p:nvPr/>
        </p:nvSpPr>
        <p:spPr>
          <a:xfrm>
            <a:off x="4718304" y="46542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7" name="S07_IndexFileAccent4"/>
          <p:cNvSpPr/>
          <p:nvPr/>
        </p:nvSpPr>
        <p:spPr>
          <a:xfrm>
            <a:off x="4718304" y="4654296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8" name="S07_IndexFileTitle4"/>
          <p:cNvSpPr/>
          <p:nvPr/>
        </p:nvSpPr>
        <p:spPr>
          <a:xfrm>
            <a:off x="4937760" y="4745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stale-files.md</a:t>
            </a:r>
            <a:endParaRPr lang="en-US" sz="1170" dirty="0"/>
          </a:p>
        </p:txBody>
      </p:sp>
      <p:sp>
        <p:nvSpPr>
          <p:cNvPr id="59" name="S07_IndexFileSubtitle4"/>
          <p:cNvSpPr/>
          <p:nvPr/>
        </p:nvSpPr>
        <p:spPr>
          <a:xfrm>
            <a:off x="4937760" y="4974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· modified · deleted</a:t>
            </a:r>
            <a:endParaRPr lang="en-US" sz="890" dirty="0"/>
          </a:p>
        </p:txBody>
      </p:sp>
      <p:sp>
        <p:nvSpPr>
          <p:cNvPr id="60" name="S07_IndexToContext"/>
          <p:cNvSpPr/>
          <p:nvPr/>
        </p:nvSpPr>
        <p:spPr>
          <a:xfrm>
            <a:off x="7534656" y="3675888"/>
            <a:ext cx="283464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61" name="S07_ContextMapCard"/>
          <p:cNvSpPr/>
          <p:nvPr/>
        </p:nvSpPr>
        <p:spPr>
          <a:xfrm>
            <a:off x="7882128" y="1444752"/>
            <a:ext cx="3621024" cy="450799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22304A">
                <a:alpha val="1.2e+49"/>
              </a:srgbClr>
            </a:outerShdw>
          </a:effectLst>
        </p:spPr>
      </p:sp>
      <p:sp>
        <p:nvSpPr>
          <p:cNvPr id="62" name="S07_ContextSelectorLabel_Bg"/>
          <p:cNvSpPr/>
          <p:nvPr/>
        </p:nvSpPr>
        <p:spPr>
          <a:xfrm>
            <a:off x="8174736" y="1700784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3" name="S07_ContextSelectorLabel_Text"/>
          <p:cNvSpPr/>
          <p:nvPr/>
        </p:nvSpPr>
        <p:spPr>
          <a:xfrm>
            <a:off x="8174736" y="1705356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 SELECTOR</a:t>
            </a:r>
            <a:endParaRPr lang="en-US" sz="1040" dirty="0"/>
          </a:p>
        </p:txBody>
      </p:sp>
      <p:sp>
        <p:nvSpPr>
          <p:cNvPr id="64" name="S07_SelectorEntity_Bg"/>
          <p:cNvSpPr/>
          <p:nvPr/>
        </p:nvSpPr>
        <p:spPr>
          <a:xfrm>
            <a:off x="8183880" y="23134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65" name="S07_SelectorEntity_Text"/>
          <p:cNvSpPr/>
          <p:nvPr/>
        </p:nvSpPr>
        <p:spPr>
          <a:xfrm>
            <a:off x="8183880" y="2318004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entity</a:t>
            </a:r>
            <a:endParaRPr lang="en-US" sz="920" dirty="0"/>
          </a:p>
        </p:txBody>
      </p:sp>
      <p:sp>
        <p:nvSpPr>
          <p:cNvPr id="66" name="S07_SelectorEndpoint_Bg"/>
          <p:cNvSpPr/>
          <p:nvPr/>
        </p:nvSpPr>
        <p:spPr>
          <a:xfrm>
            <a:off x="8924544" y="2313432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7" name="S07_SelectorEndpoint_Text"/>
          <p:cNvSpPr/>
          <p:nvPr/>
        </p:nvSpPr>
        <p:spPr>
          <a:xfrm>
            <a:off x="8924544" y="23180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endpoint</a:t>
            </a:r>
            <a:endParaRPr lang="en-US" sz="920" dirty="0"/>
          </a:p>
        </p:txBody>
      </p:sp>
      <p:sp>
        <p:nvSpPr>
          <p:cNvPr id="68" name="S07_SelectorEvent_Bg"/>
          <p:cNvSpPr/>
          <p:nvPr/>
        </p:nvSpPr>
        <p:spPr>
          <a:xfrm>
            <a:off x="9765792" y="2313432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69" name="S07_SelectorEvent_Text"/>
          <p:cNvSpPr/>
          <p:nvPr/>
        </p:nvSpPr>
        <p:spPr>
          <a:xfrm>
            <a:off x="9765792" y="231800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</a:t>
            </a:r>
            <a:endParaRPr lang="en-US" sz="920" dirty="0"/>
          </a:p>
        </p:txBody>
      </p:sp>
      <p:sp>
        <p:nvSpPr>
          <p:cNvPr id="70" name="S07_SelectorRelation_Bg"/>
          <p:cNvSpPr/>
          <p:nvPr/>
        </p:nvSpPr>
        <p:spPr>
          <a:xfrm>
            <a:off x="10497312" y="2313432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71" name="S07_SelectorRelation_Text"/>
          <p:cNvSpPr/>
          <p:nvPr/>
        </p:nvSpPr>
        <p:spPr>
          <a:xfrm>
            <a:off x="10497312" y="231800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</a:t>
            </a:r>
            <a:endParaRPr lang="en-US" sz="920" dirty="0"/>
          </a:p>
        </p:txBody>
      </p:sp>
      <p:sp>
        <p:nvSpPr>
          <p:cNvPr id="72" name="S07_ContextChangeCard"/>
          <p:cNvSpPr/>
          <p:nvPr/>
        </p:nvSpPr>
        <p:spPr>
          <a:xfrm>
            <a:off x="9189720" y="3236976"/>
            <a:ext cx="107899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3" name="S07_ContextChangeText"/>
          <p:cNvSpPr/>
          <p:nvPr/>
        </p:nvSpPr>
        <p:spPr>
          <a:xfrm>
            <a:off x="9290304" y="34564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240" dirty="0"/>
          </a:p>
        </p:txBody>
      </p:sp>
      <p:sp>
        <p:nvSpPr>
          <p:cNvPr id="74" name="S07_ContextLink1"/>
          <p:cNvSpPr/>
          <p:nvPr/>
        </p:nvSpPr>
        <p:spPr>
          <a:xfrm flipH="1" flipV="1">
            <a:off x="8567928" y="3218688"/>
            <a:ext cx="1161288" cy="38404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75" name="S07_ContextDoc1"/>
          <p:cNvSpPr/>
          <p:nvPr/>
        </p:nvSpPr>
        <p:spPr>
          <a:xfrm>
            <a:off x="8174736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6" name="S07_ContextDocText1"/>
          <p:cNvSpPr/>
          <p:nvPr/>
        </p:nvSpPr>
        <p:spPr>
          <a:xfrm>
            <a:off x="8247888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50" dirty="0"/>
          </a:p>
        </p:txBody>
      </p:sp>
      <p:sp>
        <p:nvSpPr>
          <p:cNvPr id="77" name="S07_ContextLink2"/>
          <p:cNvSpPr/>
          <p:nvPr/>
        </p:nvSpPr>
        <p:spPr>
          <a:xfrm flipV="1">
            <a:off x="9729216" y="3218688"/>
            <a:ext cx="1289304" cy="384048"/>
          </a:xfrm>
          <a:prstGeom prst="line">
            <a:avLst/>
          </a:prstGeom>
          <a:noFill/>
          <a:ln w="1524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78" name="S07_ContextDoc2"/>
          <p:cNvSpPr/>
          <p:nvPr/>
        </p:nvSpPr>
        <p:spPr>
          <a:xfrm>
            <a:off x="10625328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9" name="S07_ContextDocText2"/>
          <p:cNvSpPr/>
          <p:nvPr/>
        </p:nvSpPr>
        <p:spPr>
          <a:xfrm>
            <a:off x="10698480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50" dirty="0"/>
          </a:p>
        </p:txBody>
      </p:sp>
      <p:sp>
        <p:nvSpPr>
          <p:cNvPr id="80" name="S07_ContextLink3"/>
          <p:cNvSpPr/>
          <p:nvPr/>
        </p:nvSpPr>
        <p:spPr>
          <a:xfrm flipH="1">
            <a:off x="8567928" y="3602736"/>
            <a:ext cx="1161288" cy="9601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1" name="S07_ContextDoc3"/>
          <p:cNvSpPr/>
          <p:nvPr/>
        </p:nvSpPr>
        <p:spPr>
          <a:xfrm>
            <a:off x="8174736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S07_ContextDocText3"/>
          <p:cNvSpPr/>
          <p:nvPr/>
        </p:nvSpPr>
        <p:spPr>
          <a:xfrm>
            <a:off x="8247888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050" dirty="0"/>
          </a:p>
        </p:txBody>
      </p:sp>
      <p:sp>
        <p:nvSpPr>
          <p:cNvPr id="83" name="S07_ContextLink4"/>
          <p:cNvSpPr/>
          <p:nvPr/>
        </p:nvSpPr>
        <p:spPr>
          <a:xfrm>
            <a:off x="9729216" y="3602736"/>
            <a:ext cx="1289304" cy="960120"/>
          </a:xfrm>
          <a:prstGeom prst="line">
            <a:avLst/>
          </a:prstGeom>
          <a:noFill/>
          <a:ln w="1524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84" name="S07_ContextDoc4"/>
          <p:cNvSpPr/>
          <p:nvPr/>
        </p:nvSpPr>
        <p:spPr>
          <a:xfrm>
            <a:off x="10625328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5" name="S07_ContextDocText4"/>
          <p:cNvSpPr/>
          <p:nvPr/>
        </p:nvSpPr>
        <p:spPr>
          <a:xfrm>
            <a:off x="10698480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</a:t>
            </a:r>
            <a:endParaRPr lang="en-US" sz="1050" dirty="0"/>
          </a:p>
        </p:txBody>
      </p:sp>
      <p:sp>
        <p:nvSpPr>
          <p:cNvPr id="86" name="S07_ContextMapResult"/>
          <p:cNvSpPr/>
          <p:nvPr/>
        </p:nvSpPr>
        <p:spPr>
          <a:xfrm>
            <a:off x="8531352" y="5175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явный список источников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причина выбора</a:t>
            </a:r>
            <a:endParaRPr lang="en-US" sz="1140" dirty="0"/>
          </a:p>
        </p:txBody>
      </p:sp>
      <p:sp>
        <p:nvSpPr>
          <p:cNvPr id="87" name="S07_IndexThesis"/>
          <p:cNvSpPr/>
          <p:nvPr/>
        </p:nvSpPr>
        <p:spPr>
          <a:xfrm>
            <a:off x="1856232" y="61081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не переписывает документы — делает их найденными, связанными и проверяемыми.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8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850" dirty="0"/>
          </a:p>
        </p:txBody>
      </p:sp>
      <p:sp>
        <p:nvSpPr>
          <p:cNvPr id="4" name="S08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входа — один знакомый lifecycle</a:t>
            </a:r>
            <a:endParaRPr lang="en-US" sz="2850" dirty="0"/>
          </a:p>
        </p:txBody>
      </p:sp>
      <p:sp>
        <p:nvSpPr>
          <p:cNvPr id="5" name="S08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входа зависит от того, где уже находится аналитическая дельта.</a:t>
            </a:r>
            <a:endParaRPr lang="en-US" sz="1320" dirty="0"/>
          </a:p>
        </p:txBody>
      </p:sp>
      <p:sp>
        <p:nvSpPr>
          <p:cNvPr id="6" name="S08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8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30" dirty="0"/>
          </a:p>
        </p:txBody>
      </p:sp>
      <p:sp>
        <p:nvSpPr>
          <p:cNvPr id="8" name="S08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8_WorkflowLane1"/>
          <p:cNvSpPr/>
          <p:nvPr/>
        </p:nvSpPr>
        <p:spPr>
          <a:xfrm>
            <a:off x="658368" y="1444752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8_WorkflowLaneAccent1"/>
          <p:cNvSpPr/>
          <p:nvPr/>
        </p:nvSpPr>
        <p:spPr>
          <a:xfrm>
            <a:off x="658368" y="1444752"/>
            <a:ext cx="82296" cy="8138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8_WorkflowLaneLabel1"/>
          <p:cNvSpPr/>
          <p:nvPr/>
        </p:nvSpPr>
        <p:spPr>
          <a:xfrm>
            <a:off x="932688" y="15453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 СЕРВИСА</a:t>
            </a:r>
            <a:endParaRPr lang="en-US" sz="820" dirty="0"/>
          </a:p>
        </p:txBody>
      </p:sp>
      <p:sp>
        <p:nvSpPr>
          <p:cNvPr id="13" name="S08_WorkflowLane1Step1_Bg"/>
          <p:cNvSpPr/>
          <p:nvPr/>
        </p:nvSpPr>
        <p:spPr>
          <a:xfrm>
            <a:off x="2423160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08_WorkflowLane1Step1_Text"/>
          <p:cNvSpPr/>
          <p:nvPr/>
        </p:nvSpPr>
        <p:spPr>
          <a:xfrm>
            <a:off x="2423160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Документы в Git</a:t>
            </a:r>
            <a:endParaRPr lang="en-US" sz="940" dirty="0"/>
          </a:p>
        </p:txBody>
      </p:sp>
      <p:sp>
        <p:nvSpPr>
          <p:cNvPr id="15" name="S08_WorkflowLane1Arrow1"/>
          <p:cNvSpPr/>
          <p:nvPr/>
        </p:nvSpPr>
        <p:spPr>
          <a:xfrm>
            <a:off x="3685032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08_WorkflowLane1Step2_Bg"/>
          <p:cNvSpPr/>
          <p:nvPr/>
        </p:nvSpPr>
        <p:spPr>
          <a:xfrm>
            <a:off x="3950208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08_WorkflowLane1Step2_Text"/>
          <p:cNvSpPr/>
          <p:nvPr/>
        </p:nvSpPr>
        <p:spPr>
          <a:xfrm>
            <a:off x="3950208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940" dirty="0"/>
          </a:p>
        </p:txBody>
      </p:sp>
      <p:sp>
        <p:nvSpPr>
          <p:cNvPr id="18" name="S08_WorkflowLane1Arrow2"/>
          <p:cNvSpPr/>
          <p:nvPr/>
        </p:nvSpPr>
        <p:spPr>
          <a:xfrm>
            <a:off x="5212080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08_WorkflowLane1Step3_Bg"/>
          <p:cNvSpPr/>
          <p:nvPr/>
        </p:nvSpPr>
        <p:spPr>
          <a:xfrm>
            <a:off x="5477256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08_WorkflowLane1Step3_Text"/>
          <p:cNvSpPr/>
          <p:nvPr/>
        </p:nvSpPr>
        <p:spPr>
          <a:xfrm>
            <a:off x="5477256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index</a:t>
            </a:r>
            <a:endParaRPr lang="en-US" sz="940" dirty="0"/>
          </a:p>
        </p:txBody>
      </p:sp>
      <p:sp>
        <p:nvSpPr>
          <p:cNvPr id="21" name="S08_WorkflowLane1Arrow3"/>
          <p:cNvSpPr/>
          <p:nvPr/>
        </p:nvSpPr>
        <p:spPr>
          <a:xfrm>
            <a:off x="6739128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2" name="S08_WorkflowLane1Step4_Bg"/>
          <p:cNvSpPr/>
          <p:nvPr/>
        </p:nvSpPr>
        <p:spPr>
          <a:xfrm>
            <a:off x="7004304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S08_WorkflowLane1Step4_Text"/>
          <p:cNvSpPr/>
          <p:nvPr/>
        </p:nvSpPr>
        <p:spPr>
          <a:xfrm>
            <a:off x="7004304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24" name="S08_WorkflowConverge1"/>
          <p:cNvSpPr/>
          <p:nvPr/>
        </p:nvSpPr>
        <p:spPr>
          <a:xfrm>
            <a:off x="8476488" y="1856232"/>
            <a:ext cx="429768" cy="950976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08_WorkflowLane2"/>
          <p:cNvSpPr/>
          <p:nvPr/>
        </p:nvSpPr>
        <p:spPr>
          <a:xfrm>
            <a:off x="658368" y="2468880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8_WorkflowLaneAccent2"/>
          <p:cNvSpPr/>
          <p:nvPr/>
        </p:nvSpPr>
        <p:spPr>
          <a:xfrm>
            <a:off x="658368" y="2468880"/>
            <a:ext cx="82296" cy="8138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8_WorkflowLaneLabel2"/>
          <p:cNvSpPr/>
          <p:nvPr/>
        </p:nvSpPr>
        <p:spPr>
          <a:xfrm>
            <a:off x="932688" y="2569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ОБЫЧНЫЙ CHANGE</a:t>
            </a:r>
            <a:endParaRPr lang="en-US" sz="820" dirty="0"/>
          </a:p>
        </p:txBody>
      </p:sp>
      <p:sp>
        <p:nvSpPr>
          <p:cNvPr id="28" name="S08_WorkflowLane2Step1_Bg"/>
          <p:cNvSpPr/>
          <p:nvPr/>
        </p:nvSpPr>
        <p:spPr>
          <a:xfrm>
            <a:off x="2423160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9" name="S08_WorkflowLane2Step1_Text"/>
          <p:cNvSpPr/>
          <p:nvPr/>
        </p:nvSpPr>
        <p:spPr>
          <a:xfrm>
            <a:off x="2423160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Новое требование</a:t>
            </a:r>
            <a:endParaRPr lang="en-US" sz="940" dirty="0"/>
          </a:p>
        </p:txBody>
      </p:sp>
      <p:sp>
        <p:nvSpPr>
          <p:cNvPr id="30" name="S08_WorkflowLane2Arrow1"/>
          <p:cNvSpPr/>
          <p:nvPr/>
        </p:nvSpPr>
        <p:spPr>
          <a:xfrm>
            <a:off x="4050792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1" name="S08_WorkflowLane2Step2_Bg"/>
          <p:cNvSpPr/>
          <p:nvPr/>
        </p:nvSpPr>
        <p:spPr>
          <a:xfrm>
            <a:off x="4489704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2" name="S08_WorkflowLane2Step2_Text"/>
          <p:cNvSpPr/>
          <p:nvPr/>
        </p:nvSpPr>
        <p:spPr>
          <a:xfrm>
            <a:off x="4489704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33" name="S08_WorkflowLane2Arrow2"/>
          <p:cNvSpPr/>
          <p:nvPr/>
        </p:nvSpPr>
        <p:spPr>
          <a:xfrm>
            <a:off x="6117336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4" name="S08_WorkflowLane2Step3_Bg"/>
          <p:cNvSpPr/>
          <p:nvPr/>
        </p:nvSpPr>
        <p:spPr>
          <a:xfrm>
            <a:off x="6556248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5" name="S08_WorkflowLane2Step3_Text"/>
          <p:cNvSpPr/>
          <p:nvPr/>
        </p:nvSpPr>
        <p:spPr>
          <a:xfrm>
            <a:off x="6556248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940" dirty="0"/>
          </a:p>
        </p:txBody>
      </p:sp>
      <p:sp>
        <p:nvSpPr>
          <p:cNvPr id="36" name="S08_WorkflowConverge2"/>
          <p:cNvSpPr/>
          <p:nvPr/>
        </p:nvSpPr>
        <p:spPr>
          <a:xfrm flipV="1">
            <a:off x="8476488" y="2807208"/>
            <a:ext cx="429768" cy="73152"/>
          </a:xfrm>
          <a:prstGeom prst="line">
            <a:avLst/>
          </a:prstGeom>
          <a:noFill/>
          <a:ln w="1587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7" name="S08_WorkflowLane3"/>
          <p:cNvSpPr/>
          <p:nvPr/>
        </p:nvSpPr>
        <p:spPr>
          <a:xfrm>
            <a:off x="658368" y="3493008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8" name="S08_WorkflowLaneAccent3"/>
          <p:cNvSpPr/>
          <p:nvPr/>
        </p:nvSpPr>
        <p:spPr>
          <a:xfrm>
            <a:off x="658368" y="3493008"/>
            <a:ext cx="82296" cy="8138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9" name="S08_WorkflowLaneLabel3"/>
          <p:cNvSpPr/>
          <p:nvPr/>
        </p:nvSpPr>
        <p:spPr>
          <a:xfrm>
            <a:off x="932688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820" dirty="0"/>
          </a:p>
        </p:txBody>
      </p:sp>
      <p:sp>
        <p:nvSpPr>
          <p:cNvPr id="40" name="S08_WorkflowLane3Step1_Bg"/>
          <p:cNvSpPr/>
          <p:nvPr/>
        </p:nvSpPr>
        <p:spPr>
          <a:xfrm>
            <a:off x="2423160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1" name="S08_WorkflowLane3Step1_Text"/>
          <p:cNvSpPr/>
          <p:nvPr/>
        </p:nvSpPr>
        <p:spPr>
          <a:xfrm>
            <a:off x="2423160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Изменённые docs</a:t>
            </a:r>
            <a:endParaRPr lang="en-US" sz="940" dirty="0"/>
          </a:p>
        </p:txBody>
      </p:sp>
      <p:sp>
        <p:nvSpPr>
          <p:cNvPr id="42" name="S08_WorkflowLane3Arrow1"/>
          <p:cNvSpPr/>
          <p:nvPr/>
        </p:nvSpPr>
        <p:spPr>
          <a:xfrm>
            <a:off x="4050792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3" name="S08_WorkflowLane3Step2_Bg"/>
          <p:cNvSpPr/>
          <p:nvPr/>
        </p:nvSpPr>
        <p:spPr>
          <a:xfrm>
            <a:off x="4489704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4" name="S08_WorkflowLane3Step2_Text"/>
          <p:cNvSpPr/>
          <p:nvPr/>
        </p:nvSpPr>
        <p:spPr>
          <a:xfrm>
            <a:off x="4489704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940" dirty="0"/>
          </a:p>
        </p:txBody>
      </p:sp>
      <p:sp>
        <p:nvSpPr>
          <p:cNvPr id="45" name="S08_WorkflowLane3Arrow2"/>
          <p:cNvSpPr/>
          <p:nvPr/>
        </p:nvSpPr>
        <p:spPr>
          <a:xfrm>
            <a:off x="6117336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6" name="S08_WorkflowLane3Step3_Bg"/>
          <p:cNvSpPr/>
          <p:nvPr/>
        </p:nvSpPr>
        <p:spPr>
          <a:xfrm>
            <a:off x="6556248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7" name="S08_WorkflowLane3Step3_Text"/>
          <p:cNvSpPr/>
          <p:nvPr/>
        </p:nvSpPr>
        <p:spPr>
          <a:xfrm>
            <a:off x="6556248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evidence</a:t>
            </a:r>
            <a:endParaRPr lang="en-US" sz="940" dirty="0"/>
          </a:p>
        </p:txBody>
      </p:sp>
      <p:sp>
        <p:nvSpPr>
          <p:cNvPr id="48" name="S08_WorkflowConverge3"/>
          <p:cNvSpPr/>
          <p:nvPr/>
        </p:nvSpPr>
        <p:spPr>
          <a:xfrm flipV="1">
            <a:off x="8476488" y="2807208"/>
            <a:ext cx="429768" cy="109728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9" name="S08_UnifiedChangeCard"/>
          <p:cNvSpPr/>
          <p:nvPr/>
        </p:nvSpPr>
        <p:spPr>
          <a:xfrm>
            <a:off x="8979408" y="1993392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22304A">
                <a:alpha val="1.2e+54"/>
              </a:srgbClr>
            </a:outerShdw>
          </a:effectLst>
        </p:spPr>
      </p:sp>
      <p:sp>
        <p:nvSpPr>
          <p:cNvPr id="50" name="S08_UnifiedChangeLabel_Bg"/>
          <p:cNvSpPr/>
          <p:nvPr/>
        </p:nvSpPr>
        <p:spPr>
          <a:xfrm>
            <a:off x="9491472" y="22677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1" name="S08_UnifiedChangeLabel_Text"/>
          <p:cNvSpPr/>
          <p:nvPr/>
        </p:nvSpPr>
        <p:spPr>
          <a:xfrm>
            <a:off x="9491472" y="2272284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ДЕЛЬТА</a:t>
            </a:r>
            <a:endParaRPr lang="en-US" sz="1020" dirty="0"/>
          </a:p>
        </p:txBody>
      </p:sp>
      <p:sp>
        <p:nvSpPr>
          <p:cNvPr id="52" name="S08_UnifiedChangeTitle"/>
          <p:cNvSpPr/>
          <p:nvPr/>
        </p:nvSpPr>
        <p:spPr>
          <a:xfrm>
            <a:off x="940003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900" dirty="0"/>
          </a:p>
        </p:txBody>
      </p:sp>
      <p:sp>
        <p:nvSpPr>
          <p:cNvPr id="53" name="S08_UnifiedChangeSubtitle"/>
          <p:cNvSpPr/>
          <p:nvPr/>
        </p:nvSpPr>
        <p:spPr>
          <a:xfrm>
            <a:off x="9290304" y="31821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· mode · evidence</a:t>
            </a:r>
            <a:endParaRPr lang="en-US" sz="950" dirty="0"/>
          </a:p>
        </p:txBody>
      </p:sp>
      <p:sp>
        <p:nvSpPr>
          <p:cNvPr id="54" name="S08_SharedLifecycleLabel"/>
          <p:cNvSpPr/>
          <p:nvPr/>
        </p:nvSpPr>
        <p:spPr>
          <a:xfrm>
            <a:off x="658368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ОБЩИЙ LIFECYCLE</a:t>
            </a:r>
            <a:endParaRPr lang="en-US" sz="850" dirty="0"/>
          </a:p>
        </p:txBody>
      </p:sp>
      <p:sp>
        <p:nvSpPr>
          <p:cNvPr id="55" name="S08_CommonLifecycleCard1"/>
          <p:cNvSpPr/>
          <p:nvPr/>
        </p:nvSpPr>
        <p:spPr>
          <a:xfrm>
            <a:off x="1298448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6" name="S08_CommonLifecycleText1"/>
          <p:cNvSpPr/>
          <p:nvPr/>
        </p:nvSpPr>
        <p:spPr>
          <a:xfrm>
            <a:off x="1371600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/ approve</a:t>
            </a:r>
            <a:endParaRPr lang="en-US" sz="1180" dirty="0"/>
          </a:p>
        </p:txBody>
      </p:sp>
      <p:sp>
        <p:nvSpPr>
          <p:cNvPr id="57" name="S08_CommonLifecycleArrow1"/>
          <p:cNvSpPr/>
          <p:nvPr/>
        </p:nvSpPr>
        <p:spPr>
          <a:xfrm>
            <a:off x="2926080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8" name="S08_CommonLifecycleCard2"/>
          <p:cNvSpPr/>
          <p:nvPr/>
        </p:nvSpPr>
        <p:spPr>
          <a:xfrm>
            <a:off x="3374136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9" name="S08_CommonLifecycleText2"/>
          <p:cNvSpPr/>
          <p:nvPr/>
        </p:nvSpPr>
        <p:spPr>
          <a:xfrm>
            <a:off x="3447288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design?</a:t>
            </a:r>
            <a:endParaRPr lang="en-US" sz="1180" dirty="0"/>
          </a:p>
        </p:txBody>
      </p:sp>
      <p:sp>
        <p:nvSpPr>
          <p:cNvPr id="60" name="S08_CommonLifecycleArrow2"/>
          <p:cNvSpPr/>
          <p:nvPr/>
        </p:nvSpPr>
        <p:spPr>
          <a:xfrm>
            <a:off x="5001768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1" name="S08_CommonLifecycleCard3"/>
          <p:cNvSpPr/>
          <p:nvPr/>
        </p:nvSpPr>
        <p:spPr>
          <a:xfrm>
            <a:off x="5449824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2" name="S08_CommonLifecycleText3"/>
          <p:cNvSpPr/>
          <p:nvPr/>
        </p:nvSpPr>
        <p:spPr>
          <a:xfrm>
            <a:off x="5522976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180" dirty="0"/>
          </a:p>
        </p:txBody>
      </p:sp>
      <p:sp>
        <p:nvSpPr>
          <p:cNvPr id="63" name="S08_CommonLifecycleArrow3"/>
          <p:cNvSpPr/>
          <p:nvPr/>
        </p:nvSpPr>
        <p:spPr>
          <a:xfrm>
            <a:off x="7077456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4" name="S08_CommonLifecycleCard4"/>
          <p:cNvSpPr/>
          <p:nvPr/>
        </p:nvSpPr>
        <p:spPr>
          <a:xfrm>
            <a:off x="7525512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5" name="S08_CommonLifecycleText4"/>
          <p:cNvSpPr/>
          <p:nvPr/>
        </p:nvSpPr>
        <p:spPr>
          <a:xfrm>
            <a:off x="7598664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/ verify</a:t>
            </a:r>
            <a:endParaRPr lang="en-US" sz="1180" dirty="0"/>
          </a:p>
        </p:txBody>
      </p:sp>
      <p:sp>
        <p:nvSpPr>
          <p:cNvPr id="66" name="S08_CommonLifecycleArrow4"/>
          <p:cNvSpPr/>
          <p:nvPr/>
        </p:nvSpPr>
        <p:spPr>
          <a:xfrm>
            <a:off x="9153144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7" name="S08_CommonLifecycleCard5"/>
          <p:cNvSpPr/>
          <p:nvPr/>
        </p:nvSpPr>
        <p:spPr>
          <a:xfrm>
            <a:off x="9601200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8" name="S08_CommonLifecycleText5"/>
          <p:cNvSpPr/>
          <p:nvPr/>
        </p:nvSpPr>
        <p:spPr>
          <a:xfrm>
            <a:off x="9674352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180" dirty="0"/>
          </a:p>
        </p:txBody>
      </p:sp>
      <p:sp>
        <p:nvSpPr>
          <p:cNvPr id="69" name="S08_ModeHint_Bg"/>
          <p:cNvSpPr/>
          <p:nvPr/>
        </p:nvSpPr>
        <p:spPr>
          <a:xfrm>
            <a:off x="3447288" y="5907024"/>
            <a:ext cx="5285232" cy="347472"/>
          </a:xfrm>
          <a:prstGeom prst="roundRect">
            <a:avLst>
              <a:gd name="adj" fmla="val 2105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70" name="S08_ModeHint_Text"/>
          <p:cNvSpPr/>
          <p:nvPr/>
        </p:nvSpPr>
        <p:spPr>
          <a:xfrm>
            <a:off x="3447288" y="5911596"/>
            <a:ext cx="5285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branch-diff → verify · manual-change → explicit apply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9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И ЗРЕЛОСТЬ</a:t>
            </a:r>
            <a:endParaRPr lang="en-US" sz="850" dirty="0"/>
          </a:p>
        </p:txBody>
      </p:sp>
      <p:sp>
        <p:nvSpPr>
          <p:cNvPr id="4" name="S09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даёт folder-based spec — и что развиваем дальше</a:t>
            </a:r>
            <a:endParaRPr lang="en-US" sz="2850" dirty="0"/>
          </a:p>
        </p:txBody>
      </p:sp>
      <p:sp>
        <p:nvSpPr>
          <p:cNvPr id="5" name="S09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Реализованные свойства и открытый roadmap зрелости.</a:t>
            </a:r>
            <a:endParaRPr lang="en-US" sz="1320" dirty="0"/>
          </a:p>
        </p:txBody>
      </p:sp>
      <p:sp>
        <p:nvSpPr>
          <p:cNvPr id="6" name="S09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9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30" dirty="0"/>
          </a:p>
        </p:txBody>
      </p:sp>
      <p:sp>
        <p:nvSpPr>
          <p:cNvPr id="8" name="S09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9_BenefitCard1"/>
          <p:cNvSpPr/>
          <p:nvPr/>
        </p:nvSpPr>
        <p:spPr>
          <a:xfrm>
            <a:off x="658368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9_BenefitIcon1_Bg"/>
          <p:cNvSpPr/>
          <p:nvPr/>
        </p:nvSpPr>
        <p:spPr>
          <a:xfrm>
            <a:off x="877824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9_BenefitIcon1_Text"/>
          <p:cNvSpPr/>
          <p:nvPr/>
        </p:nvSpPr>
        <p:spPr>
          <a:xfrm>
            <a:off x="877824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↳</a:t>
            </a:r>
            <a:endParaRPr lang="en-US" sz="1320" dirty="0"/>
          </a:p>
        </p:txBody>
      </p:sp>
      <p:sp>
        <p:nvSpPr>
          <p:cNvPr id="13" name="S09_BenefitTitle1"/>
          <p:cNvSpPr/>
          <p:nvPr/>
        </p:nvSpPr>
        <p:spPr>
          <a:xfrm>
            <a:off x="1600200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Структура docs-hub</a:t>
            </a:r>
            <a:endParaRPr lang="en-US" sz="1450" dirty="0"/>
          </a:p>
        </p:txBody>
      </p:sp>
      <p:sp>
        <p:nvSpPr>
          <p:cNvPr id="14" name="S09_BenefitText1"/>
          <p:cNvSpPr/>
          <p:nvPr/>
        </p:nvSpPr>
        <p:spPr>
          <a:xfrm>
            <a:off x="877824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существующие документы остаются source of truth</a:t>
            </a:r>
            <a:endParaRPr lang="en-US" sz="1120" dirty="0"/>
          </a:p>
        </p:txBody>
      </p:sp>
      <p:sp>
        <p:nvSpPr>
          <p:cNvPr id="15" name="S09_BenefitCard2"/>
          <p:cNvSpPr/>
          <p:nvPr/>
        </p:nvSpPr>
        <p:spPr>
          <a:xfrm>
            <a:off x="4005072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09_BenefitIcon2_Bg"/>
          <p:cNvSpPr/>
          <p:nvPr/>
        </p:nvSpPr>
        <p:spPr>
          <a:xfrm>
            <a:off x="4224528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9_BenefitIcon2_Text"/>
          <p:cNvSpPr/>
          <p:nvPr/>
        </p:nvSpPr>
        <p:spPr>
          <a:xfrm>
            <a:off x="4224528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{}</a:t>
            </a:r>
            <a:endParaRPr lang="en-US" sz="1320" dirty="0"/>
          </a:p>
        </p:txBody>
      </p:sp>
      <p:sp>
        <p:nvSpPr>
          <p:cNvPr id="18" name="S09_BenefitTitle2"/>
          <p:cNvSpPr/>
          <p:nvPr/>
        </p:nvSpPr>
        <p:spPr>
          <a:xfrm>
            <a:off x="4946904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Multi-format контекст</a:t>
            </a:r>
            <a:endParaRPr lang="en-US" sz="1450" dirty="0"/>
          </a:p>
        </p:txBody>
      </p:sp>
      <p:sp>
        <p:nvSpPr>
          <p:cNvPr id="19" name="S09_BenefitText2"/>
          <p:cNvSpPr/>
          <p:nvPr/>
        </p:nvSpPr>
        <p:spPr>
          <a:xfrm>
            <a:off x="4224528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MD, OpenAPI, YAML, DBML и диаграммы индексируются вместе</a:t>
            </a:r>
            <a:endParaRPr lang="en-US" sz="1120" dirty="0"/>
          </a:p>
        </p:txBody>
      </p:sp>
      <p:sp>
        <p:nvSpPr>
          <p:cNvPr id="20" name="S09_BenefitCard3"/>
          <p:cNvSpPr/>
          <p:nvPr/>
        </p:nvSpPr>
        <p:spPr>
          <a:xfrm>
            <a:off x="658368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09_BenefitIcon3_Bg"/>
          <p:cNvSpPr/>
          <p:nvPr/>
        </p:nvSpPr>
        <p:spPr>
          <a:xfrm>
            <a:off x="877824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09_BenefitIcon3_Text"/>
          <p:cNvSpPr/>
          <p:nvPr/>
        </p:nvSpPr>
        <p:spPr>
          <a:xfrm>
            <a:off x="877824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</a:t>
            </a:r>
            <a:endParaRPr lang="en-US" sz="1320" dirty="0"/>
          </a:p>
        </p:txBody>
      </p:sp>
      <p:sp>
        <p:nvSpPr>
          <p:cNvPr id="23" name="S09_BenefitTitle3"/>
          <p:cNvSpPr/>
          <p:nvPr/>
        </p:nvSpPr>
        <p:spPr>
          <a:xfrm>
            <a:off x="1600200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4" name="S09_BenefitText3"/>
          <p:cNvSpPr/>
          <p:nvPr/>
        </p:nvSpPr>
        <p:spPr>
          <a:xfrm>
            <a:off x="877824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источники, refs, changed/context files и причины выбора</a:t>
            </a:r>
            <a:endParaRPr lang="en-US" sz="1120" dirty="0"/>
          </a:p>
        </p:txBody>
      </p:sp>
      <p:sp>
        <p:nvSpPr>
          <p:cNvPr id="25" name="S09_BenefitCard4"/>
          <p:cNvSpPr/>
          <p:nvPr/>
        </p:nvSpPr>
        <p:spPr>
          <a:xfrm>
            <a:off x="4005072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9_BenefitIcon4_Bg"/>
          <p:cNvSpPr/>
          <p:nvPr/>
        </p:nvSpPr>
        <p:spPr>
          <a:xfrm>
            <a:off x="4224528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7" name="S09_BenefitIcon4_Text"/>
          <p:cNvSpPr/>
          <p:nvPr/>
        </p:nvSpPr>
        <p:spPr>
          <a:xfrm>
            <a:off x="4224528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⇄</a:t>
            </a:r>
            <a:endParaRPr lang="en-US" sz="1320" dirty="0"/>
          </a:p>
        </p:txBody>
      </p:sp>
      <p:sp>
        <p:nvSpPr>
          <p:cNvPr id="28" name="S09_BenefitTitle4"/>
          <p:cNvSpPr/>
          <p:nvPr/>
        </p:nvSpPr>
        <p:spPr>
          <a:xfrm>
            <a:off x="4946904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Два пути change</a:t>
            </a:r>
            <a:endParaRPr lang="en-US" sz="1450" dirty="0"/>
          </a:p>
        </p:txBody>
      </p:sp>
      <p:sp>
        <p:nvSpPr>
          <p:cNvPr id="29" name="S09_BenefitText4"/>
          <p:cNvSpPr/>
          <p:nvPr/>
        </p:nvSpPr>
        <p:spPr>
          <a:xfrm>
            <a:off x="422452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обычный propose или diff уже изменённой ветки аналитика</a:t>
            </a:r>
            <a:endParaRPr lang="en-US" sz="1120" dirty="0"/>
          </a:p>
        </p:txBody>
      </p:sp>
      <p:sp>
        <p:nvSpPr>
          <p:cNvPr id="30" name="S09_TradeoffsCard"/>
          <p:cNvSpPr/>
          <p:nvPr/>
        </p:nvSpPr>
        <p:spPr>
          <a:xfrm>
            <a:off x="7333488" y="1472184"/>
            <a:ext cx="4169664" cy="3118104"/>
          </a:xfrm>
          <a:prstGeom prst="roundRect">
            <a:avLst>
              <a:gd name="adj" fmla="val 2346"/>
            </a:avLst>
          </a:prstGeom>
          <a:solidFill>
            <a:srgbClr val="FFF3D9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31" name="S09_TradeoffsLabel_Bg"/>
          <p:cNvSpPr/>
          <p:nvPr/>
        </p:nvSpPr>
        <p:spPr>
          <a:xfrm>
            <a:off x="7626096" y="173736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9_TradeoffsLabel_Text"/>
          <p:cNvSpPr/>
          <p:nvPr/>
        </p:nvSpPr>
        <p:spPr>
          <a:xfrm>
            <a:off x="7626096" y="174193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5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РАЗВИВАЕМ ДАЛЬШЕ</a:t>
            </a:r>
            <a:endParaRPr lang="en-US" sz="980" dirty="0"/>
          </a:p>
        </p:txBody>
      </p:sp>
      <p:sp>
        <p:nvSpPr>
          <p:cNvPr id="33" name="S09_Tradeoff1_Dot"/>
          <p:cNvSpPr/>
          <p:nvPr/>
        </p:nvSpPr>
        <p:spPr>
          <a:xfrm>
            <a:off x="7635240" y="24505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09_Tradeoff1_Text"/>
          <p:cNvSpPr/>
          <p:nvPr/>
        </p:nvSpPr>
        <p:spPr>
          <a:xfrm>
            <a:off x="7818120" y="23317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freshness и дисциплина refresh</a:t>
            </a:r>
            <a:endParaRPr lang="en-US" sz="1260" dirty="0"/>
          </a:p>
        </p:txBody>
      </p:sp>
      <p:sp>
        <p:nvSpPr>
          <p:cNvPr id="35" name="S09_Tradeoff2_Dot"/>
          <p:cNvSpPr/>
          <p:nvPr/>
        </p:nvSpPr>
        <p:spPr>
          <a:xfrm>
            <a:off x="7635240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S09_Tradeoff2_Text"/>
          <p:cNvSpPr/>
          <p:nvPr/>
        </p:nvSpPr>
        <p:spPr>
          <a:xfrm>
            <a:off x="7818120" y="2825496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schema, validators и CI gates</a:t>
            </a:r>
            <a:endParaRPr lang="en-US" sz="1260" dirty="0"/>
          </a:p>
        </p:txBody>
      </p:sp>
      <p:sp>
        <p:nvSpPr>
          <p:cNvPr id="37" name="S09_Tradeoff3_Dot"/>
          <p:cNvSpPr/>
          <p:nvPr/>
        </p:nvSpPr>
        <p:spPr>
          <a:xfrm>
            <a:off x="7635240" y="3438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9_Tradeoff3_Text"/>
          <p:cNvSpPr/>
          <p:nvPr/>
        </p:nvSpPr>
        <p:spPr>
          <a:xfrm>
            <a:off x="7818120" y="331927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формализация branch-diff verify</a:t>
            </a:r>
            <a:endParaRPr lang="en-US" sz="1260" dirty="0"/>
          </a:p>
        </p:txBody>
      </p:sp>
      <p:sp>
        <p:nvSpPr>
          <p:cNvPr id="39" name="S09_Tradeoff4_Dot"/>
          <p:cNvSpPr/>
          <p:nvPr/>
        </p:nvSpPr>
        <p:spPr>
          <a:xfrm>
            <a:off x="7635240" y="39319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9_Tradeoff4_Text"/>
          <p:cNvSpPr/>
          <p:nvPr/>
        </p:nvSpPr>
        <p:spPr>
          <a:xfrm>
            <a:off x="7818120" y="3813048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унификация шаблонов и state machine</a:t>
            </a:r>
            <a:endParaRPr lang="en-US" sz="1260" dirty="0"/>
          </a:p>
        </p:txBody>
      </p:sp>
      <p:sp>
        <p:nvSpPr>
          <p:cNvPr id="41" name="S09_RoadmapCard"/>
          <p:cNvSpPr/>
          <p:nvPr/>
        </p:nvSpPr>
        <p:spPr>
          <a:xfrm>
            <a:off x="658368" y="4928616"/>
            <a:ext cx="10844784" cy="1115568"/>
          </a:xfrm>
          <a:prstGeom prst="roundRect">
            <a:avLst>
              <a:gd name="adj" fmla="val 65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22304A">
                <a:alpha val="1.2e+59"/>
              </a:srgbClr>
            </a:outerShdw>
          </a:effectLst>
        </p:spPr>
      </p:sp>
      <p:sp>
        <p:nvSpPr>
          <p:cNvPr id="42" name="S09_RoadmapLabel"/>
          <p:cNvSpPr/>
          <p:nvPr/>
        </p:nvSpPr>
        <p:spPr>
          <a:xfrm>
            <a:off x="896112" y="5157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</a:t>
            </a:r>
            <a:endParaRPr lang="en-US" sz="840" dirty="0"/>
          </a:p>
        </p:txBody>
      </p:sp>
      <p:sp>
        <p:nvSpPr>
          <p:cNvPr id="43" name="S09_RoadmapNode1"/>
          <p:cNvSpPr/>
          <p:nvPr/>
        </p:nvSpPr>
        <p:spPr>
          <a:xfrm>
            <a:off x="1828800" y="5239512"/>
            <a:ext cx="246888" cy="2468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S09_RoadmapTitle1"/>
          <p:cNvSpPr/>
          <p:nvPr/>
        </p:nvSpPr>
        <p:spPr>
          <a:xfrm>
            <a:off x="218541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30" dirty="0"/>
          </a:p>
        </p:txBody>
      </p:sp>
      <p:sp>
        <p:nvSpPr>
          <p:cNvPr id="45" name="S09_RoadmapText1"/>
          <p:cNvSpPr/>
          <p:nvPr/>
        </p:nvSpPr>
        <p:spPr>
          <a:xfrm>
            <a:off x="2185416" y="53766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index + relations</a:t>
            </a:r>
            <a:endParaRPr lang="en-US" sz="1120" dirty="0"/>
          </a:p>
        </p:txBody>
      </p:sp>
      <p:sp>
        <p:nvSpPr>
          <p:cNvPr id="46" name="S09_RoadmapArrow1"/>
          <p:cNvSpPr/>
          <p:nvPr/>
        </p:nvSpPr>
        <p:spPr>
          <a:xfrm>
            <a:off x="4133088" y="5367528"/>
            <a:ext cx="384048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47" name="S09_RoadmapNode2"/>
          <p:cNvSpPr/>
          <p:nvPr/>
        </p:nvSpPr>
        <p:spPr>
          <a:xfrm>
            <a:off x="4663440" y="5239512"/>
            <a:ext cx="246888" cy="2468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9_RoadmapTitle2"/>
          <p:cNvSpPr/>
          <p:nvPr/>
        </p:nvSpPr>
        <p:spPr>
          <a:xfrm>
            <a:off x="502005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Следом</a:t>
            </a:r>
            <a:endParaRPr lang="en-US" sz="1030" dirty="0"/>
          </a:p>
        </p:txBody>
      </p:sp>
      <p:sp>
        <p:nvSpPr>
          <p:cNvPr id="49" name="S09_RoadmapText2"/>
          <p:cNvSpPr/>
          <p:nvPr/>
        </p:nvSpPr>
        <p:spPr>
          <a:xfrm>
            <a:off x="5020056" y="5376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schemas · validators · CI</a:t>
            </a:r>
            <a:endParaRPr lang="en-US" sz="1120" dirty="0"/>
          </a:p>
        </p:txBody>
      </p:sp>
      <p:sp>
        <p:nvSpPr>
          <p:cNvPr id="50" name="S09_RoadmapArrow2"/>
          <p:cNvSpPr/>
          <p:nvPr/>
        </p:nvSpPr>
        <p:spPr>
          <a:xfrm>
            <a:off x="7178040" y="5367528"/>
            <a:ext cx="374904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51" name="S09_RoadmapNode3"/>
          <p:cNvSpPr/>
          <p:nvPr/>
        </p:nvSpPr>
        <p:spPr>
          <a:xfrm>
            <a:off x="7699248" y="5239512"/>
            <a:ext cx="246888" cy="24688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2" name="S09_RoadmapTitle3"/>
          <p:cNvSpPr/>
          <p:nvPr/>
        </p:nvSpPr>
        <p:spPr>
          <a:xfrm>
            <a:off x="8055864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Потенциал</a:t>
            </a:r>
            <a:endParaRPr lang="en-US" sz="1030" dirty="0"/>
          </a:p>
        </p:txBody>
      </p:sp>
      <p:sp>
        <p:nvSpPr>
          <p:cNvPr id="53" name="S09_RoadmapText3"/>
          <p:cNvSpPr/>
          <p:nvPr/>
        </p:nvSpPr>
        <p:spPr>
          <a:xfrm>
            <a:off x="8055864" y="5376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графовая область знаний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0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S10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Внедряем постепенно и проверяем на своём контексте</a:t>
            </a:r>
            <a:endParaRPr lang="en-US" sz="2850" dirty="0"/>
          </a:p>
        </p:txBody>
      </p:sp>
      <p:sp>
        <p:nvSpPr>
          <p:cNvPr id="5" name="S10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OpenSpec остаётся OpenSpec; изменён контракт представления master specification.</a:t>
            </a:r>
            <a:endParaRPr lang="en-US" sz="1320" dirty="0"/>
          </a:p>
        </p:txBody>
      </p:sp>
      <p:sp>
        <p:nvSpPr>
          <p:cNvPr id="6" name="S10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0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30" dirty="0"/>
          </a:p>
        </p:txBody>
      </p:sp>
      <p:sp>
        <p:nvSpPr>
          <p:cNvPr id="8" name="S10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0_RolloutCard1"/>
          <p:cNvSpPr/>
          <p:nvPr/>
        </p:nvSpPr>
        <p:spPr>
          <a:xfrm>
            <a:off x="658368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0_RolloutLabel1_Bg"/>
          <p:cNvSpPr/>
          <p:nvPr/>
        </p:nvSpPr>
        <p:spPr>
          <a:xfrm>
            <a:off x="932688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10_RolloutLabel1_Text"/>
          <p:cNvSpPr/>
          <p:nvPr/>
        </p:nvSpPr>
        <p:spPr>
          <a:xfrm>
            <a:off x="932688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СДЕЛАНО</a:t>
            </a:r>
            <a:endParaRPr lang="en-US" sz="1050" dirty="0"/>
          </a:p>
        </p:txBody>
      </p:sp>
      <p:sp>
        <p:nvSpPr>
          <p:cNvPr id="13" name="S10_RolloutTitle1"/>
          <p:cNvSpPr/>
          <p:nvPr/>
        </p:nvSpPr>
        <p:spPr>
          <a:xfrm>
            <a:off x="932688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Создан docs-hub</a:t>
            </a:r>
            <a:endParaRPr lang="en-US" sz="1800" dirty="0"/>
          </a:p>
        </p:txBody>
      </p:sp>
      <p:sp>
        <p:nvSpPr>
          <p:cNvPr id="14" name="S10_RolloutBullet1A_Dot"/>
          <p:cNvSpPr/>
          <p:nvPr/>
        </p:nvSpPr>
        <p:spPr>
          <a:xfrm>
            <a:off x="94183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10_RolloutBullet1A_Text"/>
          <p:cNvSpPr/>
          <p:nvPr/>
        </p:nvSpPr>
        <p:spPr>
          <a:xfrm>
            <a:off x="1124712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переведён полностью</a:t>
            </a:r>
            <a:endParaRPr lang="en-US" sz="1230" dirty="0"/>
          </a:p>
        </p:txBody>
      </p:sp>
      <p:sp>
        <p:nvSpPr>
          <p:cNvPr id="16" name="S10_RolloutBullet1B_Dot"/>
          <p:cNvSpPr/>
          <p:nvPr/>
        </p:nvSpPr>
        <p:spPr>
          <a:xfrm>
            <a:off x="941832" y="36393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10_RolloutBullet1B_Text"/>
          <p:cNvSpPr/>
          <p:nvPr/>
        </p:nvSpPr>
        <p:spPr>
          <a:xfrm>
            <a:off x="1124712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справочники и общие библиотеки</a:t>
            </a:r>
            <a:endParaRPr lang="en-US" sz="1230" dirty="0"/>
          </a:p>
        </p:txBody>
      </p:sp>
      <p:sp>
        <p:nvSpPr>
          <p:cNvPr id="18" name="S10_RolloutCard2"/>
          <p:cNvSpPr/>
          <p:nvPr/>
        </p:nvSpPr>
        <p:spPr>
          <a:xfrm>
            <a:off x="4334256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S10_RolloutLabel2_Bg"/>
          <p:cNvSpPr/>
          <p:nvPr/>
        </p:nvSpPr>
        <p:spPr>
          <a:xfrm>
            <a:off x="4608576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S10_RolloutLabel2_Text"/>
          <p:cNvSpPr/>
          <p:nvPr/>
        </p:nvSpPr>
        <p:spPr>
          <a:xfrm>
            <a:off x="4608576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21" name="S10_RolloutTitle2"/>
          <p:cNvSpPr/>
          <p:nvPr/>
        </p:nvSpPr>
        <p:spPr>
          <a:xfrm>
            <a:off x="4608576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Постепенная миграция</a:t>
            </a:r>
            <a:endParaRPr lang="en-US" sz="1800" dirty="0"/>
          </a:p>
        </p:txBody>
      </p:sp>
      <p:sp>
        <p:nvSpPr>
          <p:cNvPr id="22" name="S10_RolloutBullet2A_Dot"/>
          <p:cNvSpPr/>
          <p:nvPr/>
        </p:nvSpPr>
        <p:spPr>
          <a:xfrm>
            <a:off x="4617720" y="309067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S10_RolloutBullet2A_Text"/>
          <p:cNvSpPr/>
          <p:nvPr/>
        </p:nvSpPr>
        <p:spPr>
          <a:xfrm>
            <a:off x="4800600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 остальных сервисов</a:t>
            </a:r>
            <a:endParaRPr lang="en-US" sz="1230" dirty="0"/>
          </a:p>
        </p:txBody>
      </p:sp>
      <p:sp>
        <p:nvSpPr>
          <p:cNvPr id="24" name="S10_RolloutBullet2B_Dot"/>
          <p:cNvSpPr/>
          <p:nvPr/>
        </p:nvSpPr>
        <p:spPr>
          <a:xfrm>
            <a:off x="4617720" y="363931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S10_RolloutBullet2B_Text"/>
          <p:cNvSpPr/>
          <p:nvPr/>
        </p:nvSpPr>
        <p:spPr>
          <a:xfrm>
            <a:off x="4800600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workflow на реальных задачах</a:t>
            </a:r>
            <a:endParaRPr lang="en-US" sz="1230" dirty="0"/>
          </a:p>
        </p:txBody>
      </p:sp>
      <p:sp>
        <p:nvSpPr>
          <p:cNvPr id="26" name="S10_RolloutCard3"/>
          <p:cNvSpPr/>
          <p:nvPr/>
        </p:nvSpPr>
        <p:spPr>
          <a:xfrm>
            <a:off x="8010144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27" name="S10_RolloutLabel3_Bg"/>
          <p:cNvSpPr/>
          <p:nvPr/>
        </p:nvSpPr>
        <p:spPr>
          <a:xfrm>
            <a:off x="8284464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8" name="S10_RolloutLabel3_Text"/>
          <p:cNvSpPr/>
          <p:nvPr/>
        </p:nvSpPr>
        <p:spPr>
          <a:xfrm>
            <a:off x="8284464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ДАЛЬШЕ</a:t>
            </a:r>
            <a:endParaRPr lang="en-US" sz="1050" dirty="0"/>
          </a:p>
        </p:txBody>
      </p:sp>
      <p:sp>
        <p:nvSpPr>
          <p:cNvPr id="29" name="S10_RolloutTitle3"/>
          <p:cNvSpPr/>
          <p:nvPr/>
        </p:nvSpPr>
        <p:spPr>
          <a:xfrm>
            <a:off x="8284464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Укрепление контура</a:t>
            </a:r>
            <a:endParaRPr lang="en-US" sz="1800" dirty="0"/>
          </a:p>
        </p:txBody>
      </p:sp>
      <p:sp>
        <p:nvSpPr>
          <p:cNvPr id="30" name="S10_RolloutBullet3A_Dot"/>
          <p:cNvSpPr/>
          <p:nvPr/>
        </p:nvSpPr>
        <p:spPr>
          <a:xfrm>
            <a:off x="8293608" y="309067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1" name="S10_RolloutBullet3A_Text"/>
          <p:cNvSpPr/>
          <p:nvPr/>
        </p:nvSpPr>
        <p:spPr>
          <a:xfrm>
            <a:off x="8476488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 и CI</a:t>
            </a:r>
            <a:endParaRPr lang="en-US" sz="1230" dirty="0"/>
          </a:p>
        </p:txBody>
      </p:sp>
      <p:sp>
        <p:nvSpPr>
          <p:cNvPr id="32" name="S10_RolloutBullet3B_Dot"/>
          <p:cNvSpPr/>
          <p:nvPr/>
        </p:nvSpPr>
        <p:spPr>
          <a:xfrm>
            <a:off x="8293608" y="363931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3" name="S10_RolloutBullet3B_Text"/>
          <p:cNvSpPr/>
          <p:nvPr/>
        </p:nvSpPr>
        <p:spPr>
          <a:xfrm>
            <a:off x="8476488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· freshness · связи</a:t>
            </a:r>
            <a:endParaRPr lang="en-US" sz="1230" dirty="0"/>
          </a:p>
        </p:txBody>
      </p:sp>
      <p:sp>
        <p:nvSpPr>
          <p:cNvPr id="34" name="S10_FinalPositionCard"/>
          <p:cNvSpPr/>
          <p:nvPr/>
        </p:nvSpPr>
        <p:spPr>
          <a:xfrm>
            <a:off x="658368" y="4681728"/>
            <a:ext cx="10844784" cy="1252728"/>
          </a:xfrm>
          <a:prstGeom prst="roundRect">
            <a:avLst>
              <a:gd name="adj" fmla="val 583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22304A">
                <a:alpha val="1.2000000000000001e+64"/>
              </a:srgbClr>
            </a:outerShdw>
          </a:effectLst>
        </p:spPr>
      </p:sp>
      <p:sp>
        <p:nvSpPr>
          <p:cNvPr id="35" name="S10_FinalPositionTitle"/>
          <p:cNvSpPr/>
          <p:nvPr/>
        </p:nvSpPr>
        <p:spPr>
          <a:xfrm>
            <a:off x="960120" y="4956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остаётся OpenSpec.</a:t>
            </a:r>
            <a:endParaRPr lang="en-US" sz="2000" dirty="0"/>
          </a:p>
        </p:txBody>
      </p:sp>
      <p:sp>
        <p:nvSpPr>
          <p:cNvPr id="36" name="S10_FinalPositionText"/>
          <p:cNvSpPr/>
          <p:nvPr/>
        </p:nvSpPr>
        <p:spPr>
          <a:xfrm>
            <a:off x="960120" y="539496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specification в нашей реализации — folder-based spec.</a:t>
            </a:r>
            <a:endParaRPr lang="en-US" sz="1250" dirty="0"/>
          </a:p>
        </p:txBody>
      </p:sp>
      <p:sp>
        <p:nvSpPr>
          <p:cNvPr id="37" name="S10_FinalPositionPill1_Bg"/>
          <p:cNvSpPr/>
          <p:nvPr/>
        </p:nvSpPr>
        <p:spPr>
          <a:xfrm>
            <a:off x="6510528" y="4965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S10_FinalPositionPill1_Text"/>
          <p:cNvSpPr/>
          <p:nvPr/>
        </p:nvSpPr>
        <p:spPr>
          <a:xfrm>
            <a:off x="6510528" y="496976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требуем перехода</a:t>
            </a:r>
            <a:endParaRPr lang="en-US" sz="980" dirty="0"/>
          </a:p>
        </p:txBody>
      </p:sp>
      <p:sp>
        <p:nvSpPr>
          <p:cNvPr id="39" name="S10_FinalPositionPill2_Bg"/>
          <p:cNvSpPr/>
          <p:nvPr/>
        </p:nvSpPr>
        <p:spPr>
          <a:xfrm>
            <a:off x="8101584" y="4965192"/>
            <a:ext cx="1755648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10_FinalPositionPill2_Text"/>
          <p:cNvSpPr/>
          <p:nvPr/>
        </p:nvSpPr>
        <p:spPr>
          <a:xfrm>
            <a:off x="8101584" y="4969764"/>
            <a:ext cx="1755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предлагаем единый шаблон</a:t>
            </a:r>
            <a:endParaRPr lang="en-US" sz="930" dirty="0"/>
          </a:p>
        </p:txBody>
      </p:sp>
      <p:sp>
        <p:nvSpPr>
          <p:cNvPr id="41" name="S10_FinalPositionPill3_Bg"/>
          <p:cNvSpPr/>
          <p:nvPr/>
        </p:nvSpPr>
        <p:spPr>
          <a:xfrm>
            <a:off x="9985248" y="4965192"/>
            <a:ext cx="1207008" cy="365760"/>
          </a:xfrm>
          <a:prstGeom prst="roundRect">
            <a:avLst>
              <a:gd name="adj" fmla="val 20000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2" name="S10_FinalPositionPill3_Text"/>
          <p:cNvSpPr/>
          <p:nvPr/>
        </p:nvSpPr>
        <p:spPr>
          <a:xfrm>
            <a:off x="9985248" y="49697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делимся опытом</a:t>
            </a:r>
            <a:endParaRPr lang="en-US" sz="980" dirty="0"/>
          </a:p>
        </p:txBody>
      </p:sp>
      <p:sp>
        <p:nvSpPr>
          <p:cNvPr id="43" name="S10_FinalPositionNext"/>
          <p:cNvSpPr/>
          <p:nvPr/>
        </p:nvSpPr>
        <p:spPr>
          <a:xfrm>
            <a:off x="6547104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Проверяем на реальных изменениях и расширяем docs-hub по мере задач.</a:t>
            </a:r>
            <a:endParaRPr lang="en-US" sz="1100" dirty="0"/>
          </a:p>
        </p:txBody>
      </p:sp>
      <p:sp>
        <p:nvSpPr>
          <p:cNvPr id="44" name="S10_FinalNoMandate"/>
          <p:cNvSpPr/>
          <p:nvPr/>
        </p:nvSpPr>
        <p:spPr>
          <a:xfrm>
            <a:off x="2093976" y="61447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Эволюция под наши исходные условия — без претензии на единственный вариант.</a:t>
            </a:r>
            <a:endParaRPr lang="en-US" sz="12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 на масштабе большого brownfield-сервиса</dc:title>
  <dc:subject>Эволюционное расширение OpenSpec для больших brownfield-сервисов</dc:subject>
  <dc:creator>Команда НСиР</dc:creator>
  <cp:lastModifiedBy>Команда НСиР</cp:lastModifiedBy>
  <cp:revision>1</cp:revision>
  <dcterms:created xsi:type="dcterms:W3CDTF">2026-07-09T22:42:15Z</dcterms:created>
  <dcterms:modified xsi:type="dcterms:W3CDTF">2026-07-09T22:42:15Z</dcterms:modified>
</cp:coreProperties>
</file>
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рамка доклада: мы не противопоставляем версии OpenSpec. Мы сохраняем общий SDD lifecycle и показываем дополнительный профиль для большого brownfield-сервиса, где source of truth уже является системой документов. Не обещать готовый knowledge graph: сегодня это файловый индекс связей, граф — направление развития.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это не попытка начать документировать систему с нуля. За 3+ года сформировался analyst-first процесс по 10 сервисам и библиотекам. Высокая актуальность документации к коду — исходное ограничение и одновременно актив команды.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масштаб без попытки доказать, что каждый сервис одинаков. Цифры из текущей master specification: 80+ процессов, 15+ интеграций, 50+ справочников, 30+ UI-форм, 80+ алгоритмов UI. Пилот invest-dkz — около 100 MD-документов и 18 workflow-документов.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Reverse engineering из кода оказался слишком привязан к реализации и хуже воспроизводил аналитические алгоритмы и структуры данных. Перевод Confluence в структурированный Markdown устроил аналитиков. Для пилота создан отдельный docs-hub и около 100 документов.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признать сильные стороны: change-first, review, design/tasks, implementation verification, archive. Подход другой команды с восстановлением baseline по ФО разумно снижает стартовую стоимость и размер контекста. Наш вопрос относится не к lifecycle, а к надежности изменений, которые пересекают области и документы.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Без конфронтации: исходный propose способен перечислить несколько компонентов и прочитать связанные спеки. Граница штатной автоматизации в предоставленных skills — одно поле «Целевая спецификация» и финальная запись apply в один файл. Multi-ФО корректность возможна через договоренности, общий change/PR, cross-review и ручное обновление всех документов. Мы автоматизируем именно этот слой надежности.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отличие не «файл против папки», а «папка как набор документов» против «папка как индексируемая область знаний». Manifest выбирает контекст по tags, entities, integrations, endpoints, events, related_files и depends_on. Coverage показывает пробелы, stale-files предупреждает об устаревании.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все схемы из reasons.md. Путь 1 подключает существующую документацию через init-master-spec. Путь 2 сохраняет обычный propose. Путь 3 соответствует текущей работе аналитика: документы меняются в ветке, change.md генерируется из diff. После этого общий review/design/implement/verify/archive.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скрывать ограничения: сложность выше, manifest может устареть, пока не хватает строгих схем/валидаторов/CI, branch-diff verify процедурный, greenfield-путь слабее. Это roadmap зрелости. Knowledge graph — потенциал, не текущая функция.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Финальная позиция: не предлагаем обязательный переход для других команд. Baseline по ФО оптимален для локальных изменений и простого контекста. Indexed profile полезен для большого brownfield-сервиса, разных форматов, работы аналитика через Git и регулярных cross-ФО changes. Предложение — сравнивать подходы на одном сценарии по проверяемым критериям.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" name="S01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4" name="S01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830" dirty="0"/>
          </a:p>
        </p:txBody>
      </p:sp>
      <p:sp>
        <p:nvSpPr>
          <p:cNvPr id="5" name="S01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7" name="S01_HeroCircle1"/>
          <p:cNvSpPr/>
          <p:nvPr/>
        </p:nvSpPr>
        <p:spPr>
          <a:xfrm>
            <a:off x="8366760" y="-411480"/>
            <a:ext cx="4297680" cy="4297680"/>
          </a:xfrm>
          <a:prstGeom prst="ellipse">
            <a:avLst/>
          </a:prstGeom>
          <a:solidFill>
            <a:srgbClr val="EAF0FF">
              <a:alpha val="90000"/>
            </a:srgbClr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8" name="S01_HeroCircle2"/>
          <p:cNvSpPr/>
          <p:nvPr/>
        </p:nvSpPr>
        <p:spPr>
          <a:xfrm>
            <a:off x="9281160" y="320040"/>
            <a:ext cx="3108960" cy="3108960"/>
          </a:xfrm>
          <a:prstGeom prst="ellipse">
            <a:avLst/>
          </a:prstGeom>
          <a:solidFill>
            <a:srgbClr val="E5F8F6">
              <a:alpha val="95000"/>
            </a:srgbClr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9" name="S01_HeroPill_Bg"/>
          <p:cNvSpPr/>
          <p:nvPr/>
        </p:nvSpPr>
        <p:spPr>
          <a:xfrm>
            <a:off x="658368" y="566928"/>
            <a:ext cx="2340864" cy="365760"/>
          </a:xfrm>
          <a:prstGeom prst="roundRect">
            <a:avLst>
              <a:gd name="adj" fmla="val 2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0" name="S01_HeroPill_Text"/>
          <p:cNvSpPr/>
          <p:nvPr/>
        </p:nvSpPr>
        <p:spPr>
          <a:xfrm>
            <a:off x="658368" y="571500"/>
            <a:ext cx="23408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SDD · OPENSPEC · BROWNFIELD</a:t>
            </a:r>
            <a:endParaRPr lang="en-US" sz="1020" dirty="0"/>
          </a:p>
        </p:txBody>
      </p:sp>
      <p:sp>
        <p:nvSpPr>
          <p:cNvPr id="11" name="S01_HeroTitle"/>
          <p:cNvSpPr/>
          <p:nvPr/>
        </p:nvSpPr>
        <p:spPr>
          <a:xfrm>
            <a:off x="658368" y="1170432"/>
            <a:ext cx="7086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 на масштабе</a:t>
            </a:r>
            <a:endParaRPr lang="en-US" sz="3150" dirty="0"/>
          </a:p>
          <a:p>
            <a:pPr indent="0" marL="0">
              <a:buNone/>
            </a:pPr>
            <a:r>
              <a:rPr lang="en-US" sz="31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большого brownfield-сервиса</a:t>
            </a:r>
            <a:endParaRPr lang="en-US" sz="3150" dirty="0"/>
          </a:p>
        </p:txBody>
      </p:sp>
      <p:sp>
        <p:nvSpPr>
          <p:cNvPr id="12" name="S01_HeroSubtitle"/>
          <p:cNvSpPr/>
          <p:nvPr/>
        </p:nvSpPr>
        <p:spPr>
          <a:xfrm>
            <a:off x="676656" y="2907792"/>
            <a:ext cx="6629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Эволюционное расширение под существующую master specification</a:t>
            </a:r>
            <a:endParaRPr lang="en-US" sz="1750" dirty="0"/>
          </a:p>
        </p:txBody>
      </p:sp>
      <p:sp>
        <p:nvSpPr>
          <p:cNvPr id="13" name="S01_HeroStatementCard"/>
          <p:cNvSpPr/>
          <p:nvPr/>
        </p:nvSpPr>
        <p:spPr>
          <a:xfrm>
            <a:off x="658368" y="3703320"/>
            <a:ext cx="6748272" cy="1170432"/>
          </a:xfrm>
          <a:prstGeom prst="roundRect">
            <a:avLst>
              <a:gd name="adj" fmla="val 625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9050" dist="50800" dir="2700000">
              <a:srgbClr val="22304A">
                <a:alpha val="12000"/>
              </a:srgbClr>
            </a:outerShdw>
          </a:effectLst>
        </p:spPr>
      </p:sp>
      <p:sp>
        <p:nvSpPr>
          <p:cNvPr id="14" name="S01_HeroStatementAccent"/>
          <p:cNvSpPr/>
          <p:nvPr/>
        </p:nvSpPr>
        <p:spPr>
          <a:xfrm>
            <a:off x="658368" y="3703320"/>
            <a:ext cx="100584" cy="117043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5" name="S01_HeroStatement"/>
          <p:cNvSpPr/>
          <p:nvPr/>
        </p:nvSpPr>
        <p:spPr>
          <a:xfrm>
            <a:off x="987552" y="3904488"/>
            <a:ext cx="5870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Сохраняем lifecycle.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Масштабируем master specification.</a:t>
            </a:r>
            <a:endParaRPr lang="en-US" sz="2100" dirty="0"/>
          </a:p>
        </p:txBody>
      </p:sp>
      <p:sp>
        <p:nvSpPr>
          <p:cNvPr id="16" name="S01_HeroVisualCard"/>
          <p:cNvSpPr/>
          <p:nvPr/>
        </p:nvSpPr>
        <p:spPr>
          <a:xfrm>
            <a:off x="7973568" y="1234440"/>
            <a:ext cx="3401568" cy="416052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241935000" dist="645160000" dir="162000000000">
              <a:srgbClr val="22304A">
                <a:alpha val="1200000000"/>
              </a:srgbClr>
            </a:outerShdw>
          </a:effectLst>
        </p:spPr>
      </p:sp>
      <p:sp>
        <p:nvSpPr>
          <p:cNvPr id="17" name="S01_HeroFolder_Body"/>
          <p:cNvSpPr/>
          <p:nvPr/>
        </p:nvSpPr>
        <p:spPr>
          <a:xfrm>
            <a:off x="8302752" y="1762597"/>
            <a:ext cx="713232" cy="413675"/>
          </a:xfrm>
          <a:prstGeom prst="roundRect">
            <a:avLst>
              <a:gd name="adj" fmla="val 8842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8" name="S01_HeroFolder_Tab"/>
          <p:cNvSpPr/>
          <p:nvPr/>
        </p:nvSpPr>
        <p:spPr>
          <a:xfrm>
            <a:off x="8375904" y="1645920"/>
            <a:ext cx="328087" cy="201534"/>
          </a:xfrm>
          <a:prstGeom prst="roundRect">
            <a:avLst>
              <a:gd name="adj" fmla="val 13612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9" name="S01_HeroFolderLabel"/>
          <p:cNvSpPr/>
          <p:nvPr/>
        </p:nvSpPr>
        <p:spPr>
          <a:xfrm>
            <a:off x="9180576" y="16733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openspec/&lt;service&gt;/</a:t>
            </a:r>
            <a:endParaRPr lang="en-US" sz="1300" dirty="0"/>
          </a:p>
        </p:txBody>
      </p:sp>
      <p:sp>
        <p:nvSpPr>
          <p:cNvPr id="20" name="S01_HeroFile1_Page"/>
          <p:cNvSpPr/>
          <p:nvPr/>
        </p:nvSpPr>
        <p:spPr>
          <a:xfrm>
            <a:off x="8339328" y="2395728"/>
            <a:ext cx="384048" cy="457200"/>
          </a:xfrm>
          <a:prstGeom prst="roundRect">
            <a:avLst>
              <a:gd name="adj" fmla="val 7143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1" name="S01_HeroFile1_Line1"/>
          <p:cNvSpPr/>
          <p:nvPr/>
        </p:nvSpPr>
        <p:spPr>
          <a:xfrm>
            <a:off x="8416138" y="2555748"/>
            <a:ext cx="230429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22" name="S01_HeroFile1_Line2"/>
          <p:cNvSpPr/>
          <p:nvPr/>
        </p:nvSpPr>
        <p:spPr>
          <a:xfrm>
            <a:off x="8416138" y="2647188"/>
            <a:ext cx="199705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23" name="S01_HeroFile1_Line3"/>
          <p:cNvSpPr/>
          <p:nvPr/>
        </p:nvSpPr>
        <p:spPr>
          <a:xfrm>
            <a:off x="8416138" y="2738628"/>
            <a:ext cx="161300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24" name="S01_HeroFileLabel1"/>
          <p:cNvSpPr/>
          <p:nvPr/>
        </p:nvSpPr>
        <p:spPr>
          <a:xfrm>
            <a:off x="8915400" y="249631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workflow/</a:t>
            </a:r>
            <a:endParaRPr lang="en-US" sz="1150" dirty="0"/>
          </a:p>
        </p:txBody>
      </p:sp>
      <p:sp>
        <p:nvSpPr>
          <p:cNvPr id="25" name="S01_HeroFile2_Page"/>
          <p:cNvSpPr/>
          <p:nvPr/>
        </p:nvSpPr>
        <p:spPr>
          <a:xfrm>
            <a:off x="8339328" y="3017520"/>
            <a:ext cx="384048" cy="457200"/>
          </a:xfrm>
          <a:prstGeom prst="roundRect">
            <a:avLst>
              <a:gd name="adj" fmla="val 7143"/>
            </a:avLst>
          </a:prstGeom>
          <a:solidFill>
            <a:srgbClr val="E5F8F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6" name="S01_HeroFile2_Line1"/>
          <p:cNvSpPr/>
          <p:nvPr/>
        </p:nvSpPr>
        <p:spPr>
          <a:xfrm>
            <a:off x="8416138" y="3177540"/>
            <a:ext cx="230429" cy="914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27" name="S01_HeroFile2_Line2"/>
          <p:cNvSpPr/>
          <p:nvPr/>
        </p:nvSpPr>
        <p:spPr>
          <a:xfrm>
            <a:off x="8416138" y="3268980"/>
            <a:ext cx="199705" cy="914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28" name="S01_HeroFile2_Line3"/>
          <p:cNvSpPr/>
          <p:nvPr/>
        </p:nvSpPr>
        <p:spPr>
          <a:xfrm>
            <a:off x="8416138" y="3360420"/>
            <a:ext cx="161300" cy="914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29" name="S01_HeroFileLabel2"/>
          <p:cNvSpPr/>
          <p:nvPr/>
        </p:nvSpPr>
        <p:spPr>
          <a:xfrm>
            <a:off x="8915400" y="311810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api/ · data/</a:t>
            </a:r>
            <a:endParaRPr lang="en-US" sz="1150" dirty="0"/>
          </a:p>
        </p:txBody>
      </p:sp>
      <p:sp>
        <p:nvSpPr>
          <p:cNvPr id="30" name="S01_HeroFile3_Page"/>
          <p:cNvSpPr/>
          <p:nvPr/>
        </p:nvSpPr>
        <p:spPr>
          <a:xfrm>
            <a:off x="8339328" y="3639312"/>
            <a:ext cx="384048" cy="457200"/>
          </a:xfrm>
          <a:prstGeom prst="roundRect">
            <a:avLst>
              <a:gd name="adj" fmla="val 7143"/>
            </a:avLst>
          </a:prstGeom>
          <a:solidFill>
            <a:srgbClr val="F0EC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31" name="S01_HeroFile3_Line1"/>
          <p:cNvSpPr/>
          <p:nvPr/>
        </p:nvSpPr>
        <p:spPr>
          <a:xfrm>
            <a:off x="8416138" y="3799332"/>
            <a:ext cx="230429" cy="914"/>
          </a:xfrm>
          <a:prstGeom prst="line">
            <a:avLst/>
          </a:prstGeom>
          <a:noFill/>
          <a:ln w="1270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32" name="S01_HeroFile3_Line2"/>
          <p:cNvSpPr/>
          <p:nvPr/>
        </p:nvSpPr>
        <p:spPr>
          <a:xfrm>
            <a:off x="8416138" y="3890772"/>
            <a:ext cx="199705" cy="914"/>
          </a:xfrm>
          <a:prstGeom prst="line">
            <a:avLst/>
          </a:prstGeom>
          <a:noFill/>
          <a:ln w="1270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33" name="S01_HeroFile3_Line3"/>
          <p:cNvSpPr/>
          <p:nvPr/>
        </p:nvSpPr>
        <p:spPr>
          <a:xfrm>
            <a:off x="8416138" y="3982212"/>
            <a:ext cx="161300" cy="914"/>
          </a:xfrm>
          <a:prstGeom prst="line">
            <a:avLst/>
          </a:prstGeom>
          <a:noFill/>
          <a:ln w="1270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34" name="S01_HeroFileLabel3"/>
          <p:cNvSpPr/>
          <p:nvPr/>
        </p:nvSpPr>
        <p:spPr>
          <a:xfrm>
            <a:off x="8915400" y="373989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OpenAPI · DBML</a:t>
            </a:r>
            <a:endParaRPr lang="en-US" sz="1150" dirty="0"/>
          </a:p>
        </p:txBody>
      </p:sp>
      <p:sp>
        <p:nvSpPr>
          <p:cNvPr id="35" name="S01_HeroIndexLink"/>
          <p:cNvSpPr/>
          <p:nvPr/>
        </p:nvSpPr>
        <p:spPr>
          <a:xfrm>
            <a:off x="8659368" y="4370832"/>
            <a:ext cx="1856232" cy="914"/>
          </a:xfrm>
          <a:prstGeom prst="line">
            <a:avLst/>
          </a:prstGeom>
          <a:noFill/>
          <a:ln w="1778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6" name="S01_HeroIndexPill_Bg"/>
          <p:cNvSpPr/>
          <p:nvPr/>
        </p:nvSpPr>
        <p:spPr>
          <a:xfrm>
            <a:off x="8339328" y="4599432"/>
            <a:ext cx="2395728" cy="438912"/>
          </a:xfrm>
          <a:prstGeom prst="roundRect">
            <a:avLst>
              <a:gd name="adj" fmla="val 16667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37" name="S01_HeroIndexPill_Text"/>
          <p:cNvSpPr/>
          <p:nvPr/>
        </p:nvSpPr>
        <p:spPr>
          <a:xfrm>
            <a:off x="8339328" y="4604004"/>
            <a:ext cx="2395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 · карта связей</a:t>
            </a:r>
            <a:endParaRPr lang="en-US" sz="1150" dirty="0"/>
          </a:p>
        </p:txBody>
      </p:sp>
      <p:sp>
        <p:nvSpPr>
          <p:cNvPr id="38" name="S01_HeroBottomPill1_Bg"/>
          <p:cNvSpPr/>
          <p:nvPr/>
        </p:nvSpPr>
        <p:spPr>
          <a:xfrm>
            <a:off x="658368" y="5285232"/>
            <a:ext cx="21488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01_HeroBottomPill1_Text"/>
          <p:cNvSpPr/>
          <p:nvPr/>
        </p:nvSpPr>
        <p:spPr>
          <a:xfrm>
            <a:off x="658368" y="528980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не обязательная миграция</a:t>
            </a:r>
            <a:endParaRPr lang="en-US" sz="1060" dirty="0"/>
          </a:p>
        </p:txBody>
      </p:sp>
      <p:sp>
        <p:nvSpPr>
          <p:cNvPr id="40" name="S01_HeroBottomPill2_Bg"/>
          <p:cNvSpPr/>
          <p:nvPr/>
        </p:nvSpPr>
        <p:spPr>
          <a:xfrm>
            <a:off x="2944368" y="5285232"/>
            <a:ext cx="2359152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1_HeroBottomPill2_Text"/>
          <p:cNvSpPr/>
          <p:nvPr/>
        </p:nvSpPr>
        <p:spPr>
          <a:xfrm>
            <a:off x="2944368" y="5289804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профиль для сложных связей</a:t>
            </a:r>
            <a:endParaRPr lang="en-US" sz="1060" dirty="0"/>
          </a:p>
        </p:txBody>
      </p:sp>
      <p:sp>
        <p:nvSpPr>
          <p:cNvPr id="42" name="S01_HeroBottomPill3_Bg"/>
          <p:cNvSpPr/>
          <p:nvPr/>
        </p:nvSpPr>
        <p:spPr>
          <a:xfrm>
            <a:off x="5449824" y="5285232"/>
            <a:ext cx="1956816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01_HeroBottomPill3_Text"/>
          <p:cNvSpPr/>
          <p:nvPr/>
        </p:nvSpPr>
        <p:spPr>
          <a:xfrm>
            <a:off x="5449824" y="5289804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путь к knowledge graph</a:t>
            </a:r>
            <a:endParaRPr lang="en-US" sz="10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2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ИСХОДНЫЙ КОНТЕКСТ</a:t>
            </a:r>
            <a:endParaRPr lang="en-US" sz="850" dirty="0"/>
          </a:p>
        </p:txBody>
      </p:sp>
      <p:sp>
        <p:nvSpPr>
          <p:cNvPr id="4" name="S02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Документация уже является частью delivery-процесса</a:t>
            </a:r>
            <a:endParaRPr lang="en-US" sz="2850" dirty="0"/>
          </a:p>
        </p:txBody>
      </p:sp>
      <p:sp>
        <p:nvSpPr>
          <p:cNvPr id="5" name="S02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Сначала меняется описание поведения — затем код.</a:t>
            </a:r>
            <a:endParaRPr lang="en-US" sz="1320" dirty="0"/>
          </a:p>
        </p:txBody>
      </p:sp>
      <p:sp>
        <p:nvSpPr>
          <p:cNvPr id="6" name="S02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2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830" dirty="0"/>
          </a:p>
        </p:txBody>
      </p:sp>
      <p:sp>
        <p:nvSpPr>
          <p:cNvPr id="8" name="S02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2_MetricYears_Card"/>
          <p:cNvSpPr/>
          <p:nvPr/>
        </p:nvSpPr>
        <p:spPr>
          <a:xfrm>
            <a:off x="658368" y="1444752"/>
            <a:ext cx="237744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S02_MetricYears_Accent"/>
          <p:cNvSpPr/>
          <p:nvPr/>
        </p:nvSpPr>
        <p:spPr>
          <a:xfrm>
            <a:off x="658368" y="1444752"/>
            <a:ext cx="73152" cy="94183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2_MetricYears_Number"/>
          <p:cNvSpPr/>
          <p:nvPr/>
        </p:nvSpPr>
        <p:spPr>
          <a:xfrm>
            <a:off x="877824" y="15544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3+</a:t>
            </a:r>
            <a:endParaRPr lang="en-US" sz="2400" dirty="0"/>
          </a:p>
        </p:txBody>
      </p:sp>
      <p:sp>
        <p:nvSpPr>
          <p:cNvPr id="13" name="S02_MetricYears_Label"/>
          <p:cNvSpPr/>
          <p:nvPr/>
        </p:nvSpPr>
        <p:spPr>
          <a:xfrm>
            <a:off x="1828800" y="1581912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года развития проекта</a:t>
            </a:r>
            <a:endParaRPr lang="en-US" sz="1250" dirty="0"/>
          </a:p>
        </p:txBody>
      </p:sp>
      <p:sp>
        <p:nvSpPr>
          <p:cNvPr id="14" name="S02_MetricServices_Card"/>
          <p:cNvSpPr/>
          <p:nvPr/>
        </p:nvSpPr>
        <p:spPr>
          <a:xfrm>
            <a:off x="3200400" y="1444752"/>
            <a:ext cx="2542032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S02_MetricServices_Accent"/>
          <p:cNvSpPr/>
          <p:nvPr/>
        </p:nvSpPr>
        <p:spPr>
          <a:xfrm>
            <a:off x="3200400" y="1444752"/>
            <a:ext cx="73152" cy="94183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16" name="S02_MetricServices_Number"/>
          <p:cNvSpPr/>
          <p:nvPr/>
        </p:nvSpPr>
        <p:spPr>
          <a:xfrm>
            <a:off x="3419856" y="15544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2400" dirty="0"/>
          </a:p>
        </p:txBody>
      </p:sp>
      <p:sp>
        <p:nvSpPr>
          <p:cNvPr id="17" name="S02_MetricServices_Label"/>
          <p:cNvSpPr/>
          <p:nvPr/>
        </p:nvSpPr>
        <p:spPr>
          <a:xfrm>
            <a:off x="4370832" y="158191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сервисов и библиотек</a:t>
            </a:r>
            <a:endParaRPr lang="en-US" sz="1250" dirty="0"/>
          </a:p>
        </p:txBody>
      </p:sp>
      <p:sp>
        <p:nvSpPr>
          <p:cNvPr id="18" name="S02_MetricSequence_Card"/>
          <p:cNvSpPr/>
          <p:nvPr/>
        </p:nvSpPr>
        <p:spPr>
          <a:xfrm>
            <a:off x="5907024" y="1444752"/>
            <a:ext cx="306324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9" name="S02_MetricSequence_Accent"/>
          <p:cNvSpPr/>
          <p:nvPr/>
        </p:nvSpPr>
        <p:spPr>
          <a:xfrm>
            <a:off x="5907024" y="1444752"/>
            <a:ext cx="73152" cy="941832"/>
          </a:xfrm>
          <a:prstGeom prst="rect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0" name="S02_MetricSequence_Number"/>
          <p:cNvSpPr/>
          <p:nvPr/>
        </p:nvSpPr>
        <p:spPr>
          <a:xfrm>
            <a:off x="6126480" y="15544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 → CODE</a:t>
            </a:r>
            <a:endParaRPr lang="en-US" sz="2400" dirty="0"/>
          </a:p>
        </p:txBody>
      </p:sp>
      <p:sp>
        <p:nvSpPr>
          <p:cNvPr id="21" name="S02_MetricSequence_Label"/>
          <p:cNvSpPr/>
          <p:nvPr/>
        </p:nvSpPr>
        <p:spPr>
          <a:xfrm>
            <a:off x="7077456" y="1581912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изменение описания предшествует коду</a:t>
            </a:r>
            <a:endParaRPr lang="en-US" sz="1250" dirty="0"/>
          </a:p>
        </p:txBody>
      </p:sp>
      <p:sp>
        <p:nvSpPr>
          <p:cNvPr id="22" name="S02_BugException_Bg"/>
          <p:cNvSpPr/>
          <p:nvPr/>
        </p:nvSpPr>
        <p:spPr>
          <a:xfrm>
            <a:off x="9144000" y="1591056"/>
            <a:ext cx="2359152" cy="603504"/>
          </a:xfrm>
          <a:prstGeom prst="roundRect">
            <a:avLst>
              <a:gd name="adj" fmla="val 12121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23" name="S02_BugException_Text"/>
          <p:cNvSpPr/>
          <p:nvPr/>
        </p:nvSpPr>
        <p:spPr>
          <a:xfrm>
            <a:off x="9144000" y="1595628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кроме исправления багов</a:t>
            </a:r>
            <a:endParaRPr lang="en-US" sz="1120" dirty="0"/>
          </a:p>
        </p:txBody>
      </p:sp>
      <p:sp>
        <p:nvSpPr>
          <p:cNvPr id="24" name="S02_CurrentFlow1_Card"/>
          <p:cNvSpPr/>
          <p:nvPr/>
        </p:nvSpPr>
        <p:spPr>
          <a:xfrm>
            <a:off x="658368" y="2889504"/>
            <a:ext cx="14173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25" name="S02_CurrentFlow1_Dot"/>
          <p:cNvSpPr/>
          <p:nvPr/>
        </p:nvSpPr>
        <p:spPr>
          <a:xfrm>
            <a:off x="777240" y="3026664"/>
            <a:ext cx="228600" cy="2286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6" name="S02_CurrentFlow1_Title"/>
          <p:cNvSpPr/>
          <p:nvPr/>
        </p:nvSpPr>
        <p:spPr>
          <a:xfrm>
            <a:off x="1078992" y="29809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Аналитик</a:t>
            </a:r>
            <a:endParaRPr lang="en-US" sz="1250" dirty="0"/>
          </a:p>
        </p:txBody>
      </p:sp>
      <p:sp>
        <p:nvSpPr>
          <p:cNvPr id="27" name="S02_CurrentFlow1_Subtitle"/>
          <p:cNvSpPr/>
          <p:nvPr/>
        </p:nvSpPr>
        <p:spPr>
          <a:xfrm>
            <a:off x="1078992" y="3291840"/>
            <a:ext cx="905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формулирует изменение</a:t>
            </a:r>
            <a:endParaRPr lang="en-US" sz="1050" dirty="0"/>
          </a:p>
        </p:txBody>
      </p:sp>
      <p:sp>
        <p:nvSpPr>
          <p:cNvPr id="28" name="S02_CurrentArrow1"/>
          <p:cNvSpPr/>
          <p:nvPr/>
        </p:nvSpPr>
        <p:spPr>
          <a:xfrm>
            <a:off x="2148840" y="3474720"/>
            <a:ext cx="173736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9" name="S02_CurrentFlow2_Card"/>
          <p:cNvSpPr/>
          <p:nvPr/>
        </p:nvSpPr>
        <p:spPr>
          <a:xfrm>
            <a:off x="2395728" y="2889504"/>
            <a:ext cx="199339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F5A623"/>
            </a:solidFill>
            <a:prstDash val="solid"/>
          </a:ln>
        </p:spPr>
      </p:sp>
      <p:sp>
        <p:nvSpPr>
          <p:cNvPr id="30" name="S02_CurrentFlow2_Dot"/>
          <p:cNvSpPr/>
          <p:nvPr/>
        </p:nvSpPr>
        <p:spPr>
          <a:xfrm>
            <a:off x="2514600" y="3026664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1" name="S02_CurrentFlow2_Title"/>
          <p:cNvSpPr/>
          <p:nvPr/>
        </p:nvSpPr>
        <p:spPr>
          <a:xfrm>
            <a:off x="2816352" y="298094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Confluence</a:t>
            </a:r>
            <a:endParaRPr lang="en-US" sz="1250" dirty="0"/>
          </a:p>
        </p:txBody>
      </p:sp>
      <p:sp>
        <p:nvSpPr>
          <p:cNvPr id="32" name="S02_CurrentFlow2_Subtitle"/>
          <p:cNvSpPr/>
          <p:nvPr/>
        </p:nvSpPr>
        <p:spPr>
          <a:xfrm>
            <a:off x="2816352" y="329184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правка выделена цветом</a:t>
            </a:r>
            <a:endParaRPr lang="en-US" sz="1050" dirty="0"/>
          </a:p>
        </p:txBody>
      </p:sp>
      <p:sp>
        <p:nvSpPr>
          <p:cNvPr id="33" name="S02_CurrentArrow2"/>
          <p:cNvSpPr/>
          <p:nvPr/>
        </p:nvSpPr>
        <p:spPr>
          <a:xfrm>
            <a:off x="4462272" y="3474720"/>
            <a:ext cx="182880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4" name="S02_CurrentFlow3_Card"/>
          <p:cNvSpPr/>
          <p:nvPr/>
        </p:nvSpPr>
        <p:spPr>
          <a:xfrm>
            <a:off x="4718304" y="2889504"/>
            <a:ext cx="1828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7657D5"/>
            </a:solidFill>
            <a:prstDash val="solid"/>
          </a:ln>
        </p:spPr>
      </p:sp>
      <p:sp>
        <p:nvSpPr>
          <p:cNvPr id="35" name="S02_CurrentFlow3_Dot"/>
          <p:cNvSpPr/>
          <p:nvPr/>
        </p:nvSpPr>
        <p:spPr>
          <a:xfrm>
            <a:off x="4837176" y="3026664"/>
            <a:ext cx="228600" cy="228600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36" name="S02_CurrentFlow3_Title"/>
          <p:cNvSpPr/>
          <p:nvPr/>
        </p:nvSpPr>
        <p:spPr>
          <a:xfrm>
            <a:off x="5138928" y="2980944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Передача</a:t>
            </a:r>
            <a:endParaRPr lang="en-US" sz="1250" dirty="0"/>
          </a:p>
        </p:txBody>
      </p:sp>
      <p:sp>
        <p:nvSpPr>
          <p:cNvPr id="37" name="S02_CurrentFlow3_Subtitle"/>
          <p:cNvSpPr/>
          <p:nvPr/>
        </p:nvSpPr>
        <p:spPr>
          <a:xfrm>
            <a:off x="5138928" y="329184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согласовано для разработки</a:t>
            </a:r>
            <a:endParaRPr lang="en-US" sz="1050" dirty="0"/>
          </a:p>
        </p:txBody>
      </p:sp>
      <p:sp>
        <p:nvSpPr>
          <p:cNvPr id="38" name="S02_CurrentArrow3"/>
          <p:cNvSpPr/>
          <p:nvPr/>
        </p:nvSpPr>
        <p:spPr>
          <a:xfrm>
            <a:off x="6620256" y="3474720"/>
            <a:ext cx="182880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9" name="S02_CurrentFlow4_Card"/>
          <p:cNvSpPr/>
          <p:nvPr/>
        </p:nvSpPr>
        <p:spPr>
          <a:xfrm>
            <a:off x="6876288" y="2889504"/>
            <a:ext cx="1737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40" name="S02_CurrentFlow4_Dot"/>
          <p:cNvSpPr/>
          <p:nvPr/>
        </p:nvSpPr>
        <p:spPr>
          <a:xfrm>
            <a:off x="6995160" y="3026664"/>
            <a:ext cx="228600" cy="2286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1" name="S02_CurrentFlow4_Title"/>
          <p:cNvSpPr/>
          <p:nvPr/>
        </p:nvSpPr>
        <p:spPr>
          <a:xfrm>
            <a:off x="7296912" y="298094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Реализация</a:t>
            </a:r>
            <a:endParaRPr lang="en-US" sz="1250" dirty="0"/>
          </a:p>
        </p:txBody>
      </p:sp>
      <p:sp>
        <p:nvSpPr>
          <p:cNvPr id="42" name="S02_CurrentFlow4_Subtitle"/>
          <p:cNvSpPr/>
          <p:nvPr/>
        </p:nvSpPr>
        <p:spPr>
          <a:xfrm>
            <a:off x="7296912" y="3291840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изменение в коде</a:t>
            </a:r>
            <a:endParaRPr lang="en-US" sz="1050" dirty="0"/>
          </a:p>
        </p:txBody>
      </p:sp>
      <p:sp>
        <p:nvSpPr>
          <p:cNvPr id="43" name="S02_CurrentArrow4"/>
          <p:cNvSpPr/>
          <p:nvPr/>
        </p:nvSpPr>
        <p:spPr>
          <a:xfrm>
            <a:off x="8686800" y="3474720"/>
            <a:ext cx="182880" cy="914"/>
          </a:xfrm>
          <a:prstGeom prst="line">
            <a:avLst/>
          </a:prstGeom>
          <a:noFill/>
          <a:ln w="2032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44" name="S02_CurrentFlow5_Card"/>
          <p:cNvSpPr/>
          <p:nvPr/>
        </p:nvSpPr>
        <p:spPr>
          <a:xfrm>
            <a:off x="8942832" y="2889504"/>
            <a:ext cx="25603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6510">
            <a:solidFill>
              <a:srgbClr val="00A6A6"/>
            </a:solidFill>
            <a:prstDash val="solid"/>
          </a:ln>
        </p:spPr>
      </p:sp>
      <p:sp>
        <p:nvSpPr>
          <p:cNvPr id="45" name="S02_CurrentFlow5_Dot"/>
          <p:cNvSpPr/>
          <p:nvPr/>
        </p:nvSpPr>
        <p:spPr>
          <a:xfrm>
            <a:off x="9061704" y="3026664"/>
            <a:ext cx="228600" cy="22860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6" name="S02_CurrentFlow5_Title"/>
          <p:cNvSpPr/>
          <p:nvPr/>
        </p:nvSpPr>
        <p:spPr>
          <a:xfrm>
            <a:off x="9363456" y="298094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Актуальная master spec</a:t>
            </a:r>
            <a:endParaRPr lang="en-US" sz="1250" dirty="0"/>
          </a:p>
        </p:txBody>
      </p:sp>
      <p:sp>
        <p:nvSpPr>
          <p:cNvPr id="47" name="S02_CurrentFlow5_Subtitle"/>
          <p:cNvSpPr/>
          <p:nvPr/>
        </p:nvSpPr>
        <p:spPr>
          <a:xfrm>
            <a:off x="9363456" y="3291840"/>
            <a:ext cx="2048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цветовая разметка снята</a:t>
            </a:r>
            <a:endParaRPr lang="en-US" sz="1050" dirty="0"/>
          </a:p>
        </p:txBody>
      </p:sp>
      <p:sp>
        <p:nvSpPr>
          <p:cNvPr id="48" name="S02_DeliveryThesisCard"/>
          <p:cNvSpPr/>
          <p:nvPr/>
        </p:nvSpPr>
        <p:spPr>
          <a:xfrm>
            <a:off x="658368" y="4526280"/>
            <a:ext cx="10844784" cy="1143000"/>
          </a:xfrm>
          <a:prstGeom prst="roundRect">
            <a:avLst>
              <a:gd name="adj" fmla="val 6400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49" name="S02_DeliveryThesis"/>
          <p:cNvSpPr/>
          <p:nvPr/>
        </p:nvSpPr>
        <p:spPr>
          <a:xfrm>
            <a:off x="1024128" y="4754880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036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Спецификация — не отчёт после разработки, а вход в разработку.</a:t>
            </a:r>
            <a:endParaRPr lang="en-US" sz="1950" dirty="0"/>
          </a:p>
        </p:txBody>
      </p:sp>
      <p:sp>
        <p:nvSpPr>
          <p:cNvPr id="50" name="S02_DeliverySoT_Bg"/>
          <p:cNvSpPr/>
          <p:nvPr/>
        </p:nvSpPr>
        <p:spPr>
          <a:xfrm>
            <a:off x="8595360" y="4754880"/>
            <a:ext cx="244144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02_DeliverySoT_Text"/>
          <p:cNvSpPr/>
          <p:nvPr/>
        </p:nvSpPr>
        <p:spPr>
          <a:xfrm>
            <a:off x="8595360" y="4759452"/>
            <a:ext cx="24414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 of truth уже существует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3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МАСШТАБ ЗНАНИЯ</a:t>
            </a:r>
            <a:endParaRPr lang="en-US" sz="850" dirty="0"/>
          </a:p>
        </p:txBody>
      </p:sp>
      <p:sp>
        <p:nvSpPr>
          <p:cNvPr id="4" name="S03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 specification — это система документов</a:t>
            </a:r>
            <a:endParaRPr lang="en-US" sz="2850" dirty="0"/>
          </a:p>
        </p:txBody>
      </p:sp>
      <p:sp>
        <p:nvSpPr>
          <p:cNvPr id="5" name="S03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сервис связывает процессы, данные, UI и интеграции.</a:t>
            </a:r>
            <a:endParaRPr lang="en-US" sz="1320" dirty="0"/>
          </a:p>
        </p:txBody>
      </p:sp>
      <p:sp>
        <p:nvSpPr>
          <p:cNvPr id="6" name="S03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3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830" dirty="0"/>
          </a:p>
        </p:txBody>
      </p:sp>
      <p:sp>
        <p:nvSpPr>
          <p:cNvPr id="8" name="S03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3_BranchProcess"/>
          <p:cNvSpPr/>
          <p:nvPr/>
        </p:nvSpPr>
        <p:spPr>
          <a:xfrm flipH="1" flipV="1">
            <a:off x="3630168" y="2112264"/>
            <a:ext cx="1014984" cy="603504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1" name="S03_BranchIntegration"/>
          <p:cNvSpPr/>
          <p:nvPr/>
        </p:nvSpPr>
        <p:spPr>
          <a:xfrm flipV="1">
            <a:off x="7552944" y="2112264"/>
            <a:ext cx="1005840" cy="603504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2" name="S03_BranchDictionary"/>
          <p:cNvSpPr/>
          <p:nvPr/>
        </p:nvSpPr>
        <p:spPr>
          <a:xfrm flipH="1">
            <a:off x="3630168" y="3694176"/>
            <a:ext cx="1014984" cy="612648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3" name="S03_BranchUI"/>
          <p:cNvSpPr/>
          <p:nvPr/>
        </p:nvSpPr>
        <p:spPr>
          <a:xfrm>
            <a:off x="7552944" y="3694176"/>
            <a:ext cx="1005840" cy="612648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4" name="S03_BranchAlgorithms"/>
          <p:cNvSpPr/>
          <p:nvPr/>
        </p:nvSpPr>
        <p:spPr>
          <a:xfrm>
            <a:off x="6099048" y="4151376"/>
            <a:ext cx="914" cy="676656"/>
          </a:xfrm>
          <a:prstGeom prst="line">
            <a:avLst/>
          </a:prstGeom>
          <a:noFill/>
          <a:ln w="2032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5" name="S03_MasterSpecCenter"/>
          <p:cNvSpPr/>
          <p:nvPr/>
        </p:nvSpPr>
        <p:spPr>
          <a:xfrm>
            <a:off x="4645152" y="2304288"/>
            <a:ext cx="2907792" cy="1847088"/>
          </a:xfrm>
          <a:prstGeom prst="roundRect">
            <a:avLst>
              <a:gd name="adj" fmla="val 396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3072574500000" dist="8193532000000" dir="9720000000000000">
              <a:srgbClr val="22304A">
                <a:alpha val="120000000000000"/>
              </a:srgbClr>
            </a:outerShdw>
          </a:effectLst>
        </p:spPr>
      </p:sp>
      <p:sp>
        <p:nvSpPr>
          <p:cNvPr id="16" name="S03_MasterSpecService_Bg"/>
          <p:cNvSpPr/>
          <p:nvPr/>
        </p:nvSpPr>
        <p:spPr>
          <a:xfrm>
            <a:off x="5175504" y="2560320"/>
            <a:ext cx="1847088" cy="384048"/>
          </a:xfrm>
          <a:prstGeom prst="roundRect">
            <a:avLst>
              <a:gd name="adj" fmla="val 19048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S03_MasterSpecService_Text"/>
          <p:cNvSpPr/>
          <p:nvPr/>
        </p:nvSpPr>
        <p:spPr>
          <a:xfrm>
            <a:off x="5175504" y="2564892"/>
            <a:ext cx="18470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SERVICE</a:t>
            </a:r>
            <a:endParaRPr lang="en-US" sz="1050" dirty="0"/>
          </a:p>
        </p:txBody>
      </p:sp>
      <p:sp>
        <p:nvSpPr>
          <p:cNvPr id="18" name="S03_MasterSpecCenterText"/>
          <p:cNvSpPr/>
          <p:nvPr/>
        </p:nvSpPr>
        <p:spPr>
          <a:xfrm>
            <a:off x="4992624" y="3063240"/>
            <a:ext cx="22128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SPECIFICATION</a:t>
            </a:r>
            <a:endParaRPr lang="en-US" sz="2000" dirty="0"/>
          </a:p>
        </p:txBody>
      </p:sp>
      <p:sp>
        <p:nvSpPr>
          <p:cNvPr id="19" name="S03_BranchCard1"/>
          <p:cNvSpPr/>
          <p:nvPr/>
        </p:nvSpPr>
        <p:spPr>
          <a:xfrm>
            <a:off x="658368" y="1627632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20" name="S03_BranchMetric1"/>
          <p:cNvSpPr/>
          <p:nvPr/>
        </p:nvSpPr>
        <p:spPr>
          <a:xfrm>
            <a:off x="859536" y="17739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80+</a:t>
            </a:r>
            <a:endParaRPr lang="en-US" sz="2200" dirty="0"/>
          </a:p>
        </p:txBody>
      </p:sp>
      <p:sp>
        <p:nvSpPr>
          <p:cNvPr id="21" name="S03_BranchTitle1"/>
          <p:cNvSpPr/>
          <p:nvPr/>
        </p:nvSpPr>
        <p:spPr>
          <a:xfrm>
            <a:off x="1609344" y="178308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бизнес-процессов</a:t>
            </a:r>
            <a:endParaRPr lang="en-US" sz="1350" dirty="0"/>
          </a:p>
        </p:txBody>
      </p:sp>
      <p:sp>
        <p:nvSpPr>
          <p:cNvPr id="22" name="S03_BranchSubtitle1"/>
          <p:cNvSpPr/>
          <p:nvPr/>
        </p:nvSpPr>
        <p:spPr>
          <a:xfrm>
            <a:off x="1609344" y="213055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5+ шагов в каждом</a:t>
            </a:r>
            <a:endParaRPr lang="en-US" sz="1050" dirty="0"/>
          </a:p>
        </p:txBody>
      </p:sp>
      <p:sp>
        <p:nvSpPr>
          <p:cNvPr id="23" name="S03_BranchCard2"/>
          <p:cNvSpPr/>
          <p:nvPr/>
        </p:nvSpPr>
        <p:spPr>
          <a:xfrm>
            <a:off x="8558784" y="1627632"/>
            <a:ext cx="29443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7657D5"/>
            </a:solidFill>
            <a:prstDash val="solid"/>
          </a:ln>
        </p:spPr>
      </p:sp>
      <p:sp>
        <p:nvSpPr>
          <p:cNvPr id="24" name="S03_BranchMetric2"/>
          <p:cNvSpPr/>
          <p:nvPr/>
        </p:nvSpPr>
        <p:spPr>
          <a:xfrm>
            <a:off x="8759952" y="17739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15+</a:t>
            </a:r>
            <a:endParaRPr lang="en-US" sz="2200" dirty="0"/>
          </a:p>
        </p:txBody>
      </p:sp>
      <p:sp>
        <p:nvSpPr>
          <p:cNvPr id="25" name="S03_BranchTitle2"/>
          <p:cNvSpPr/>
          <p:nvPr/>
        </p:nvSpPr>
        <p:spPr>
          <a:xfrm>
            <a:off x="9509760" y="17830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интеграций</a:t>
            </a:r>
            <a:endParaRPr lang="en-US" sz="1350" dirty="0"/>
          </a:p>
        </p:txBody>
      </p:sp>
      <p:sp>
        <p:nvSpPr>
          <p:cNvPr id="26" name="S03_BranchSubtitle2"/>
          <p:cNvSpPr/>
          <p:nvPr/>
        </p:nvSpPr>
        <p:spPr>
          <a:xfrm>
            <a:off x="9509760" y="213055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алгоритмы + контракты</a:t>
            </a:r>
            <a:endParaRPr lang="en-US" sz="1050" dirty="0"/>
          </a:p>
        </p:txBody>
      </p:sp>
      <p:sp>
        <p:nvSpPr>
          <p:cNvPr id="27" name="S03_BranchCard3"/>
          <p:cNvSpPr/>
          <p:nvPr/>
        </p:nvSpPr>
        <p:spPr>
          <a:xfrm>
            <a:off x="658368" y="3822192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00A6A6"/>
            </a:solidFill>
            <a:prstDash val="solid"/>
          </a:ln>
        </p:spPr>
      </p:sp>
      <p:sp>
        <p:nvSpPr>
          <p:cNvPr id="28" name="S03_BranchMetric3"/>
          <p:cNvSpPr/>
          <p:nvPr/>
        </p:nvSpPr>
        <p:spPr>
          <a:xfrm>
            <a:off x="859536" y="396849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50+</a:t>
            </a:r>
            <a:endParaRPr lang="en-US" sz="2200" dirty="0"/>
          </a:p>
        </p:txBody>
      </p:sp>
      <p:sp>
        <p:nvSpPr>
          <p:cNvPr id="29" name="S03_BranchTitle3"/>
          <p:cNvSpPr/>
          <p:nvPr/>
        </p:nvSpPr>
        <p:spPr>
          <a:xfrm>
            <a:off x="1609344" y="397764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справочников</a:t>
            </a:r>
            <a:endParaRPr lang="en-US" sz="1350" dirty="0"/>
          </a:p>
        </p:txBody>
      </p:sp>
      <p:sp>
        <p:nvSpPr>
          <p:cNvPr id="30" name="S03_BranchSubtitle3"/>
          <p:cNvSpPr/>
          <p:nvPr/>
        </p:nvSpPr>
        <p:spPr>
          <a:xfrm>
            <a:off x="1609344" y="432511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каждый — отдельная сущность</a:t>
            </a:r>
            <a:endParaRPr lang="en-US" sz="1050" dirty="0"/>
          </a:p>
        </p:txBody>
      </p:sp>
      <p:sp>
        <p:nvSpPr>
          <p:cNvPr id="31" name="S03_BranchCard4"/>
          <p:cNvSpPr/>
          <p:nvPr/>
        </p:nvSpPr>
        <p:spPr>
          <a:xfrm>
            <a:off x="8558784" y="3822192"/>
            <a:ext cx="294436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F5A623"/>
            </a:solidFill>
            <a:prstDash val="solid"/>
          </a:ln>
        </p:spPr>
      </p:sp>
      <p:sp>
        <p:nvSpPr>
          <p:cNvPr id="32" name="S03_BranchMetric4"/>
          <p:cNvSpPr/>
          <p:nvPr/>
        </p:nvSpPr>
        <p:spPr>
          <a:xfrm>
            <a:off x="8759952" y="396849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30+</a:t>
            </a:r>
            <a:endParaRPr lang="en-US" sz="2200" dirty="0"/>
          </a:p>
        </p:txBody>
      </p:sp>
      <p:sp>
        <p:nvSpPr>
          <p:cNvPr id="33" name="S03_BranchTitle4"/>
          <p:cNvSpPr/>
          <p:nvPr/>
        </p:nvSpPr>
        <p:spPr>
          <a:xfrm>
            <a:off x="9509760" y="397764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форм UI</a:t>
            </a:r>
            <a:endParaRPr lang="en-US" sz="1350" dirty="0"/>
          </a:p>
        </p:txBody>
      </p:sp>
      <p:sp>
        <p:nvSpPr>
          <p:cNvPr id="34" name="S03_BranchSubtitle4"/>
          <p:cNvSpPr/>
          <p:nvPr/>
        </p:nvSpPr>
        <p:spPr>
          <a:xfrm>
            <a:off x="9509760" y="432511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состояния и действия</a:t>
            </a:r>
            <a:endParaRPr lang="en-US" sz="1050" dirty="0"/>
          </a:p>
        </p:txBody>
      </p:sp>
      <p:sp>
        <p:nvSpPr>
          <p:cNvPr id="35" name="S03_BranchCard5"/>
          <p:cNvSpPr/>
          <p:nvPr/>
        </p:nvSpPr>
        <p:spPr>
          <a:xfrm>
            <a:off x="4389120" y="4828032"/>
            <a:ext cx="3429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6510">
            <a:solidFill>
              <a:srgbClr val="F26767"/>
            </a:solidFill>
            <a:prstDash val="solid"/>
          </a:ln>
        </p:spPr>
      </p:sp>
      <p:sp>
        <p:nvSpPr>
          <p:cNvPr id="36" name="S03_BranchMetric5"/>
          <p:cNvSpPr/>
          <p:nvPr/>
        </p:nvSpPr>
        <p:spPr>
          <a:xfrm>
            <a:off x="4590288" y="49743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2676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80+</a:t>
            </a:r>
            <a:endParaRPr lang="en-US" sz="2200" dirty="0"/>
          </a:p>
        </p:txBody>
      </p:sp>
      <p:sp>
        <p:nvSpPr>
          <p:cNvPr id="37" name="S03_BranchTitle5"/>
          <p:cNvSpPr/>
          <p:nvPr/>
        </p:nvSpPr>
        <p:spPr>
          <a:xfrm>
            <a:off x="5340096" y="4983480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алгоритмов действий UI</a:t>
            </a:r>
            <a:endParaRPr lang="en-US" sz="1350" dirty="0"/>
          </a:p>
        </p:txBody>
      </p:sp>
      <p:sp>
        <p:nvSpPr>
          <p:cNvPr id="38" name="S03_PilotPill_Bg"/>
          <p:cNvSpPr/>
          <p:nvPr/>
        </p:nvSpPr>
        <p:spPr>
          <a:xfrm>
            <a:off x="658368" y="5897880"/>
            <a:ext cx="46817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03_PilotPill_Text"/>
          <p:cNvSpPr/>
          <p:nvPr/>
        </p:nvSpPr>
        <p:spPr>
          <a:xfrm>
            <a:off x="658368" y="5902452"/>
            <a:ext cx="46817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пилот invest-dkz · ≈100 MD-документов · 18 workflow</a:t>
            </a:r>
            <a:endParaRPr lang="en-US" sz="1080" dirty="0"/>
          </a:p>
        </p:txBody>
      </p:sp>
      <p:sp>
        <p:nvSpPr>
          <p:cNvPr id="40" name="S03_FormatsPill_Bg"/>
          <p:cNvSpPr/>
          <p:nvPr/>
        </p:nvSpPr>
        <p:spPr>
          <a:xfrm>
            <a:off x="5532120" y="5897880"/>
            <a:ext cx="597103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3_FormatsPill_Text"/>
          <p:cNvSpPr/>
          <p:nvPr/>
        </p:nvSpPr>
        <p:spPr>
          <a:xfrm>
            <a:off x="5532120" y="5902452"/>
            <a:ext cx="59710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MD · OpenAPI · YAML · DBML · диаграммы · настройки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4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ПРОВЕРКА ГИПОТЕЗ</a:t>
            </a:r>
            <a:endParaRPr lang="en-US" sz="850" dirty="0"/>
          </a:p>
        </p:txBody>
      </p:sp>
      <p:sp>
        <p:nvSpPr>
          <p:cNvPr id="4" name="S04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Путь к MD: важен не формат, а уровень абстракции</a:t>
            </a:r>
            <a:endParaRPr lang="en-US" sz="2850" dirty="0"/>
          </a:p>
        </p:txBody>
      </p:sp>
      <p:sp>
        <p:nvSpPr>
          <p:cNvPr id="5" name="S04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Мы сравнили восстановление из кода и перенос существующей аналитики.</a:t>
            </a:r>
            <a:endParaRPr lang="en-US" sz="1320" dirty="0"/>
          </a:p>
        </p:txBody>
      </p:sp>
      <p:sp>
        <p:nvSpPr>
          <p:cNvPr id="6" name="S04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4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830" dirty="0"/>
          </a:p>
        </p:txBody>
      </p:sp>
      <p:sp>
        <p:nvSpPr>
          <p:cNvPr id="8" name="S04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4_ReverseLane"/>
          <p:cNvSpPr/>
          <p:nvPr/>
        </p:nvSpPr>
        <p:spPr>
          <a:xfrm>
            <a:off x="658368" y="1536192"/>
            <a:ext cx="7543800" cy="1572768"/>
          </a:xfrm>
          <a:prstGeom prst="roundRect">
            <a:avLst>
              <a:gd name="adj" fmla="val 4651"/>
            </a:avLst>
          </a:prstGeom>
          <a:solidFill>
            <a:srgbClr val="FDEBEB"/>
          </a:solidFill>
          <a:ln w="12700">
            <a:solidFill>
              <a:srgbClr val="F7CACA"/>
            </a:solidFill>
            <a:prstDash val="solid"/>
          </a:ln>
        </p:spPr>
      </p:sp>
      <p:sp>
        <p:nvSpPr>
          <p:cNvPr id="11" name="S04_ReverseLabel_Bg"/>
          <p:cNvSpPr/>
          <p:nvPr/>
        </p:nvSpPr>
        <p:spPr>
          <a:xfrm>
            <a:off x="896112" y="1746504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04_ReverseLabel_Text"/>
          <p:cNvSpPr/>
          <p:nvPr/>
        </p:nvSpPr>
        <p:spPr>
          <a:xfrm>
            <a:off x="896112" y="1751076"/>
            <a:ext cx="10789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2676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ПРОБА 1</a:t>
            </a:r>
            <a:endParaRPr lang="en-US" sz="1040" dirty="0"/>
          </a:p>
        </p:txBody>
      </p:sp>
      <p:sp>
        <p:nvSpPr>
          <p:cNvPr id="13" name="S04_ReverseCode_Card"/>
          <p:cNvSpPr/>
          <p:nvPr/>
        </p:nvSpPr>
        <p:spPr>
          <a:xfrm>
            <a:off x="2221992" y="1719072"/>
            <a:ext cx="1298448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6510">
            <a:solidFill>
              <a:srgbClr val="F26767"/>
            </a:solidFill>
            <a:prstDash val="solid"/>
          </a:ln>
        </p:spPr>
      </p:sp>
      <p:sp>
        <p:nvSpPr>
          <p:cNvPr id="14" name="S04_ReverseCode_Dot"/>
          <p:cNvSpPr/>
          <p:nvPr/>
        </p:nvSpPr>
        <p:spPr>
          <a:xfrm>
            <a:off x="2340864" y="1856232"/>
            <a:ext cx="228600" cy="228600"/>
          </a:xfrm>
          <a:prstGeom prst="ellipse">
            <a:avLst/>
          </a:prstGeom>
          <a:solidFill>
            <a:srgbClr val="F26767"/>
          </a:solidFill>
          <a:ln w="12700">
            <a:solidFill>
              <a:srgbClr val="F26767">
                <a:alpha val="0"/>
              </a:srgbClr>
            </a:solidFill>
            <a:prstDash val="solid"/>
          </a:ln>
        </p:spPr>
      </p:sp>
      <p:sp>
        <p:nvSpPr>
          <p:cNvPr id="15" name="S04_ReverseCode_Title"/>
          <p:cNvSpPr/>
          <p:nvPr/>
        </p:nvSpPr>
        <p:spPr>
          <a:xfrm>
            <a:off x="2642616" y="181051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Код</a:t>
            </a:r>
            <a:endParaRPr lang="en-US" sz="1250" dirty="0"/>
          </a:p>
        </p:txBody>
      </p:sp>
      <p:sp>
        <p:nvSpPr>
          <p:cNvPr id="16" name="S04_ReverseCode_Subtitle"/>
          <p:cNvSpPr/>
          <p:nvPr/>
        </p:nvSpPr>
        <p:spPr>
          <a:xfrm>
            <a:off x="2642616" y="2121408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is</a:t>
            </a:r>
            <a:endParaRPr lang="en-US" sz="1050" dirty="0"/>
          </a:p>
        </p:txBody>
      </p:sp>
      <p:sp>
        <p:nvSpPr>
          <p:cNvPr id="17" name="S04_ReverseArrow1"/>
          <p:cNvSpPr/>
          <p:nvPr/>
        </p:nvSpPr>
        <p:spPr>
          <a:xfrm>
            <a:off x="3611880" y="2157984"/>
            <a:ext cx="621792" cy="914"/>
          </a:xfrm>
          <a:prstGeom prst="line">
            <a:avLst/>
          </a:prstGeom>
          <a:noFill/>
          <a:ln w="19050">
            <a:solidFill>
              <a:srgbClr val="F26767"/>
            </a:solidFill>
            <a:prstDash val="solid"/>
            <a:headEnd type="none"/>
            <a:tailEnd type="triangle"/>
          </a:ln>
        </p:spPr>
      </p:sp>
      <p:sp>
        <p:nvSpPr>
          <p:cNvPr id="18" name="S04_ReverseAgent_Card"/>
          <p:cNvSpPr/>
          <p:nvPr/>
        </p:nvSpPr>
        <p:spPr>
          <a:xfrm>
            <a:off x="4325112" y="1719072"/>
            <a:ext cx="1664208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6510">
            <a:solidFill>
              <a:srgbClr val="F26767"/>
            </a:solidFill>
            <a:prstDash val="solid"/>
          </a:ln>
        </p:spPr>
      </p:sp>
      <p:sp>
        <p:nvSpPr>
          <p:cNvPr id="19" name="S04_ReverseAgent_Dot"/>
          <p:cNvSpPr/>
          <p:nvPr/>
        </p:nvSpPr>
        <p:spPr>
          <a:xfrm>
            <a:off x="4443984" y="1856232"/>
            <a:ext cx="228600" cy="228600"/>
          </a:xfrm>
          <a:prstGeom prst="ellipse">
            <a:avLst/>
          </a:prstGeom>
          <a:solidFill>
            <a:srgbClr val="F26767"/>
          </a:solidFill>
          <a:ln w="12700">
            <a:solidFill>
              <a:srgbClr val="F26767">
                <a:alpha val="0"/>
              </a:srgbClr>
            </a:solidFill>
            <a:prstDash val="solid"/>
          </a:ln>
        </p:spPr>
      </p:sp>
      <p:sp>
        <p:nvSpPr>
          <p:cNvPr id="20" name="S04_ReverseAgent_Title"/>
          <p:cNvSpPr/>
          <p:nvPr/>
        </p:nvSpPr>
        <p:spPr>
          <a:xfrm>
            <a:off x="4745736" y="1810512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Reverse engineering</a:t>
            </a:r>
            <a:endParaRPr lang="en-US" sz="1250" dirty="0"/>
          </a:p>
        </p:txBody>
      </p:sp>
      <p:sp>
        <p:nvSpPr>
          <p:cNvPr id="21" name="S04_ReverseAgent_Subtitle"/>
          <p:cNvSpPr/>
          <p:nvPr/>
        </p:nvSpPr>
        <p:spPr>
          <a:xfrm>
            <a:off x="4745736" y="2121408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через агента</a:t>
            </a:r>
            <a:endParaRPr lang="en-US" sz="1050" dirty="0"/>
          </a:p>
        </p:txBody>
      </p:sp>
      <p:sp>
        <p:nvSpPr>
          <p:cNvPr id="22" name="S04_ReverseArrow2"/>
          <p:cNvSpPr/>
          <p:nvPr/>
        </p:nvSpPr>
        <p:spPr>
          <a:xfrm>
            <a:off x="6080760" y="2157984"/>
            <a:ext cx="530352" cy="914"/>
          </a:xfrm>
          <a:prstGeom prst="line">
            <a:avLst/>
          </a:prstGeom>
          <a:noFill/>
          <a:ln w="19050">
            <a:solidFill>
              <a:srgbClr val="F26767"/>
            </a:solidFill>
            <a:prstDash val="solid"/>
            <a:headEnd type="none"/>
            <a:tailEnd type="triangle"/>
          </a:ln>
        </p:spPr>
      </p:sp>
      <p:sp>
        <p:nvSpPr>
          <p:cNvPr id="23" name="S04_ReverseOutcome"/>
          <p:cNvSpPr/>
          <p:nvPr/>
        </p:nvSpPr>
        <p:spPr>
          <a:xfrm>
            <a:off x="6711696" y="1810512"/>
            <a:ext cx="1207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A33B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Слишком близко к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A33B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деталям имплементации</a:t>
            </a:r>
            <a:endParaRPr lang="en-US" sz="1220" dirty="0"/>
          </a:p>
        </p:txBody>
      </p:sp>
      <p:sp>
        <p:nvSpPr>
          <p:cNvPr id="24" name="S04_ConversionLane"/>
          <p:cNvSpPr/>
          <p:nvPr/>
        </p:nvSpPr>
        <p:spPr>
          <a:xfrm>
            <a:off x="658368" y="3310128"/>
            <a:ext cx="7543800" cy="1572768"/>
          </a:xfrm>
          <a:prstGeom prst="roundRect">
            <a:avLst>
              <a:gd name="adj" fmla="val 4651"/>
            </a:avLst>
          </a:prstGeom>
          <a:solidFill>
            <a:srgbClr val="E8F7F0"/>
          </a:solidFill>
          <a:ln w="12700">
            <a:solidFill>
              <a:srgbClr val="BFE9D5"/>
            </a:solidFill>
            <a:prstDash val="solid"/>
          </a:ln>
        </p:spPr>
      </p:sp>
      <p:sp>
        <p:nvSpPr>
          <p:cNvPr id="25" name="S04_ConversionLabel_Bg"/>
          <p:cNvSpPr/>
          <p:nvPr/>
        </p:nvSpPr>
        <p:spPr>
          <a:xfrm>
            <a:off x="896112" y="352044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04_ConversionLabel_Text"/>
          <p:cNvSpPr/>
          <p:nvPr/>
        </p:nvSpPr>
        <p:spPr>
          <a:xfrm>
            <a:off x="896112" y="3525012"/>
            <a:ext cx="10789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6A36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ПРОБА 2</a:t>
            </a:r>
            <a:endParaRPr lang="en-US" sz="1040" dirty="0"/>
          </a:p>
        </p:txBody>
      </p:sp>
      <p:sp>
        <p:nvSpPr>
          <p:cNvPr id="27" name="S04_ConversionSource_Card"/>
          <p:cNvSpPr/>
          <p:nvPr/>
        </p:nvSpPr>
        <p:spPr>
          <a:xfrm>
            <a:off x="2221992" y="3493008"/>
            <a:ext cx="1298448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6510">
            <a:solidFill>
              <a:srgbClr val="16A36A"/>
            </a:solidFill>
            <a:prstDash val="solid"/>
          </a:ln>
        </p:spPr>
      </p:sp>
      <p:sp>
        <p:nvSpPr>
          <p:cNvPr id="28" name="S04_ConversionSource_Dot"/>
          <p:cNvSpPr/>
          <p:nvPr/>
        </p:nvSpPr>
        <p:spPr>
          <a:xfrm>
            <a:off x="2340864" y="3630168"/>
            <a:ext cx="228600" cy="228600"/>
          </a:xfrm>
          <a:prstGeom prst="ellipse">
            <a:avLst/>
          </a:prstGeom>
          <a:solidFill>
            <a:srgbClr val="16A36A"/>
          </a:solidFill>
          <a:ln w="12700">
            <a:solidFill>
              <a:srgbClr val="16A36A">
                <a:alpha val="0"/>
              </a:srgbClr>
            </a:solidFill>
            <a:prstDash val="solid"/>
          </a:ln>
        </p:spPr>
      </p:sp>
      <p:sp>
        <p:nvSpPr>
          <p:cNvPr id="29" name="S04_ConversionSource_Title"/>
          <p:cNvSpPr/>
          <p:nvPr/>
        </p:nvSpPr>
        <p:spPr>
          <a:xfrm>
            <a:off x="2642616" y="3584448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Confluence</a:t>
            </a:r>
            <a:endParaRPr lang="en-US" sz="1250" dirty="0"/>
          </a:p>
        </p:txBody>
      </p:sp>
      <p:sp>
        <p:nvSpPr>
          <p:cNvPr id="30" name="S04_ConversionSource_Subtitle"/>
          <p:cNvSpPr/>
          <p:nvPr/>
        </p:nvSpPr>
        <p:spPr>
          <a:xfrm>
            <a:off x="2642616" y="3895344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структура знаний</a:t>
            </a:r>
            <a:endParaRPr lang="en-US" sz="1050" dirty="0"/>
          </a:p>
        </p:txBody>
      </p:sp>
      <p:sp>
        <p:nvSpPr>
          <p:cNvPr id="31" name="S04_ConversionArrow1"/>
          <p:cNvSpPr/>
          <p:nvPr/>
        </p:nvSpPr>
        <p:spPr>
          <a:xfrm>
            <a:off x="3611880" y="3931920"/>
            <a:ext cx="621792" cy="914"/>
          </a:xfrm>
          <a:prstGeom prst="line">
            <a:avLst/>
          </a:prstGeom>
          <a:noFill/>
          <a:ln w="19050">
            <a:solidFill>
              <a:srgbClr val="16A36A"/>
            </a:solidFill>
            <a:prstDash val="solid"/>
            <a:headEnd type="none"/>
            <a:tailEnd type="triangle"/>
          </a:ln>
        </p:spPr>
      </p:sp>
      <p:sp>
        <p:nvSpPr>
          <p:cNvPr id="32" name="S04_ConversionAgent_Card"/>
          <p:cNvSpPr/>
          <p:nvPr/>
        </p:nvSpPr>
        <p:spPr>
          <a:xfrm>
            <a:off x="4325112" y="3493008"/>
            <a:ext cx="1664208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6510">
            <a:solidFill>
              <a:srgbClr val="16A36A"/>
            </a:solidFill>
            <a:prstDash val="solid"/>
          </a:ln>
        </p:spPr>
      </p:sp>
      <p:sp>
        <p:nvSpPr>
          <p:cNvPr id="33" name="S04_ConversionAgent_Dot"/>
          <p:cNvSpPr/>
          <p:nvPr/>
        </p:nvSpPr>
        <p:spPr>
          <a:xfrm>
            <a:off x="4443984" y="3630168"/>
            <a:ext cx="228600" cy="228600"/>
          </a:xfrm>
          <a:prstGeom prst="ellipse">
            <a:avLst/>
          </a:prstGeom>
          <a:solidFill>
            <a:srgbClr val="16A36A"/>
          </a:solidFill>
          <a:ln w="12700">
            <a:solidFill>
              <a:srgbClr val="16A36A">
                <a:alpha val="0"/>
              </a:srgbClr>
            </a:solidFill>
            <a:prstDash val="solid"/>
          </a:ln>
        </p:spPr>
      </p:sp>
      <p:sp>
        <p:nvSpPr>
          <p:cNvPr id="34" name="S04_ConversionAgent_Title"/>
          <p:cNvSpPr/>
          <p:nvPr/>
        </p:nvSpPr>
        <p:spPr>
          <a:xfrm>
            <a:off x="4745736" y="3584448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Конвертация</a:t>
            </a:r>
            <a:endParaRPr lang="en-US" sz="1250" dirty="0"/>
          </a:p>
        </p:txBody>
      </p:sp>
      <p:sp>
        <p:nvSpPr>
          <p:cNvPr id="35" name="S04_ConversionAgent_Subtitle"/>
          <p:cNvSpPr/>
          <p:nvPr/>
        </p:nvSpPr>
        <p:spPr>
          <a:xfrm>
            <a:off x="4745736" y="3895344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собственные skills</a:t>
            </a:r>
            <a:endParaRPr lang="en-US" sz="1050" dirty="0"/>
          </a:p>
        </p:txBody>
      </p:sp>
      <p:sp>
        <p:nvSpPr>
          <p:cNvPr id="36" name="S04_ConversionArrow2"/>
          <p:cNvSpPr/>
          <p:nvPr/>
        </p:nvSpPr>
        <p:spPr>
          <a:xfrm>
            <a:off x="6080760" y="3931920"/>
            <a:ext cx="530352" cy="914"/>
          </a:xfrm>
          <a:prstGeom prst="line">
            <a:avLst/>
          </a:prstGeom>
          <a:noFill/>
          <a:ln w="19050">
            <a:solidFill>
              <a:srgbClr val="16A36A"/>
            </a:solidFill>
            <a:prstDash val="solid"/>
            <a:headEnd type="none"/>
            <a:tailEnd type="triangle"/>
          </a:ln>
        </p:spPr>
      </p:sp>
      <p:sp>
        <p:nvSpPr>
          <p:cNvPr id="37" name="S04_ConversionOutcome"/>
          <p:cNvSpPr/>
          <p:nvPr/>
        </p:nvSpPr>
        <p:spPr>
          <a:xfrm>
            <a:off x="6684264" y="3593592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8765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Структурированный MD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8765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принят аналитиками</a:t>
            </a:r>
            <a:endParaRPr lang="en-US" sz="1220" dirty="0"/>
          </a:p>
        </p:txBody>
      </p:sp>
      <p:sp>
        <p:nvSpPr>
          <p:cNvPr id="38" name="S04_PilotResultCard"/>
          <p:cNvSpPr/>
          <p:nvPr/>
        </p:nvSpPr>
        <p:spPr>
          <a:xfrm>
            <a:off x="8467344" y="1536192"/>
            <a:ext cx="3035808" cy="3346704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39021696150000000" dist="104057856400000000" dir="583200000000000000000">
              <a:srgbClr val="22304A">
                <a:alpha val="12000000000000000000"/>
              </a:srgbClr>
            </a:outerShdw>
          </a:effectLst>
        </p:spPr>
      </p:sp>
      <p:sp>
        <p:nvSpPr>
          <p:cNvPr id="39" name="S04_PilotDocsNumber"/>
          <p:cNvSpPr/>
          <p:nvPr/>
        </p:nvSpPr>
        <p:spPr>
          <a:xfrm>
            <a:off x="8814816" y="1810512"/>
            <a:ext cx="1243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≈100</a:t>
            </a:r>
            <a:endParaRPr lang="en-US" sz="3400" dirty="0"/>
          </a:p>
        </p:txBody>
      </p:sp>
      <p:sp>
        <p:nvSpPr>
          <p:cNvPr id="40" name="S04_PilotDocsLabel"/>
          <p:cNvSpPr/>
          <p:nvPr/>
        </p:nvSpPr>
        <p:spPr>
          <a:xfrm>
            <a:off x="10021824" y="19568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документов в Git</a:t>
            </a:r>
            <a:endParaRPr lang="en-US" sz="1350" dirty="0"/>
          </a:p>
        </p:txBody>
      </p:sp>
      <p:sp>
        <p:nvSpPr>
          <p:cNvPr id="41" name="S04_PilotDivider"/>
          <p:cNvSpPr/>
          <p:nvPr/>
        </p:nvSpPr>
        <p:spPr>
          <a:xfrm>
            <a:off x="8814816" y="2587752"/>
            <a:ext cx="2304288" cy="914"/>
          </a:xfrm>
          <a:prstGeom prst="line">
            <a:avLst/>
          </a:prstGeom>
          <a:noFill/>
          <a:ln w="1143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42" name="S04_PilotTag1_Bg"/>
          <p:cNvSpPr/>
          <p:nvPr/>
        </p:nvSpPr>
        <p:spPr>
          <a:xfrm>
            <a:off x="8769096" y="2862072"/>
            <a:ext cx="1042416" cy="347472"/>
          </a:xfrm>
          <a:prstGeom prst="roundRect">
            <a:avLst>
              <a:gd name="adj" fmla="val 21053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43" name="S04_PilotTag1_Text"/>
          <p:cNvSpPr/>
          <p:nvPr/>
        </p:nvSpPr>
        <p:spPr>
          <a:xfrm>
            <a:off x="8769096" y="2866644"/>
            <a:ext cx="1042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workflow</a:t>
            </a:r>
            <a:endParaRPr lang="en-US" sz="980" dirty="0"/>
          </a:p>
        </p:txBody>
      </p:sp>
      <p:sp>
        <p:nvSpPr>
          <p:cNvPr id="44" name="S04_PilotTag2_Bg"/>
          <p:cNvSpPr/>
          <p:nvPr/>
        </p:nvSpPr>
        <p:spPr>
          <a:xfrm>
            <a:off x="9957816" y="2862072"/>
            <a:ext cx="1042416" cy="347472"/>
          </a:xfrm>
          <a:prstGeom prst="roundRect">
            <a:avLst>
              <a:gd name="adj" fmla="val 21053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45" name="S04_PilotTag2_Text"/>
          <p:cNvSpPr/>
          <p:nvPr/>
        </p:nvSpPr>
        <p:spPr>
          <a:xfrm>
            <a:off x="9957816" y="2866644"/>
            <a:ext cx="1042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DBML</a:t>
            </a:r>
            <a:endParaRPr lang="en-US" sz="980" dirty="0"/>
          </a:p>
        </p:txBody>
      </p:sp>
      <p:sp>
        <p:nvSpPr>
          <p:cNvPr id="46" name="S04_PilotTag3_Bg"/>
          <p:cNvSpPr/>
          <p:nvPr/>
        </p:nvSpPr>
        <p:spPr>
          <a:xfrm>
            <a:off x="8769096" y="3392424"/>
            <a:ext cx="1042416" cy="347472"/>
          </a:xfrm>
          <a:prstGeom prst="roundRect">
            <a:avLst>
              <a:gd name="adj" fmla="val 21053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47" name="S04_PilotTag3_Text"/>
          <p:cNvSpPr/>
          <p:nvPr/>
        </p:nvSpPr>
        <p:spPr>
          <a:xfrm>
            <a:off x="8769096" y="3396996"/>
            <a:ext cx="1042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OpenAPI</a:t>
            </a:r>
            <a:endParaRPr lang="en-US" sz="980" dirty="0"/>
          </a:p>
        </p:txBody>
      </p:sp>
      <p:sp>
        <p:nvSpPr>
          <p:cNvPr id="48" name="S04_PilotTag4_Bg"/>
          <p:cNvSpPr/>
          <p:nvPr/>
        </p:nvSpPr>
        <p:spPr>
          <a:xfrm>
            <a:off x="9957816" y="3392424"/>
            <a:ext cx="1042416" cy="347472"/>
          </a:xfrm>
          <a:prstGeom prst="roundRect">
            <a:avLst>
              <a:gd name="adj" fmla="val 21053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49" name="S04_PilotTag4_Text"/>
          <p:cNvSpPr/>
          <p:nvPr/>
        </p:nvSpPr>
        <p:spPr>
          <a:xfrm>
            <a:off x="9957816" y="3396996"/>
            <a:ext cx="1042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integrations</a:t>
            </a:r>
            <a:endParaRPr lang="en-US" sz="980" dirty="0"/>
          </a:p>
        </p:txBody>
      </p:sp>
      <p:sp>
        <p:nvSpPr>
          <p:cNvPr id="50" name="S04_PilotTag5_Bg"/>
          <p:cNvSpPr/>
          <p:nvPr/>
        </p:nvSpPr>
        <p:spPr>
          <a:xfrm>
            <a:off x="8769096" y="3922776"/>
            <a:ext cx="1042416" cy="347472"/>
          </a:xfrm>
          <a:prstGeom prst="roundRect">
            <a:avLst>
              <a:gd name="adj" fmla="val 21053"/>
            </a:avLst>
          </a:prstGeom>
          <a:solidFill>
            <a:srgbClr val="FDEBEB"/>
          </a:solidFill>
          <a:ln w="12700">
            <a:solidFill>
              <a:srgbClr val="FDEBEB">
                <a:alpha val="0"/>
              </a:srgbClr>
            </a:solidFill>
            <a:prstDash val="solid"/>
          </a:ln>
        </p:spPr>
      </p:sp>
      <p:sp>
        <p:nvSpPr>
          <p:cNvPr id="51" name="S04_PilotTag5_Text"/>
          <p:cNvSpPr/>
          <p:nvPr/>
        </p:nvSpPr>
        <p:spPr>
          <a:xfrm>
            <a:off x="8769096" y="3927348"/>
            <a:ext cx="1042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2676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</a:t>
            </a:r>
            <a:endParaRPr lang="en-US" sz="980" dirty="0"/>
          </a:p>
        </p:txBody>
      </p:sp>
      <p:sp>
        <p:nvSpPr>
          <p:cNvPr id="52" name="S04_PilotTag6_Bg"/>
          <p:cNvSpPr/>
          <p:nvPr/>
        </p:nvSpPr>
        <p:spPr>
          <a:xfrm>
            <a:off x="9957816" y="3922776"/>
            <a:ext cx="104241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04_PilotTag6_Text"/>
          <p:cNvSpPr/>
          <p:nvPr/>
        </p:nvSpPr>
        <p:spPr>
          <a:xfrm>
            <a:off x="9957816" y="3927348"/>
            <a:ext cx="1042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settings</a:t>
            </a:r>
            <a:endParaRPr lang="en-US" sz="980" dirty="0"/>
          </a:p>
        </p:txBody>
      </p:sp>
      <p:sp>
        <p:nvSpPr>
          <p:cNvPr id="54" name="S04_AbstractionThesisCard"/>
          <p:cNvSpPr/>
          <p:nvPr/>
        </p:nvSpPr>
        <p:spPr>
          <a:xfrm>
            <a:off x="658368" y="5202936"/>
            <a:ext cx="10844784" cy="786384"/>
          </a:xfrm>
          <a:prstGeom prst="roundRect">
            <a:avLst>
              <a:gd name="adj" fmla="val 9302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55" name="S04_AbstractionThesis"/>
          <p:cNvSpPr/>
          <p:nvPr/>
        </p:nvSpPr>
        <p:spPr>
          <a:xfrm>
            <a:off x="941832" y="5404104"/>
            <a:ext cx="10259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2036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Наш исходный актив — зрелая аналитика. SDD должен подключиться к ней, а не заменить её восстановлением из кода.</a:t>
            </a:r>
            <a:endParaRPr lang="en-US" sz="15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5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ОБЩАЯ ОСНОВА</a:t>
            </a:r>
            <a:endParaRPr lang="en-US" sz="850" dirty="0"/>
          </a:p>
        </p:txBody>
      </p:sp>
      <p:sp>
        <p:nvSpPr>
          <p:cNvPr id="4" name="S05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Базовый OpenSpec — сильная дисциплина, которую мы сохраняем</a:t>
            </a:r>
            <a:endParaRPr lang="en-US" sz="2850" dirty="0"/>
          </a:p>
        </p:txBody>
      </p:sp>
      <p:sp>
        <p:nvSpPr>
          <p:cNvPr id="5" name="S05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 по функциональной области — практичный способ начать incremental SDD.</a:t>
            </a:r>
            <a:endParaRPr lang="en-US" sz="1320" dirty="0"/>
          </a:p>
        </p:txBody>
      </p:sp>
      <p:sp>
        <p:nvSpPr>
          <p:cNvPr id="6" name="S05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5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830" dirty="0"/>
          </a:p>
        </p:txBody>
      </p:sp>
      <p:sp>
        <p:nvSpPr>
          <p:cNvPr id="8" name="S05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5_LifecycleCard1"/>
          <p:cNvSpPr/>
          <p:nvPr/>
        </p:nvSpPr>
        <p:spPr>
          <a:xfrm>
            <a:off x="658368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11" name="S05_LifecycleText1"/>
          <p:cNvSpPr/>
          <p:nvPr/>
        </p:nvSpPr>
        <p:spPr>
          <a:xfrm>
            <a:off x="731520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init</a:t>
            </a:r>
            <a:endParaRPr lang="en-US" sz="1230" dirty="0"/>
          </a:p>
        </p:txBody>
      </p:sp>
      <p:sp>
        <p:nvSpPr>
          <p:cNvPr id="12" name="S05_LifecycleArrow1"/>
          <p:cNvSpPr/>
          <p:nvPr/>
        </p:nvSpPr>
        <p:spPr>
          <a:xfrm>
            <a:off x="1993392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3" name="S05_LifecycleCard2"/>
          <p:cNvSpPr/>
          <p:nvPr/>
        </p:nvSpPr>
        <p:spPr>
          <a:xfrm>
            <a:off x="2221992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14" name="S05_LifecycleText2"/>
          <p:cNvSpPr/>
          <p:nvPr/>
        </p:nvSpPr>
        <p:spPr>
          <a:xfrm>
            <a:off x="2295144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</a:t>
            </a:r>
            <a:endParaRPr lang="en-US" sz="1230" dirty="0"/>
          </a:p>
        </p:txBody>
      </p:sp>
      <p:sp>
        <p:nvSpPr>
          <p:cNvPr id="15" name="S05_LifecycleArrow2"/>
          <p:cNvSpPr/>
          <p:nvPr/>
        </p:nvSpPr>
        <p:spPr>
          <a:xfrm>
            <a:off x="3557016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6" name="S05_LifecycleCard3"/>
          <p:cNvSpPr/>
          <p:nvPr/>
        </p:nvSpPr>
        <p:spPr>
          <a:xfrm>
            <a:off x="3785616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7657D5"/>
            </a:solidFill>
            <a:prstDash val="solid"/>
          </a:ln>
        </p:spPr>
      </p:sp>
      <p:sp>
        <p:nvSpPr>
          <p:cNvPr id="17" name="S05_LifecycleText3"/>
          <p:cNvSpPr/>
          <p:nvPr/>
        </p:nvSpPr>
        <p:spPr>
          <a:xfrm>
            <a:off x="3858768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approve</a:t>
            </a:r>
            <a:endParaRPr lang="en-US" sz="1230" dirty="0"/>
          </a:p>
        </p:txBody>
      </p:sp>
      <p:sp>
        <p:nvSpPr>
          <p:cNvPr id="18" name="S05_LifecycleArrow3"/>
          <p:cNvSpPr/>
          <p:nvPr/>
        </p:nvSpPr>
        <p:spPr>
          <a:xfrm>
            <a:off x="5120640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9" name="S05_LifecycleCard4"/>
          <p:cNvSpPr/>
          <p:nvPr/>
        </p:nvSpPr>
        <p:spPr>
          <a:xfrm>
            <a:off x="5349240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7657D5"/>
            </a:solidFill>
            <a:prstDash val="solid"/>
          </a:ln>
        </p:spPr>
      </p:sp>
      <p:sp>
        <p:nvSpPr>
          <p:cNvPr id="20" name="S05_LifecycleText4"/>
          <p:cNvSpPr/>
          <p:nvPr/>
        </p:nvSpPr>
        <p:spPr>
          <a:xfrm>
            <a:off x="5422392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</a:t>
            </a:r>
            <a:endParaRPr lang="en-US" sz="1230" dirty="0"/>
          </a:p>
        </p:txBody>
      </p:sp>
      <p:sp>
        <p:nvSpPr>
          <p:cNvPr id="21" name="S05_LifecycleArrow4"/>
          <p:cNvSpPr/>
          <p:nvPr/>
        </p:nvSpPr>
        <p:spPr>
          <a:xfrm>
            <a:off x="6684264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2" name="S05_LifecycleCard5"/>
          <p:cNvSpPr/>
          <p:nvPr/>
        </p:nvSpPr>
        <p:spPr>
          <a:xfrm>
            <a:off x="6912864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23" name="S05_LifecycleText5"/>
          <p:cNvSpPr/>
          <p:nvPr/>
        </p:nvSpPr>
        <p:spPr>
          <a:xfrm>
            <a:off x="6986016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implement</a:t>
            </a:r>
            <a:endParaRPr lang="en-US" sz="1230" dirty="0"/>
          </a:p>
        </p:txBody>
      </p:sp>
      <p:sp>
        <p:nvSpPr>
          <p:cNvPr id="24" name="S05_LifecycleArrow5"/>
          <p:cNvSpPr/>
          <p:nvPr/>
        </p:nvSpPr>
        <p:spPr>
          <a:xfrm>
            <a:off x="8247888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5" name="S05_LifecycleCard6"/>
          <p:cNvSpPr/>
          <p:nvPr/>
        </p:nvSpPr>
        <p:spPr>
          <a:xfrm>
            <a:off x="8476488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26" name="S05_LifecycleText6"/>
          <p:cNvSpPr/>
          <p:nvPr/>
        </p:nvSpPr>
        <p:spPr>
          <a:xfrm>
            <a:off x="8549640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 verify</a:t>
            </a:r>
            <a:endParaRPr lang="en-US" sz="1230" dirty="0"/>
          </a:p>
        </p:txBody>
      </p:sp>
      <p:sp>
        <p:nvSpPr>
          <p:cNvPr id="27" name="S05_LifecycleArrow6"/>
          <p:cNvSpPr/>
          <p:nvPr/>
        </p:nvSpPr>
        <p:spPr>
          <a:xfrm>
            <a:off x="9811512" y="1837944"/>
            <a:ext cx="182880" cy="914"/>
          </a:xfrm>
          <a:prstGeom prst="line">
            <a:avLst/>
          </a:prstGeom>
          <a:noFill/>
          <a:ln w="1778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8" name="S05_LifecycleCard7"/>
          <p:cNvSpPr/>
          <p:nvPr/>
        </p:nvSpPr>
        <p:spPr>
          <a:xfrm>
            <a:off x="10040112" y="1481328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29" name="S05_LifecycleText7"/>
          <p:cNvSpPr/>
          <p:nvPr/>
        </p:nvSpPr>
        <p:spPr>
          <a:xfrm>
            <a:off x="10113264" y="16459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archive</a:t>
            </a:r>
            <a:endParaRPr lang="en-US" sz="1230" dirty="0"/>
          </a:p>
        </p:txBody>
      </p:sp>
      <p:sp>
        <p:nvSpPr>
          <p:cNvPr id="30" name="S05_FODirectoryCard"/>
          <p:cNvSpPr/>
          <p:nvPr/>
        </p:nvSpPr>
        <p:spPr>
          <a:xfrm>
            <a:off x="658368" y="2578608"/>
            <a:ext cx="5138928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495575541105000000000" dist="1.32153477628e+21" dir="3.4992e+25">
              <a:srgbClr val="22304A">
                <a:alpha val="1.2e+24"/>
              </a:srgbClr>
            </a:outerShdw>
          </a:effectLst>
        </p:spPr>
      </p:sp>
      <p:sp>
        <p:nvSpPr>
          <p:cNvPr id="31" name="S05_FOBaselineLabel_Bg"/>
          <p:cNvSpPr/>
          <p:nvPr/>
        </p:nvSpPr>
        <p:spPr>
          <a:xfrm>
            <a:off x="932688" y="2834640"/>
            <a:ext cx="1975104" cy="384048"/>
          </a:xfrm>
          <a:prstGeom prst="roundRect">
            <a:avLst>
              <a:gd name="adj" fmla="val 19048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32" name="S05_FOBaselineLabel_Text"/>
          <p:cNvSpPr/>
          <p:nvPr/>
        </p:nvSpPr>
        <p:spPr>
          <a:xfrm>
            <a:off x="932688" y="2839212"/>
            <a:ext cx="19751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BASELINE ПО ФО</a:t>
            </a:r>
            <a:endParaRPr lang="en-US" sz="1080" dirty="0"/>
          </a:p>
        </p:txBody>
      </p:sp>
      <p:sp>
        <p:nvSpPr>
          <p:cNvPr id="33" name="S05_FOFolderRoot_Body"/>
          <p:cNvSpPr/>
          <p:nvPr/>
        </p:nvSpPr>
        <p:spPr>
          <a:xfrm>
            <a:off x="950976" y="3542934"/>
            <a:ext cx="530352" cy="306690"/>
          </a:xfrm>
          <a:prstGeom prst="roundRect">
            <a:avLst>
              <a:gd name="adj" fmla="val 11926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4" name="S05_FOFolderRoot_Tab"/>
          <p:cNvSpPr/>
          <p:nvPr/>
        </p:nvSpPr>
        <p:spPr>
          <a:xfrm>
            <a:off x="1024128" y="3456432"/>
            <a:ext cx="243962" cy="149413"/>
          </a:xfrm>
          <a:prstGeom prst="roundRect">
            <a:avLst>
              <a:gd name="adj" fmla="val 1836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5" name="S05_FOFolderTitle"/>
          <p:cNvSpPr/>
          <p:nvPr/>
        </p:nvSpPr>
        <p:spPr>
          <a:xfrm>
            <a:off x="1664208" y="34930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openspec/specs/&lt;spec-name&gt;/</a:t>
            </a:r>
            <a:endParaRPr lang="en-US" sz="1320" dirty="0"/>
          </a:p>
        </p:txBody>
      </p:sp>
      <p:sp>
        <p:nvSpPr>
          <p:cNvPr id="36" name="S05_FOFile1_Page"/>
          <p:cNvSpPr/>
          <p:nvPr/>
        </p:nvSpPr>
        <p:spPr>
          <a:xfrm>
            <a:off x="1024128" y="4096512"/>
            <a:ext cx="310896" cy="384048"/>
          </a:xfrm>
          <a:prstGeom prst="roundRect">
            <a:avLst>
              <a:gd name="adj" fmla="val 8824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7" name="S05_FOFile1_Line1"/>
          <p:cNvSpPr/>
          <p:nvPr/>
        </p:nvSpPr>
        <p:spPr>
          <a:xfrm>
            <a:off x="1086307" y="4230929"/>
            <a:ext cx="186538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38" name="S05_FOFile1_Line2"/>
          <p:cNvSpPr/>
          <p:nvPr/>
        </p:nvSpPr>
        <p:spPr>
          <a:xfrm>
            <a:off x="1086307" y="4307738"/>
            <a:ext cx="161666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39" name="S05_FOFile1_Line3"/>
          <p:cNvSpPr/>
          <p:nvPr/>
        </p:nvSpPr>
        <p:spPr>
          <a:xfrm>
            <a:off x="1086307" y="4384548"/>
            <a:ext cx="130576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40" name="S05_FOFileLabel1"/>
          <p:cNvSpPr/>
          <p:nvPr/>
        </p:nvSpPr>
        <p:spPr>
          <a:xfrm>
            <a:off x="1444752" y="417880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spec.md</a:t>
            </a:r>
            <a:endParaRPr lang="en-US" sz="1070" dirty="0"/>
          </a:p>
        </p:txBody>
      </p:sp>
      <p:sp>
        <p:nvSpPr>
          <p:cNvPr id="41" name="S05_FOFile2_Page"/>
          <p:cNvSpPr/>
          <p:nvPr/>
        </p:nvSpPr>
        <p:spPr>
          <a:xfrm>
            <a:off x="3154680" y="4096512"/>
            <a:ext cx="310896" cy="384048"/>
          </a:xfrm>
          <a:prstGeom prst="roundRect">
            <a:avLst>
              <a:gd name="adj" fmla="val 8824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2" name="S05_FOFile2_Line1"/>
          <p:cNvSpPr/>
          <p:nvPr/>
        </p:nvSpPr>
        <p:spPr>
          <a:xfrm>
            <a:off x="3216859" y="4230929"/>
            <a:ext cx="186538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43" name="S05_FOFile2_Line2"/>
          <p:cNvSpPr/>
          <p:nvPr/>
        </p:nvSpPr>
        <p:spPr>
          <a:xfrm>
            <a:off x="3216859" y="4307738"/>
            <a:ext cx="161666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44" name="S05_FOFile2_Line3"/>
          <p:cNvSpPr/>
          <p:nvPr/>
        </p:nvSpPr>
        <p:spPr>
          <a:xfrm>
            <a:off x="3216859" y="4384548"/>
            <a:ext cx="130576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45" name="S05_FOFileLabel2"/>
          <p:cNvSpPr/>
          <p:nvPr/>
        </p:nvSpPr>
        <p:spPr>
          <a:xfrm>
            <a:off x="3575304" y="417880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data-model.md</a:t>
            </a:r>
            <a:endParaRPr lang="en-US" sz="1070" dirty="0"/>
          </a:p>
        </p:txBody>
      </p:sp>
      <p:sp>
        <p:nvSpPr>
          <p:cNvPr id="46" name="S05_FOFile3_Page"/>
          <p:cNvSpPr/>
          <p:nvPr/>
        </p:nvSpPr>
        <p:spPr>
          <a:xfrm>
            <a:off x="1024128" y="4599432"/>
            <a:ext cx="310896" cy="384048"/>
          </a:xfrm>
          <a:prstGeom prst="roundRect">
            <a:avLst>
              <a:gd name="adj" fmla="val 8824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7" name="S05_FOFile3_Line1"/>
          <p:cNvSpPr/>
          <p:nvPr/>
        </p:nvSpPr>
        <p:spPr>
          <a:xfrm>
            <a:off x="1086307" y="4733849"/>
            <a:ext cx="186538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48" name="S05_FOFile3_Line2"/>
          <p:cNvSpPr/>
          <p:nvPr/>
        </p:nvSpPr>
        <p:spPr>
          <a:xfrm>
            <a:off x="1086307" y="4810658"/>
            <a:ext cx="161666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49" name="S05_FOFile3_Line3"/>
          <p:cNvSpPr/>
          <p:nvPr/>
        </p:nvSpPr>
        <p:spPr>
          <a:xfrm>
            <a:off x="1086307" y="4887468"/>
            <a:ext cx="130576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50" name="S05_FOFileLabel3"/>
          <p:cNvSpPr/>
          <p:nvPr/>
        </p:nvSpPr>
        <p:spPr>
          <a:xfrm>
            <a:off x="1444752" y="468172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api.md</a:t>
            </a:r>
            <a:endParaRPr lang="en-US" sz="1070" dirty="0"/>
          </a:p>
        </p:txBody>
      </p:sp>
      <p:sp>
        <p:nvSpPr>
          <p:cNvPr id="51" name="S05_FOFile4_Page"/>
          <p:cNvSpPr/>
          <p:nvPr/>
        </p:nvSpPr>
        <p:spPr>
          <a:xfrm>
            <a:off x="3154680" y="4599432"/>
            <a:ext cx="310896" cy="384048"/>
          </a:xfrm>
          <a:prstGeom prst="roundRect">
            <a:avLst>
              <a:gd name="adj" fmla="val 8824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2" name="S05_FOFile4_Line1"/>
          <p:cNvSpPr/>
          <p:nvPr/>
        </p:nvSpPr>
        <p:spPr>
          <a:xfrm>
            <a:off x="3216859" y="4733849"/>
            <a:ext cx="186538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53" name="S05_FOFile4_Line2"/>
          <p:cNvSpPr/>
          <p:nvPr/>
        </p:nvSpPr>
        <p:spPr>
          <a:xfrm>
            <a:off x="3216859" y="4810658"/>
            <a:ext cx="161666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54" name="S05_FOFile4_Line3"/>
          <p:cNvSpPr/>
          <p:nvPr/>
        </p:nvSpPr>
        <p:spPr>
          <a:xfrm>
            <a:off x="3216859" y="4887468"/>
            <a:ext cx="130576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55" name="S05_FOFileLabel4"/>
          <p:cNvSpPr/>
          <p:nvPr/>
        </p:nvSpPr>
        <p:spPr>
          <a:xfrm>
            <a:off x="3575304" y="468172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open-question.md</a:t>
            </a:r>
            <a:endParaRPr lang="en-US" sz="1070" dirty="0"/>
          </a:p>
        </p:txBody>
      </p:sp>
      <p:sp>
        <p:nvSpPr>
          <p:cNvPr id="56" name="S05_FOFile5_Page"/>
          <p:cNvSpPr/>
          <p:nvPr/>
        </p:nvSpPr>
        <p:spPr>
          <a:xfrm>
            <a:off x="1024128" y="5102352"/>
            <a:ext cx="310896" cy="384048"/>
          </a:xfrm>
          <a:prstGeom prst="roundRect">
            <a:avLst>
              <a:gd name="adj" fmla="val 8824"/>
            </a:avLst>
          </a:prstGeom>
          <a:solidFill>
            <a:srgbClr val="EAF0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7" name="S05_FOFile5_Line1"/>
          <p:cNvSpPr/>
          <p:nvPr/>
        </p:nvSpPr>
        <p:spPr>
          <a:xfrm>
            <a:off x="1086307" y="5236769"/>
            <a:ext cx="186538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58" name="S05_FOFile5_Line2"/>
          <p:cNvSpPr/>
          <p:nvPr/>
        </p:nvSpPr>
        <p:spPr>
          <a:xfrm>
            <a:off x="1086307" y="5313578"/>
            <a:ext cx="161666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59" name="S05_FOFile5_Line3"/>
          <p:cNvSpPr/>
          <p:nvPr/>
        </p:nvSpPr>
        <p:spPr>
          <a:xfrm>
            <a:off x="1086307" y="5390388"/>
            <a:ext cx="130576" cy="914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60" name="S05_FOFileLabel5"/>
          <p:cNvSpPr/>
          <p:nvPr/>
        </p:nvSpPr>
        <p:spPr>
          <a:xfrm>
            <a:off x="1444752" y="518464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business-rules.md</a:t>
            </a:r>
            <a:endParaRPr lang="en-US" sz="1070" dirty="0"/>
          </a:p>
        </p:txBody>
      </p:sp>
      <p:sp>
        <p:nvSpPr>
          <p:cNvPr id="61" name="S05_DefaultStrengthsCard"/>
          <p:cNvSpPr/>
          <p:nvPr/>
        </p:nvSpPr>
        <p:spPr>
          <a:xfrm>
            <a:off x="6062472" y="2578608"/>
            <a:ext cx="5440680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6.2938093720335e+24" dist="1.6783491658756e+25" dir="2.09952e+30">
              <a:srgbClr val="22304A">
                <a:alpha val="1.2e+29"/>
              </a:srgbClr>
            </a:outerShdw>
          </a:effectLst>
        </p:spPr>
      </p:sp>
      <p:sp>
        <p:nvSpPr>
          <p:cNvPr id="62" name="S05_DefaultStrengthsTitle"/>
          <p:cNvSpPr/>
          <p:nvPr/>
        </p:nvSpPr>
        <p:spPr>
          <a:xfrm>
            <a:off x="6382512" y="2862072"/>
            <a:ext cx="4480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этот подход хорошо решает</a:t>
            </a:r>
            <a:endParaRPr lang="en-US" sz="1720" dirty="0"/>
          </a:p>
        </p:txBody>
      </p:sp>
      <p:sp>
        <p:nvSpPr>
          <p:cNvPr id="63" name="S05_DefaultStrength1_Dot"/>
          <p:cNvSpPr/>
          <p:nvPr/>
        </p:nvSpPr>
        <p:spPr>
          <a:xfrm>
            <a:off x="6400800" y="3529584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64" name="S05_DefaultStrength1_Text"/>
          <p:cNvSpPr/>
          <p:nvPr/>
        </p:nvSpPr>
        <p:spPr>
          <a:xfrm>
            <a:off x="6583680" y="3410712"/>
            <a:ext cx="4251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нужно восстанавливать весь сервис сразу</a:t>
            </a:r>
            <a:endParaRPr lang="en-US" sz="1320" dirty="0"/>
          </a:p>
        </p:txBody>
      </p:sp>
      <p:sp>
        <p:nvSpPr>
          <p:cNvPr id="65" name="S05_DefaultStrength2_Dot"/>
          <p:cNvSpPr/>
          <p:nvPr/>
        </p:nvSpPr>
        <p:spPr>
          <a:xfrm>
            <a:off x="6400800" y="4069080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66" name="S05_DefaultStrength2_Text"/>
          <p:cNvSpPr/>
          <p:nvPr/>
        </p:nvSpPr>
        <p:spPr>
          <a:xfrm>
            <a:off x="6583680" y="3950208"/>
            <a:ext cx="4251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контекст ограничен выбранной областью</a:t>
            </a:r>
            <a:endParaRPr lang="en-US" sz="1320" dirty="0"/>
          </a:p>
        </p:txBody>
      </p:sp>
      <p:sp>
        <p:nvSpPr>
          <p:cNvPr id="67" name="S05_DefaultStrength3_Dot"/>
          <p:cNvSpPr/>
          <p:nvPr/>
        </p:nvSpPr>
        <p:spPr>
          <a:xfrm>
            <a:off x="6400800" y="4608576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68" name="S05_DefaultStrength3_Text"/>
          <p:cNvSpPr/>
          <p:nvPr/>
        </p:nvSpPr>
        <p:spPr>
          <a:xfrm>
            <a:off x="6583680" y="4489704"/>
            <a:ext cx="4251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подходит для локального, хорошо ограниченного change</a:t>
            </a:r>
            <a:endParaRPr lang="en-US" sz="1320" dirty="0"/>
          </a:p>
        </p:txBody>
      </p:sp>
      <p:sp>
        <p:nvSpPr>
          <p:cNvPr id="69" name="S05_DefaultStrength4_Dot"/>
          <p:cNvSpPr/>
          <p:nvPr/>
        </p:nvSpPr>
        <p:spPr>
          <a:xfrm>
            <a:off x="6400800" y="5148072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70" name="S05_DefaultStrength4_Text"/>
          <p:cNvSpPr/>
          <p:nvPr/>
        </p:nvSpPr>
        <p:spPr>
          <a:xfrm>
            <a:off x="6583680" y="5029200"/>
            <a:ext cx="4251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проще объяснить и внедрить</a:t>
            </a:r>
            <a:endParaRPr lang="en-US" sz="1320" dirty="0"/>
          </a:p>
        </p:txBody>
      </p:sp>
      <p:sp>
        <p:nvSpPr>
          <p:cNvPr id="71" name="S05_LifecycleThesis_Bg"/>
          <p:cNvSpPr/>
          <p:nvPr/>
        </p:nvSpPr>
        <p:spPr>
          <a:xfrm>
            <a:off x="1591056" y="5815584"/>
            <a:ext cx="9052560" cy="411480"/>
          </a:xfrm>
          <a:prstGeom prst="roundRect">
            <a:avLst>
              <a:gd name="adj" fmla="val 17778"/>
            </a:avLst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72" name="S05_LifecycleThesis_Text"/>
          <p:cNvSpPr/>
          <p:nvPr/>
        </p:nvSpPr>
        <p:spPr>
          <a:xfrm>
            <a:off x="1591056" y="5820156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Вопрос не в lifecycle. Вопрос — в надежности multi-document lifecycle.</a:t>
            </a:r>
            <a:endParaRPr lang="en-US" sz="12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6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ГРАНИЦА ПРИМЕНИМОСТИ</a:t>
            </a:r>
            <a:endParaRPr lang="en-US" sz="850" dirty="0"/>
          </a:p>
        </p:txBody>
      </p:sp>
      <p:sp>
        <p:nvSpPr>
          <p:cNvPr id="4" name="S06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Когда один change пересекает несколько функциональных областей</a:t>
            </a:r>
            <a:endParaRPr lang="en-US" sz="2850" dirty="0"/>
          </a:p>
        </p:txBody>
      </p:sp>
      <p:sp>
        <p:nvSpPr>
          <p:cNvPr id="5" name="S06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Базовый подход может работать — но требует явной ручной оркестрации.</a:t>
            </a:r>
            <a:endParaRPr lang="en-US" sz="1320" dirty="0"/>
          </a:p>
        </p:txBody>
      </p:sp>
      <p:sp>
        <p:nvSpPr>
          <p:cNvPr id="6" name="S06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6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830" dirty="0"/>
          </a:p>
        </p:txBody>
      </p:sp>
      <p:sp>
        <p:nvSpPr>
          <p:cNvPr id="8" name="S06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6_CrossChange_Bg"/>
          <p:cNvSpPr/>
          <p:nvPr/>
        </p:nvSpPr>
        <p:spPr>
          <a:xfrm>
            <a:off x="2980944" y="1408176"/>
            <a:ext cx="6236208" cy="457200"/>
          </a:xfrm>
          <a:prstGeom prst="roundRect">
            <a:avLst>
              <a:gd name="adj" fmla="val 16000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11" name="S06_CrossChange_Text"/>
          <p:cNvSpPr/>
          <p:nvPr/>
        </p:nvSpPr>
        <p:spPr>
          <a:xfrm>
            <a:off x="2980944" y="1412748"/>
            <a:ext cx="62362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 · общее правило / контракт / событие</a:t>
            </a:r>
            <a:endParaRPr lang="en-US" sz="1240" dirty="0"/>
          </a:p>
        </p:txBody>
      </p:sp>
      <p:sp>
        <p:nvSpPr>
          <p:cNvPr id="12" name="S06_CrossAreaArrow1"/>
          <p:cNvSpPr/>
          <p:nvPr/>
        </p:nvSpPr>
        <p:spPr>
          <a:xfrm flipH="1">
            <a:off x="2258568" y="1865376"/>
            <a:ext cx="3840480" cy="347472"/>
          </a:xfrm>
          <a:prstGeom prst="line">
            <a:avLst/>
          </a:prstGeom>
          <a:noFill/>
          <a:ln w="1841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13" name="S06_CrossAreaCard1"/>
          <p:cNvSpPr/>
          <p:nvPr/>
        </p:nvSpPr>
        <p:spPr>
          <a:xfrm>
            <a:off x="658368" y="2212848"/>
            <a:ext cx="3200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7145">
            <a:solidFill>
              <a:srgbClr val="2F6BFF"/>
            </a:solidFill>
            <a:prstDash val="solid"/>
          </a:ln>
        </p:spPr>
      </p:sp>
      <p:sp>
        <p:nvSpPr>
          <p:cNvPr id="14" name="S06_CrossAreaPill1_Bg"/>
          <p:cNvSpPr/>
          <p:nvPr/>
        </p:nvSpPr>
        <p:spPr>
          <a:xfrm>
            <a:off x="877824" y="2450592"/>
            <a:ext cx="676656" cy="347472"/>
          </a:xfrm>
          <a:prstGeom prst="roundRect">
            <a:avLst>
              <a:gd name="adj" fmla="val 2105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S06_CrossAreaPill1_Text"/>
          <p:cNvSpPr/>
          <p:nvPr/>
        </p:nvSpPr>
        <p:spPr>
          <a:xfrm>
            <a:off x="877824" y="2455164"/>
            <a:ext cx="676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ФО A</a:t>
            </a:r>
            <a:endParaRPr lang="en-US" sz="1060" dirty="0"/>
          </a:p>
        </p:txBody>
      </p:sp>
      <p:sp>
        <p:nvSpPr>
          <p:cNvPr id="16" name="S06_CrossAreaTitle1"/>
          <p:cNvSpPr/>
          <p:nvPr/>
        </p:nvSpPr>
        <p:spPr>
          <a:xfrm>
            <a:off x="1719072" y="24688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workflow</a:t>
            </a:r>
            <a:endParaRPr lang="en-US" sz="1430" dirty="0"/>
          </a:p>
        </p:txBody>
      </p:sp>
      <p:sp>
        <p:nvSpPr>
          <p:cNvPr id="17" name="S06_CrossAreaFiles1"/>
          <p:cNvSpPr/>
          <p:nvPr/>
        </p:nvSpPr>
        <p:spPr>
          <a:xfrm>
            <a:off x="877824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spec.md · business-rules.md</a:t>
            </a:r>
            <a:endParaRPr lang="en-US" sz="1060" dirty="0"/>
          </a:p>
        </p:txBody>
      </p:sp>
      <p:sp>
        <p:nvSpPr>
          <p:cNvPr id="18" name="S06_CrossAreaArrow2"/>
          <p:cNvSpPr/>
          <p:nvPr/>
        </p:nvSpPr>
        <p:spPr>
          <a:xfrm flipH="1">
            <a:off x="6007608" y="1865376"/>
            <a:ext cx="91440" cy="347472"/>
          </a:xfrm>
          <a:prstGeom prst="line">
            <a:avLst/>
          </a:prstGeom>
          <a:noFill/>
          <a:ln w="1841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19" name="S06_CrossAreaCard2"/>
          <p:cNvSpPr/>
          <p:nvPr/>
        </p:nvSpPr>
        <p:spPr>
          <a:xfrm>
            <a:off x="4407408" y="2212848"/>
            <a:ext cx="3200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7145">
            <a:solidFill>
              <a:srgbClr val="00A6A6"/>
            </a:solidFill>
            <a:prstDash val="solid"/>
          </a:ln>
        </p:spPr>
      </p:sp>
      <p:sp>
        <p:nvSpPr>
          <p:cNvPr id="20" name="S06_CrossAreaPill2_Bg"/>
          <p:cNvSpPr/>
          <p:nvPr/>
        </p:nvSpPr>
        <p:spPr>
          <a:xfrm>
            <a:off x="4626864" y="2450592"/>
            <a:ext cx="676656" cy="347472"/>
          </a:xfrm>
          <a:prstGeom prst="roundRect">
            <a:avLst>
              <a:gd name="adj" fmla="val 21053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1" name="S06_CrossAreaPill2_Text"/>
          <p:cNvSpPr/>
          <p:nvPr/>
        </p:nvSpPr>
        <p:spPr>
          <a:xfrm>
            <a:off x="4626864" y="2455164"/>
            <a:ext cx="676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ФО B</a:t>
            </a:r>
            <a:endParaRPr lang="en-US" sz="1060" dirty="0"/>
          </a:p>
        </p:txBody>
      </p:sp>
      <p:sp>
        <p:nvSpPr>
          <p:cNvPr id="22" name="S06_CrossAreaTitle2"/>
          <p:cNvSpPr/>
          <p:nvPr/>
        </p:nvSpPr>
        <p:spPr>
          <a:xfrm>
            <a:off x="5468112" y="24688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model</a:t>
            </a:r>
            <a:endParaRPr lang="en-US" sz="1430" dirty="0"/>
          </a:p>
        </p:txBody>
      </p:sp>
      <p:sp>
        <p:nvSpPr>
          <p:cNvPr id="23" name="S06_CrossAreaFiles2"/>
          <p:cNvSpPr/>
          <p:nvPr/>
        </p:nvSpPr>
        <p:spPr>
          <a:xfrm>
            <a:off x="4626864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data-model.md · shared entity</a:t>
            </a:r>
            <a:endParaRPr lang="en-US" sz="1060" dirty="0"/>
          </a:p>
        </p:txBody>
      </p:sp>
      <p:sp>
        <p:nvSpPr>
          <p:cNvPr id="24" name="S06_CrossAreaArrow3"/>
          <p:cNvSpPr/>
          <p:nvPr/>
        </p:nvSpPr>
        <p:spPr>
          <a:xfrm>
            <a:off x="6099048" y="1865376"/>
            <a:ext cx="3657600" cy="347472"/>
          </a:xfrm>
          <a:prstGeom prst="line">
            <a:avLst/>
          </a:prstGeom>
          <a:noFill/>
          <a:ln w="1841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25" name="S06_CrossAreaCard3"/>
          <p:cNvSpPr/>
          <p:nvPr/>
        </p:nvSpPr>
        <p:spPr>
          <a:xfrm>
            <a:off x="8156448" y="2212848"/>
            <a:ext cx="32004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7145">
            <a:solidFill>
              <a:srgbClr val="7657D5"/>
            </a:solidFill>
            <a:prstDash val="solid"/>
          </a:ln>
        </p:spPr>
      </p:sp>
      <p:sp>
        <p:nvSpPr>
          <p:cNvPr id="26" name="S06_CrossAreaPill3_Bg"/>
          <p:cNvSpPr/>
          <p:nvPr/>
        </p:nvSpPr>
        <p:spPr>
          <a:xfrm>
            <a:off x="8375904" y="2450592"/>
            <a:ext cx="676656" cy="347472"/>
          </a:xfrm>
          <a:prstGeom prst="roundRect">
            <a:avLst>
              <a:gd name="adj" fmla="val 21053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7" name="S06_CrossAreaPill3_Text"/>
          <p:cNvSpPr/>
          <p:nvPr/>
        </p:nvSpPr>
        <p:spPr>
          <a:xfrm>
            <a:off x="8375904" y="2455164"/>
            <a:ext cx="676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ФО C</a:t>
            </a:r>
            <a:endParaRPr lang="en-US" sz="1060" dirty="0"/>
          </a:p>
        </p:txBody>
      </p:sp>
      <p:sp>
        <p:nvSpPr>
          <p:cNvPr id="28" name="S06_CrossAreaTitle3"/>
          <p:cNvSpPr/>
          <p:nvPr/>
        </p:nvSpPr>
        <p:spPr>
          <a:xfrm>
            <a:off x="9217152" y="24688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/ integration</a:t>
            </a:r>
            <a:endParaRPr lang="en-US" sz="1430" dirty="0"/>
          </a:p>
        </p:txBody>
      </p:sp>
      <p:sp>
        <p:nvSpPr>
          <p:cNvPr id="29" name="S06_CrossAreaFiles3"/>
          <p:cNvSpPr/>
          <p:nvPr/>
        </p:nvSpPr>
        <p:spPr>
          <a:xfrm>
            <a:off x="8375904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api.md · contract / event</a:t>
            </a:r>
            <a:endParaRPr lang="en-US" sz="1060" dirty="0"/>
          </a:p>
        </p:txBody>
      </p:sp>
      <p:sp>
        <p:nvSpPr>
          <p:cNvPr id="30" name="S06_SharedContextCard"/>
          <p:cNvSpPr/>
          <p:nvPr/>
        </p:nvSpPr>
        <p:spPr>
          <a:xfrm>
            <a:off x="1097280" y="3758184"/>
            <a:ext cx="9994392" cy="630936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1" name="S06_SharedContextText"/>
          <p:cNvSpPr/>
          <p:nvPr/>
        </p:nvSpPr>
        <p:spPr>
          <a:xfrm>
            <a:off x="1399032" y="3931920"/>
            <a:ext cx="9390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Нужно увидеть вместе: сущности · business rules · endpoints · events · зависимые документы</a:t>
            </a:r>
            <a:endParaRPr lang="en-US" sz="1340" dirty="0"/>
          </a:p>
        </p:txBody>
      </p:sp>
      <p:sp>
        <p:nvSpPr>
          <p:cNvPr id="32" name="S06_DefaultCrossCard"/>
          <p:cNvSpPr/>
          <p:nvPr/>
        </p:nvSpPr>
        <p:spPr>
          <a:xfrm>
            <a:off x="658368" y="4645152"/>
            <a:ext cx="52852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3" name="S06_DefaultCrossLabel_Bg"/>
          <p:cNvSpPr/>
          <p:nvPr/>
        </p:nvSpPr>
        <p:spPr>
          <a:xfrm>
            <a:off x="896112" y="4873752"/>
            <a:ext cx="1554480" cy="338328"/>
          </a:xfrm>
          <a:prstGeom prst="roundRect">
            <a:avLst>
              <a:gd name="adj" fmla="val 21622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34" name="S06_DefaultCrossLabel_Text"/>
          <p:cNvSpPr/>
          <p:nvPr/>
        </p:nvSpPr>
        <p:spPr>
          <a:xfrm>
            <a:off x="896112" y="48783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ИСХОДНЫЙ WORKFLOW</a:t>
            </a:r>
            <a:endParaRPr lang="en-US" sz="990" dirty="0"/>
          </a:p>
        </p:txBody>
      </p:sp>
      <p:sp>
        <p:nvSpPr>
          <p:cNvPr id="35" name="S06_DefaultCrossText"/>
          <p:cNvSpPr/>
          <p:nvPr/>
        </p:nvSpPr>
        <p:spPr>
          <a:xfrm>
            <a:off x="896112" y="5285232"/>
            <a:ext cx="47731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6A3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Да: </a:t>
            </a:r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может охватить несколько компонентов.
</a:t>
            </a:r>
            <a:pPr indent="0" marL="0">
              <a:buNone/>
            </a:pPr>
            <a:r>
              <a:rPr lang="en-US" sz="123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Граница: </a:t>
            </a:r>
            <a:pPr indent="0" marL="0">
              <a:buNone/>
            </a:pPr>
            <a:r>
              <a:rPr lang="en-US" sz="123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штатный target / apply остаётся одноцелевым.</a:t>
            </a:r>
            <a:endParaRPr lang="en-US" sz="1230" dirty="0"/>
          </a:p>
        </p:txBody>
      </p:sp>
      <p:sp>
        <p:nvSpPr>
          <p:cNvPr id="36" name="S06_ModifiedCrossCard"/>
          <p:cNvSpPr/>
          <p:nvPr/>
        </p:nvSpPr>
        <p:spPr>
          <a:xfrm>
            <a:off x="6199632" y="4645152"/>
            <a:ext cx="5303520" cy="1298448"/>
          </a:xfrm>
          <a:prstGeom prst="roundRect">
            <a:avLst>
              <a:gd name="adj" fmla="val 5634"/>
            </a:avLst>
          </a:prstGeom>
          <a:solidFill>
            <a:srgbClr val="E5F8F6"/>
          </a:solidFill>
          <a:ln w="12700">
            <a:solidFill>
              <a:srgbClr val="B8EAE6"/>
            </a:solidFill>
            <a:prstDash val="solid"/>
          </a:ln>
        </p:spPr>
      </p:sp>
      <p:sp>
        <p:nvSpPr>
          <p:cNvPr id="37" name="S06_ModifiedCrossLabel_Bg"/>
          <p:cNvSpPr/>
          <p:nvPr/>
        </p:nvSpPr>
        <p:spPr>
          <a:xfrm>
            <a:off x="6446520" y="4873752"/>
            <a:ext cx="1627632" cy="338328"/>
          </a:xfrm>
          <a:prstGeom prst="roundRect">
            <a:avLst>
              <a:gd name="adj" fmla="val 21622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8" name="S06_ModifiedCrossLabel_Text"/>
          <p:cNvSpPr/>
          <p:nvPr/>
        </p:nvSpPr>
        <p:spPr>
          <a:xfrm>
            <a:off x="6446520" y="487832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НАШЕ РАСШИРЕНИЕ</a:t>
            </a:r>
            <a:endParaRPr lang="en-US" sz="990" dirty="0"/>
          </a:p>
        </p:txBody>
      </p:sp>
      <p:sp>
        <p:nvSpPr>
          <p:cNvPr id="39" name="S06_ModifiedCrossText"/>
          <p:cNvSpPr/>
          <p:nvPr/>
        </p:nvSpPr>
        <p:spPr>
          <a:xfrm>
            <a:off x="6446520" y="5294376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87A7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Сервисная карта делает источники, связи и multi-file diff first-class частью change.</a:t>
            </a:r>
            <a:endParaRPr lang="en-US" sz="1230" dirty="0"/>
          </a:p>
        </p:txBody>
      </p:sp>
      <p:sp>
        <p:nvSpPr>
          <p:cNvPr id="40" name="S06_CrossSlideThesis"/>
          <p:cNvSpPr/>
          <p:nvPr/>
        </p:nvSpPr>
        <p:spPr>
          <a:xfrm>
            <a:off x="2743200" y="6108192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Не заменяем границы ФО — делаем пересечения видимыми.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7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АРХИТЕКТУРА РАСШИРЕНИЯ</a:t>
            </a:r>
            <a:endParaRPr lang="en-US" sz="850" dirty="0"/>
          </a:p>
        </p:txBody>
      </p:sp>
      <p:sp>
        <p:nvSpPr>
          <p:cNvPr id="4" name="S07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Папка становится индексируемой областью знаний</a:t>
            </a:r>
            <a:endParaRPr lang="en-US" sz="2850" dirty="0"/>
          </a:p>
        </p:txBody>
      </p:sp>
      <p:sp>
        <p:nvSpPr>
          <p:cNvPr id="5" name="S07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_sdd не заменяет документы — он создаёт управляемую карту чтения и связей.</a:t>
            </a:r>
            <a:endParaRPr lang="en-US" sz="1320" dirty="0"/>
          </a:p>
        </p:txBody>
      </p:sp>
      <p:sp>
        <p:nvSpPr>
          <p:cNvPr id="6" name="S07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7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830" dirty="0"/>
          </a:p>
        </p:txBody>
      </p:sp>
      <p:sp>
        <p:nvSpPr>
          <p:cNvPr id="8" name="S07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7_FolderTreeCard"/>
          <p:cNvSpPr/>
          <p:nvPr/>
        </p:nvSpPr>
        <p:spPr>
          <a:xfrm>
            <a:off x="658368" y="1444752"/>
            <a:ext cx="3456432" cy="450799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.993137902482545e+28" dist="2.1315034406620118e+29" dir="1.259712e+35">
              <a:srgbClr val="22304A">
                <a:alpha val="1.2e+34"/>
              </a:srgbClr>
            </a:outerShdw>
          </a:effectLst>
        </p:spPr>
      </p:sp>
      <p:sp>
        <p:nvSpPr>
          <p:cNvPr id="11" name="S07_FolderTreeLabel_Bg"/>
          <p:cNvSpPr/>
          <p:nvPr/>
        </p:nvSpPr>
        <p:spPr>
          <a:xfrm>
            <a:off x="914400" y="1700784"/>
            <a:ext cx="1609344" cy="365760"/>
          </a:xfrm>
          <a:prstGeom prst="roundRect">
            <a:avLst>
              <a:gd name="adj" fmla="val 2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2" name="S07_FolderTreeLabel_Text"/>
          <p:cNvSpPr/>
          <p:nvPr/>
        </p:nvSpPr>
        <p:spPr>
          <a:xfrm>
            <a:off x="914400" y="1705356"/>
            <a:ext cx="16093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MASTER SPEC</a:t>
            </a:r>
            <a:endParaRPr lang="en-US" sz="1040" dirty="0"/>
          </a:p>
        </p:txBody>
      </p:sp>
      <p:sp>
        <p:nvSpPr>
          <p:cNvPr id="13" name="S07_FolderTreeRoot_Body"/>
          <p:cNvSpPr/>
          <p:nvPr/>
        </p:nvSpPr>
        <p:spPr>
          <a:xfrm>
            <a:off x="932688" y="2418222"/>
            <a:ext cx="530352" cy="306690"/>
          </a:xfrm>
          <a:prstGeom prst="roundRect">
            <a:avLst>
              <a:gd name="adj" fmla="val 11926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4" name="S07_FolderTreeRoot_Tab"/>
          <p:cNvSpPr/>
          <p:nvPr/>
        </p:nvSpPr>
        <p:spPr>
          <a:xfrm>
            <a:off x="1005840" y="2331720"/>
            <a:ext cx="243962" cy="149413"/>
          </a:xfrm>
          <a:prstGeom prst="roundRect">
            <a:avLst>
              <a:gd name="adj" fmla="val 1836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S07_FolderTreeRootText"/>
          <p:cNvSpPr/>
          <p:nvPr/>
        </p:nvSpPr>
        <p:spPr>
          <a:xfrm>
            <a:off x="1645920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openspec/&lt;service&gt;/</a:t>
            </a:r>
            <a:endParaRPr lang="en-US" sz="1320" dirty="0"/>
          </a:p>
        </p:txBody>
      </p:sp>
      <p:sp>
        <p:nvSpPr>
          <p:cNvPr id="16" name="S07_FolderTreeSpine"/>
          <p:cNvSpPr/>
          <p:nvPr/>
        </p:nvSpPr>
        <p:spPr>
          <a:xfrm>
            <a:off x="1197864" y="2724912"/>
            <a:ext cx="914" cy="2633472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7" name="S07_FolderTreeBranch1"/>
          <p:cNvSpPr/>
          <p:nvPr/>
        </p:nvSpPr>
        <p:spPr>
          <a:xfrm>
            <a:off x="1197864" y="3063240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8" name="S07_FolderTreeFolder1_Body"/>
          <p:cNvSpPr/>
          <p:nvPr/>
        </p:nvSpPr>
        <p:spPr>
          <a:xfrm>
            <a:off x="1581912" y="2966131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9" name="S07_FolderTreeFolder1_Tab"/>
          <p:cNvSpPr/>
          <p:nvPr/>
        </p:nvSpPr>
        <p:spPr>
          <a:xfrm>
            <a:off x="1655064" y="2907792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0" name="S07_FolderTreeText1"/>
          <p:cNvSpPr/>
          <p:nvPr/>
        </p:nvSpPr>
        <p:spPr>
          <a:xfrm>
            <a:off x="2066544" y="292608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workflow/</a:t>
            </a:r>
            <a:endParaRPr lang="en-US" sz="1130" dirty="0"/>
          </a:p>
        </p:txBody>
      </p:sp>
      <p:sp>
        <p:nvSpPr>
          <p:cNvPr id="21" name="S07_FolderTreeBranch2"/>
          <p:cNvSpPr/>
          <p:nvPr/>
        </p:nvSpPr>
        <p:spPr>
          <a:xfrm>
            <a:off x="1197864" y="3547872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22" name="S07_FolderTreeFolder2_Body"/>
          <p:cNvSpPr/>
          <p:nvPr/>
        </p:nvSpPr>
        <p:spPr>
          <a:xfrm>
            <a:off x="1581912" y="3450763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3" name="S07_FolderTreeFolder2_Tab"/>
          <p:cNvSpPr/>
          <p:nvPr/>
        </p:nvSpPr>
        <p:spPr>
          <a:xfrm>
            <a:off x="1655064" y="3392424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24" name="S07_FolderTreeText2"/>
          <p:cNvSpPr/>
          <p:nvPr/>
        </p:nvSpPr>
        <p:spPr>
          <a:xfrm>
            <a:off x="2066544" y="3410712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integrations/</a:t>
            </a:r>
            <a:endParaRPr lang="en-US" sz="1130" dirty="0"/>
          </a:p>
        </p:txBody>
      </p:sp>
      <p:sp>
        <p:nvSpPr>
          <p:cNvPr id="25" name="S07_FolderTreeBranch3"/>
          <p:cNvSpPr/>
          <p:nvPr/>
        </p:nvSpPr>
        <p:spPr>
          <a:xfrm>
            <a:off x="1197864" y="4032504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26" name="S07_FolderTreeFolder3_Body"/>
          <p:cNvSpPr/>
          <p:nvPr/>
        </p:nvSpPr>
        <p:spPr>
          <a:xfrm>
            <a:off x="1581912" y="3935395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7" name="S07_FolderTreeFolder3_Tab"/>
          <p:cNvSpPr/>
          <p:nvPr/>
        </p:nvSpPr>
        <p:spPr>
          <a:xfrm>
            <a:off x="1655064" y="3877056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8" name="S07_FolderTreeText3"/>
          <p:cNvSpPr/>
          <p:nvPr/>
        </p:nvSpPr>
        <p:spPr>
          <a:xfrm>
            <a:off x="2066544" y="3895344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api/</a:t>
            </a:r>
            <a:endParaRPr lang="en-US" sz="1130" dirty="0"/>
          </a:p>
        </p:txBody>
      </p:sp>
      <p:sp>
        <p:nvSpPr>
          <p:cNvPr id="29" name="S07_FolderTreeBranch4"/>
          <p:cNvSpPr/>
          <p:nvPr/>
        </p:nvSpPr>
        <p:spPr>
          <a:xfrm>
            <a:off x="1197864" y="4517136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30" name="S07_FolderTreeFolder4_Body"/>
          <p:cNvSpPr/>
          <p:nvPr/>
        </p:nvSpPr>
        <p:spPr>
          <a:xfrm>
            <a:off x="1581912" y="4420027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1" name="S07_FolderTreeFolder4_Tab"/>
          <p:cNvSpPr/>
          <p:nvPr/>
        </p:nvSpPr>
        <p:spPr>
          <a:xfrm>
            <a:off x="1655064" y="4361688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2" name="S07_FolderTreeText4"/>
          <p:cNvSpPr/>
          <p:nvPr/>
        </p:nvSpPr>
        <p:spPr>
          <a:xfrm>
            <a:off x="2066544" y="4379976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data/ · dbml/</a:t>
            </a:r>
            <a:endParaRPr lang="en-US" sz="1130" dirty="0"/>
          </a:p>
        </p:txBody>
      </p:sp>
      <p:sp>
        <p:nvSpPr>
          <p:cNvPr id="33" name="S07_FolderTreeBranch5"/>
          <p:cNvSpPr/>
          <p:nvPr/>
        </p:nvSpPr>
        <p:spPr>
          <a:xfrm>
            <a:off x="1197864" y="5001768"/>
            <a:ext cx="320040" cy="914"/>
          </a:xfrm>
          <a:prstGeom prst="line">
            <a:avLst/>
          </a:prstGeom>
          <a:noFill/>
          <a:ln w="13970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34" name="S07_FolderTreeFolder5_Body"/>
          <p:cNvSpPr/>
          <p:nvPr/>
        </p:nvSpPr>
        <p:spPr>
          <a:xfrm>
            <a:off x="1581912" y="4904659"/>
            <a:ext cx="347472" cy="206837"/>
          </a:xfrm>
          <a:prstGeom prst="roundRect">
            <a:avLst>
              <a:gd name="adj" fmla="val 17683"/>
            </a:avLst>
          </a:prstGeom>
          <a:solidFill>
            <a:srgbClr val="F26767"/>
          </a:solidFill>
          <a:ln w="12700">
            <a:solidFill>
              <a:srgbClr val="F26767">
                <a:alpha val="0"/>
              </a:srgbClr>
            </a:solidFill>
            <a:prstDash val="solid"/>
          </a:ln>
        </p:spPr>
      </p:sp>
      <p:sp>
        <p:nvSpPr>
          <p:cNvPr id="35" name="S07_FolderTreeFolder5_Tab"/>
          <p:cNvSpPr/>
          <p:nvPr/>
        </p:nvSpPr>
        <p:spPr>
          <a:xfrm>
            <a:off x="1655064" y="4846320"/>
            <a:ext cx="159837" cy="100767"/>
          </a:xfrm>
          <a:prstGeom prst="roundRect">
            <a:avLst>
              <a:gd name="adj" fmla="val 27223"/>
            </a:avLst>
          </a:prstGeom>
          <a:solidFill>
            <a:srgbClr val="F26767"/>
          </a:solidFill>
          <a:ln w="12700">
            <a:solidFill>
              <a:srgbClr val="F26767">
                <a:alpha val="0"/>
              </a:srgbClr>
            </a:solidFill>
            <a:prstDash val="solid"/>
          </a:ln>
        </p:spPr>
      </p:sp>
      <p:sp>
        <p:nvSpPr>
          <p:cNvPr id="36" name="S07_FolderTreeText5"/>
          <p:cNvSpPr/>
          <p:nvPr/>
        </p:nvSpPr>
        <p:spPr>
          <a:xfrm>
            <a:off x="2066544" y="4864608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440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diagrams/ · settings/</a:t>
            </a:r>
            <a:endParaRPr lang="en-US" sz="1130" dirty="0"/>
          </a:p>
        </p:txBody>
      </p:sp>
      <p:sp>
        <p:nvSpPr>
          <p:cNvPr id="37" name="S07_FolderFormats_Bg"/>
          <p:cNvSpPr/>
          <p:nvPr/>
        </p:nvSpPr>
        <p:spPr>
          <a:xfrm>
            <a:off x="941832" y="5468112"/>
            <a:ext cx="26974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07_FolderFormats_Text"/>
          <p:cNvSpPr/>
          <p:nvPr/>
        </p:nvSpPr>
        <p:spPr>
          <a:xfrm>
            <a:off x="941832" y="5472684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MD · OpenAPI · YAML · DBML · diagrams</a:t>
            </a:r>
            <a:endParaRPr lang="en-US" sz="940" dirty="0"/>
          </a:p>
        </p:txBody>
      </p:sp>
      <p:sp>
        <p:nvSpPr>
          <p:cNvPr id="39" name="S07_FolderToIndex"/>
          <p:cNvSpPr/>
          <p:nvPr/>
        </p:nvSpPr>
        <p:spPr>
          <a:xfrm>
            <a:off x="4114800" y="3675888"/>
            <a:ext cx="292608" cy="914"/>
          </a:xfrm>
          <a:prstGeom prst="line">
            <a:avLst/>
          </a:prstGeom>
          <a:noFill/>
          <a:ln w="2159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40" name="S07_IndexLayerCard"/>
          <p:cNvSpPr/>
          <p:nvPr/>
        </p:nvSpPr>
        <p:spPr>
          <a:xfrm>
            <a:off x="4462272" y="1444752"/>
            <a:ext cx="3072384" cy="4507992"/>
          </a:xfrm>
          <a:prstGeom prst="roundRect">
            <a:avLst>
              <a:gd name="adj" fmla="val 238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.0151285136152831e+33" dist="2.707009369640755e+33" dir="7.558272e+39">
              <a:srgbClr val="22304A">
                <a:alpha val="1.1999999999999999e+39"/>
              </a:srgbClr>
            </a:outerShdw>
          </a:effectLst>
        </p:spPr>
      </p:sp>
      <p:sp>
        <p:nvSpPr>
          <p:cNvPr id="41" name="S07_IndexLayerLabel_Bg"/>
          <p:cNvSpPr/>
          <p:nvPr/>
        </p:nvSpPr>
        <p:spPr>
          <a:xfrm>
            <a:off x="4736592" y="1700784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2" name="S07_IndexLayerLabel_Text"/>
          <p:cNvSpPr/>
          <p:nvPr/>
        </p:nvSpPr>
        <p:spPr>
          <a:xfrm>
            <a:off x="4736592" y="1705356"/>
            <a:ext cx="1051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</a:t>
            </a:r>
            <a:endParaRPr lang="en-US" sz="1120" dirty="0"/>
          </a:p>
        </p:txBody>
      </p:sp>
      <p:sp>
        <p:nvSpPr>
          <p:cNvPr id="43" name="S07_IndexLayerKicker"/>
          <p:cNvSpPr/>
          <p:nvPr/>
        </p:nvSpPr>
        <p:spPr>
          <a:xfrm>
            <a:off x="5925312" y="17830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b="1" spc="80" kern="0" dirty="0">
                <a:solidFill>
                  <a:srgbClr val="C5CED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НАВИГАЦИОННЫЙ СЛОЙ</a:t>
            </a:r>
            <a:endParaRPr lang="en-US" sz="830" dirty="0"/>
          </a:p>
        </p:txBody>
      </p:sp>
      <p:sp>
        <p:nvSpPr>
          <p:cNvPr id="44" name="S07_IndexFileCard1"/>
          <p:cNvSpPr/>
          <p:nvPr/>
        </p:nvSpPr>
        <p:spPr>
          <a:xfrm>
            <a:off x="4718304" y="23774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45" name="S07_IndexFileAccent1"/>
          <p:cNvSpPr/>
          <p:nvPr/>
        </p:nvSpPr>
        <p:spPr>
          <a:xfrm>
            <a:off x="4718304" y="2377440"/>
            <a:ext cx="64008" cy="5669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6" name="S07_IndexFileTitle1"/>
          <p:cNvSpPr/>
          <p:nvPr/>
        </p:nvSpPr>
        <p:spPr>
          <a:xfrm>
            <a:off x="4937760" y="2468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manifest.yaml</a:t>
            </a:r>
            <a:endParaRPr lang="en-US" sz="1170" dirty="0"/>
          </a:p>
        </p:txBody>
      </p:sp>
      <p:sp>
        <p:nvSpPr>
          <p:cNvPr id="47" name="S07_IndexFileSubtitle1"/>
          <p:cNvSpPr/>
          <p:nvPr/>
        </p:nvSpPr>
        <p:spPr>
          <a:xfrm>
            <a:off x="4937760" y="2697480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файлы · типы · hash · связи</a:t>
            </a:r>
            <a:endParaRPr lang="en-US" sz="890" dirty="0"/>
          </a:p>
        </p:txBody>
      </p:sp>
      <p:sp>
        <p:nvSpPr>
          <p:cNvPr id="48" name="S07_IndexFileCard2"/>
          <p:cNvSpPr/>
          <p:nvPr/>
        </p:nvSpPr>
        <p:spPr>
          <a:xfrm>
            <a:off x="4718304" y="3136392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49" name="S07_IndexFileAccent2"/>
          <p:cNvSpPr/>
          <p:nvPr/>
        </p:nvSpPr>
        <p:spPr>
          <a:xfrm>
            <a:off x="4718304" y="3136392"/>
            <a:ext cx="64008" cy="5669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0" name="S07_IndexFileTitle2"/>
          <p:cNvSpPr/>
          <p:nvPr/>
        </p:nvSpPr>
        <p:spPr>
          <a:xfrm>
            <a:off x="4937760" y="32278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navigation.md</a:t>
            </a:r>
            <a:endParaRPr lang="en-US" sz="1170" dirty="0"/>
          </a:p>
        </p:txBody>
      </p:sp>
      <p:sp>
        <p:nvSpPr>
          <p:cNvPr id="51" name="S07_IndexFileSubtitle2"/>
          <p:cNvSpPr/>
          <p:nvPr/>
        </p:nvSpPr>
        <p:spPr>
          <a:xfrm>
            <a:off x="4937760" y="3456432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читать первым</a:t>
            </a:r>
            <a:endParaRPr lang="en-US" sz="890" dirty="0"/>
          </a:p>
        </p:txBody>
      </p:sp>
      <p:sp>
        <p:nvSpPr>
          <p:cNvPr id="52" name="S07_IndexFileCard3"/>
          <p:cNvSpPr/>
          <p:nvPr/>
        </p:nvSpPr>
        <p:spPr>
          <a:xfrm>
            <a:off x="4718304" y="3895344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53" name="S07_IndexFileAccent3"/>
          <p:cNvSpPr/>
          <p:nvPr/>
        </p:nvSpPr>
        <p:spPr>
          <a:xfrm>
            <a:off x="4718304" y="3895344"/>
            <a:ext cx="64008" cy="566928"/>
          </a:xfrm>
          <a:prstGeom prst="rect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54" name="S07_IndexFileTitle3"/>
          <p:cNvSpPr/>
          <p:nvPr/>
        </p:nvSpPr>
        <p:spPr>
          <a:xfrm>
            <a:off x="4937760" y="39867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coverage.md</a:t>
            </a:r>
            <a:endParaRPr lang="en-US" sz="1170" dirty="0"/>
          </a:p>
        </p:txBody>
      </p:sp>
      <p:sp>
        <p:nvSpPr>
          <p:cNvPr id="55" name="S07_IndexFileSubtitle3"/>
          <p:cNvSpPr/>
          <p:nvPr/>
        </p:nvSpPr>
        <p:spPr>
          <a:xfrm>
            <a:off x="4937760" y="4215384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описано / где пробел</a:t>
            </a:r>
            <a:endParaRPr lang="en-US" sz="890" dirty="0"/>
          </a:p>
        </p:txBody>
      </p:sp>
      <p:sp>
        <p:nvSpPr>
          <p:cNvPr id="56" name="S07_IndexFileCard4"/>
          <p:cNvSpPr/>
          <p:nvPr/>
        </p:nvSpPr>
        <p:spPr>
          <a:xfrm>
            <a:off x="4718304" y="4654296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D2E4D"/>
          </a:solidFill>
          <a:ln w="12700">
            <a:solidFill>
              <a:srgbClr val="334B73"/>
            </a:solidFill>
            <a:prstDash val="solid"/>
          </a:ln>
        </p:spPr>
      </p:sp>
      <p:sp>
        <p:nvSpPr>
          <p:cNvPr id="57" name="S07_IndexFileAccent4"/>
          <p:cNvSpPr/>
          <p:nvPr/>
        </p:nvSpPr>
        <p:spPr>
          <a:xfrm>
            <a:off x="4718304" y="4654296"/>
            <a:ext cx="6400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58" name="S07_IndexFileTitle4"/>
          <p:cNvSpPr/>
          <p:nvPr/>
        </p:nvSpPr>
        <p:spPr>
          <a:xfrm>
            <a:off x="4937760" y="47457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stale-files.md</a:t>
            </a:r>
            <a:endParaRPr lang="en-US" sz="1170" dirty="0"/>
          </a:p>
        </p:txBody>
      </p:sp>
      <p:sp>
        <p:nvSpPr>
          <p:cNvPr id="59" name="S07_IndexFileSubtitle4"/>
          <p:cNvSpPr/>
          <p:nvPr/>
        </p:nvSpPr>
        <p:spPr>
          <a:xfrm>
            <a:off x="4937760" y="4974336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added · modified · deleted</a:t>
            </a:r>
            <a:endParaRPr lang="en-US" sz="890" dirty="0"/>
          </a:p>
        </p:txBody>
      </p:sp>
      <p:sp>
        <p:nvSpPr>
          <p:cNvPr id="60" name="S07_IndexToContext"/>
          <p:cNvSpPr/>
          <p:nvPr/>
        </p:nvSpPr>
        <p:spPr>
          <a:xfrm>
            <a:off x="7534656" y="3675888"/>
            <a:ext cx="283464" cy="914"/>
          </a:xfrm>
          <a:prstGeom prst="line">
            <a:avLst/>
          </a:prstGeom>
          <a:noFill/>
          <a:ln w="2159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61" name="S07_ContextMapCard"/>
          <p:cNvSpPr/>
          <p:nvPr/>
        </p:nvSpPr>
        <p:spPr>
          <a:xfrm>
            <a:off x="7882128" y="1444752"/>
            <a:ext cx="3621024" cy="4507992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1.2892132122914095e+37" dist="3.437901899443759e+37" dir="4.5349632000000006e+44">
              <a:srgbClr val="22304A">
                <a:alpha val="1.1999999999999999e+44"/>
              </a:srgbClr>
            </a:outerShdw>
          </a:effectLst>
        </p:spPr>
      </p:sp>
      <p:sp>
        <p:nvSpPr>
          <p:cNvPr id="62" name="S07_ContextSelectorLabel_Bg"/>
          <p:cNvSpPr/>
          <p:nvPr/>
        </p:nvSpPr>
        <p:spPr>
          <a:xfrm>
            <a:off x="8174736" y="1700784"/>
            <a:ext cx="1883664" cy="365760"/>
          </a:xfrm>
          <a:prstGeom prst="roundRect">
            <a:avLst>
              <a:gd name="adj" fmla="val 20000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63" name="S07_ContextSelectorLabel_Text"/>
          <p:cNvSpPr/>
          <p:nvPr/>
        </p:nvSpPr>
        <p:spPr>
          <a:xfrm>
            <a:off x="8174736" y="1705356"/>
            <a:ext cx="18836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CONTEXT SELECTOR</a:t>
            </a:r>
            <a:endParaRPr lang="en-US" sz="1040" dirty="0"/>
          </a:p>
        </p:txBody>
      </p:sp>
      <p:sp>
        <p:nvSpPr>
          <p:cNvPr id="64" name="S07_SelectorEntity_Bg"/>
          <p:cNvSpPr/>
          <p:nvPr/>
        </p:nvSpPr>
        <p:spPr>
          <a:xfrm>
            <a:off x="8183880" y="231343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65" name="S07_SelectorEntity_Text"/>
          <p:cNvSpPr/>
          <p:nvPr/>
        </p:nvSpPr>
        <p:spPr>
          <a:xfrm>
            <a:off x="8183880" y="2318004"/>
            <a:ext cx="658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entity</a:t>
            </a:r>
            <a:endParaRPr lang="en-US" sz="920" dirty="0"/>
          </a:p>
        </p:txBody>
      </p:sp>
      <p:sp>
        <p:nvSpPr>
          <p:cNvPr id="66" name="S07_SelectorEndpoint_Bg"/>
          <p:cNvSpPr/>
          <p:nvPr/>
        </p:nvSpPr>
        <p:spPr>
          <a:xfrm>
            <a:off x="8924544" y="2313432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67" name="S07_SelectorEndpoint_Text"/>
          <p:cNvSpPr/>
          <p:nvPr/>
        </p:nvSpPr>
        <p:spPr>
          <a:xfrm>
            <a:off x="8924544" y="2318004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endpoint</a:t>
            </a:r>
            <a:endParaRPr lang="en-US" sz="920" dirty="0"/>
          </a:p>
        </p:txBody>
      </p:sp>
      <p:sp>
        <p:nvSpPr>
          <p:cNvPr id="68" name="S07_SelectorEvent_Bg"/>
          <p:cNvSpPr/>
          <p:nvPr/>
        </p:nvSpPr>
        <p:spPr>
          <a:xfrm>
            <a:off x="9765792" y="2313432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0ECFF"/>
          </a:solidFill>
          <a:ln w="12700">
            <a:solidFill>
              <a:srgbClr val="F0ECFF">
                <a:alpha val="0"/>
              </a:srgbClr>
            </a:solidFill>
            <a:prstDash val="solid"/>
          </a:ln>
        </p:spPr>
      </p:sp>
      <p:sp>
        <p:nvSpPr>
          <p:cNvPr id="69" name="S07_SelectorEvent_Text"/>
          <p:cNvSpPr/>
          <p:nvPr/>
        </p:nvSpPr>
        <p:spPr>
          <a:xfrm>
            <a:off x="9765792" y="2318004"/>
            <a:ext cx="640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event</a:t>
            </a:r>
            <a:endParaRPr lang="en-US" sz="920" dirty="0"/>
          </a:p>
        </p:txBody>
      </p:sp>
      <p:sp>
        <p:nvSpPr>
          <p:cNvPr id="70" name="S07_SelectorRelation_Bg"/>
          <p:cNvSpPr/>
          <p:nvPr/>
        </p:nvSpPr>
        <p:spPr>
          <a:xfrm>
            <a:off x="10497312" y="2313432"/>
            <a:ext cx="621792" cy="292608"/>
          </a:xfrm>
          <a:prstGeom prst="roundRect">
            <a:avLst>
              <a:gd name="adj" fmla="val 25000"/>
            </a:avLst>
          </a:prstGeom>
          <a:solidFill>
            <a:srgbClr val="FFF3D9"/>
          </a:solidFill>
          <a:ln w="12700">
            <a:solidFill>
              <a:srgbClr val="FFF3D9">
                <a:alpha val="0"/>
              </a:srgbClr>
            </a:solidFill>
            <a:prstDash val="solid"/>
          </a:ln>
        </p:spPr>
      </p:sp>
      <p:sp>
        <p:nvSpPr>
          <p:cNvPr id="71" name="S07_SelectorRelation_Text"/>
          <p:cNvSpPr/>
          <p:nvPr/>
        </p:nvSpPr>
        <p:spPr>
          <a:xfrm>
            <a:off x="10497312" y="2318004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A63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relation</a:t>
            </a:r>
            <a:endParaRPr lang="en-US" sz="920" dirty="0"/>
          </a:p>
        </p:txBody>
      </p:sp>
      <p:sp>
        <p:nvSpPr>
          <p:cNvPr id="72" name="S07_ContextChangeCard"/>
          <p:cNvSpPr/>
          <p:nvPr/>
        </p:nvSpPr>
        <p:spPr>
          <a:xfrm>
            <a:off x="9189720" y="3236976"/>
            <a:ext cx="1078992" cy="73152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3" name="S07_ContextChangeText"/>
          <p:cNvSpPr/>
          <p:nvPr/>
        </p:nvSpPr>
        <p:spPr>
          <a:xfrm>
            <a:off x="9290304" y="345643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</a:t>
            </a:r>
            <a:endParaRPr lang="en-US" sz="1240" dirty="0"/>
          </a:p>
        </p:txBody>
      </p:sp>
      <p:sp>
        <p:nvSpPr>
          <p:cNvPr id="74" name="S07_ContextLink1"/>
          <p:cNvSpPr/>
          <p:nvPr/>
        </p:nvSpPr>
        <p:spPr>
          <a:xfrm flipH="1" flipV="1">
            <a:off x="8567928" y="3218688"/>
            <a:ext cx="1161288" cy="384048"/>
          </a:xfrm>
          <a:prstGeom prst="line">
            <a:avLst/>
          </a:prstGeom>
          <a:noFill/>
          <a:ln w="15240">
            <a:solidFill>
              <a:srgbClr val="2F6BFF"/>
            </a:solidFill>
            <a:prstDash val="solid"/>
            <a:headEnd type="none"/>
            <a:tailEnd type="none"/>
          </a:ln>
        </p:spPr>
      </p:sp>
      <p:sp>
        <p:nvSpPr>
          <p:cNvPr id="75" name="S07_ContextDoc1"/>
          <p:cNvSpPr/>
          <p:nvPr/>
        </p:nvSpPr>
        <p:spPr>
          <a:xfrm>
            <a:off x="8174736" y="2944368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6" name="S07_ContextDocText1"/>
          <p:cNvSpPr/>
          <p:nvPr/>
        </p:nvSpPr>
        <p:spPr>
          <a:xfrm>
            <a:off x="8247888" y="31089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workflow</a:t>
            </a:r>
            <a:endParaRPr lang="en-US" sz="1050" dirty="0"/>
          </a:p>
        </p:txBody>
      </p:sp>
      <p:sp>
        <p:nvSpPr>
          <p:cNvPr id="77" name="S07_ContextLink2"/>
          <p:cNvSpPr/>
          <p:nvPr/>
        </p:nvSpPr>
        <p:spPr>
          <a:xfrm flipV="1">
            <a:off x="9729216" y="3218688"/>
            <a:ext cx="1289304" cy="384048"/>
          </a:xfrm>
          <a:prstGeom prst="line">
            <a:avLst/>
          </a:prstGeom>
          <a:noFill/>
          <a:ln w="15240">
            <a:solidFill>
              <a:srgbClr val="00A6A6"/>
            </a:solidFill>
            <a:prstDash val="solid"/>
            <a:headEnd type="none"/>
            <a:tailEnd type="none"/>
          </a:ln>
        </p:spPr>
      </p:sp>
      <p:sp>
        <p:nvSpPr>
          <p:cNvPr id="78" name="S07_ContextDoc2"/>
          <p:cNvSpPr/>
          <p:nvPr/>
        </p:nvSpPr>
        <p:spPr>
          <a:xfrm>
            <a:off x="10625328" y="2944368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9" name="S07_ContextDocText2"/>
          <p:cNvSpPr/>
          <p:nvPr/>
        </p:nvSpPr>
        <p:spPr>
          <a:xfrm>
            <a:off x="10698480" y="31089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</a:t>
            </a:r>
            <a:endParaRPr lang="en-US" sz="1050" dirty="0"/>
          </a:p>
        </p:txBody>
      </p:sp>
      <p:sp>
        <p:nvSpPr>
          <p:cNvPr id="80" name="S07_ContextLink3"/>
          <p:cNvSpPr/>
          <p:nvPr/>
        </p:nvSpPr>
        <p:spPr>
          <a:xfrm flipH="1">
            <a:off x="8567928" y="3602736"/>
            <a:ext cx="1161288" cy="96012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81" name="S07_ContextDoc3"/>
          <p:cNvSpPr/>
          <p:nvPr/>
        </p:nvSpPr>
        <p:spPr>
          <a:xfrm>
            <a:off x="8174736" y="4288536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2" name="S07_ContextDocText3"/>
          <p:cNvSpPr/>
          <p:nvPr/>
        </p:nvSpPr>
        <p:spPr>
          <a:xfrm>
            <a:off x="8247888" y="445312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</a:t>
            </a:r>
            <a:endParaRPr lang="en-US" sz="1050" dirty="0"/>
          </a:p>
        </p:txBody>
      </p:sp>
      <p:sp>
        <p:nvSpPr>
          <p:cNvPr id="83" name="S07_ContextLink4"/>
          <p:cNvSpPr/>
          <p:nvPr/>
        </p:nvSpPr>
        <p:spPr>
          <a:xfrm>
            <a:off x="9729216" y="3602736"/>
            <a:ext cx="1289304" cy="960120"/>
          </a:xfrm>
          <a:prstGeom prst="line">
            <a:avLst/>
          </a:prstGeom>
          <a:noFill/>
          <a:ln w="15240">
            <a:solidFill>
              <a:srgbClr val="7657D5"/>
            </a:solidFill>
            <a:prstDash val="solid"/>
            <a:headEnd type="none"/>
            <a:tailEnd type="none"/>
          </a:ln>
        </p:spPr>
      </p:sp>
      <p:sp>
        <p:nvSpPr>
          <p:cNvPr id="84" name="S07_ContextDoc4"/>
          <p:cNvSpPr/>
          <p:nvPr/>
        </p:nvSpPr>
        <p:spPr>
          <a:xfrm>
            <a:off x="10625328" y="4288536"/>
            <a:ext cx="78638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85" name="S07_ContextDocText4"/>
          <p:cNvSpPr/>
          <p:nvPr/>
        </p:nvSpPr>
        <p:spPr>
          <a:xfrm>
            <a:off x="10698480" y="445312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rules</a:t>
            </a:r>
            <a:endParaRPr lang="en-US" sz="1050" dirty="0"/>
          </a:p>
        </p:txBody>
      </p:sp>
      <p:sp>
        <p:nvSpPr>
          <p:cNvPr id="86" name="S07_ContextMapResult"/>
          <p:cNvSpPr/>
          <p:nvPr/>
        </p:nvSpPr>
        <p:spPr>
          <a:xfrm>
            <a:off x="8531352" y="517550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явный список источников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 причина выбора</a:t>
            </a:r>
            <a:endParaRPr lang="en-US" sz="1140" dirty="0"/>
          </a:p>
        </p:txBody>
      </p:sp>
      <p:sp>
        <p:nvSpPr>
          <p:cNvPr id="87" name="S07_IndexThesis"/>
          <p:cNvSpPr/>
          <p:nvPr/>
        </p:nvSpPr>
        <p:spPr>
          <a:xfrm>
            <a:off x="1856232" y="6108192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 не переписывает документы — делает их найденными, связанными и проверяемыми.</a:t>
            </a:r>
            <a:endParaRPr lang="en-US" sz="13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8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ПРОЦЕСС</a:t>
            </a:r>
            <a:endParaRPr lang="en-US" sz="850" dirty="0"/>
          </a:p>
        </p:txBody>
      </p:sp>
      <p:sp>
        <p:nvSpPr>
          <p:cNvPr id="4" name="S08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Три входа — один знакомый lifecycle</a:t>
            </a:r>
            <a:endParaRPr lang="en-US" sz="2850" dirty="0"/>
          </a:p>
        </p:txBody>
      </p:sp>
      <p:sp>
        <p:nvSpPr>
          <p:cNvPr id="5" name="S08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Выбор входа зависит от того, где уже находится аналитическая дельта.</a:t>
            </a:r>
            <a:endParaRPr lang="en-US" sz="1320" dirty="0"/>
          </a:p>
        </p:txBody>
      </p:sp>
      <p:sp>
        <p:nvSpPr>
          <p:cNvPr id="6" name="S08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8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830" dirty="0"/>
          </a:p>
        </p:txBody>
      </p:sp>
      <p:sp>
        <p:nvSpPr>
          <p:cNvPr id="8" name="S08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8_WorkflowLane1"/>
          <p:cNvSpPr/>
          <p:nvPr/>
        </p:nvSpPr>
        <p:spPr>
          <a:xfrm>
            <a:off x="658368" y="1444752"/>
            <a:ext cx="7818120" cy="813816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S08_WorkflowLaneAccent1"/>
          <p:cNvSpPr/>
          <p:nvPr/>
        </p:nvSpPr>
        <p:spPr>
          <a:xfrm>
            <a:off x="658368" y="1444752"/>
            <a:ext cx="82296" cy="813816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8_WorkflowLaneLabel1"/>
          <p:cNvSpPr/>
          <p:nvPr/>
        </p:nvSpPr>
        <p:spPr>
          <a:xfrm>
            <a:off x="932688" y="154533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ПОДКЛЮЧЕНИЕ СЕРВИСА</a:t>
            </a:r>
            <a:endParaRPr lang="en-US" sz="820" dirty="0"/>
          </a:p>
        </p:txBody>
      </p:sp>
      <p:sp>
        <p:nvSpPr>
          <p:cNvPr id="13" name="S08_WorkflowLane1Step1_Bg"/>
          <p:cNvSpPr/>
          <p:nvPr/>
        </p:nvSpPr>
        <p:spPr>
          <a:xfrm>
            <a:off x="2423160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4" name="S08_WorkflowLane1Step1_Text"/>
          <p:cNvSpPr/>
          <p:nvPr/>
        </p:nvSpPr>
        <p:spPr>
          <a:xfrm>
            <a:off x="2423160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Документы в Git</a:t>
            </a:r>
            <a:endParaRPr lang="en-US" sz="940" dirty="0"/>
          </a:p>
        </p:txBody>
      </p:sp>
      <p:sp>
        <p:nvSpPr>
          <p:cNvPr id="15" name="S08_WorkflowLane1Arrow1"/>
          <p:cNvSpPr/>
          <p:nvPr/>
        </p:nvSpPr>
        <p:spPr>
          <a:xfrm>
            <a:off x="3685032" y="1947672"/>
            <a:ext cx="219456" cy="914"/>
          </a:xfrm>
          <a:prstGeom prst="line">
            <a:avLst/>
          </a:prstGeom>
          <a:noFill/>
          <a:ln w="14605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6" name="S08_WorkflowLane1Step2_Bg"/>
          <p:cNvSpPr/>
          <p:nvPr/>
        </p:nvSpPr>
        <p:spPr>
          <a:xfrm>
            <a:off x="3950208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17" name="S08_WorkflowLane1Step2_Text"/>
          <p:cNvSpPr/>
          <p:nvPr/>
        </p:nvSpPr>
        <p:spPr>
          <a:xfrm>
            <a:off x="3950208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init-master-spec</a:t>
            </a:r>
            <a:endParaRPr lang="en-US" sz="940" dirty="0"/>
          </a:p>
        </p:txBody>
      </p:sp>
      <p:sp>
        <p:nvSpPr>
          <p:cNvPr id="18" name="S08_WorkflowLane1Arrow2"/>
          <p:cNvSpPr/>
          <p:nvPr/>
        </p:nvSpPr>
        <p:spPr>
          <a:xfrm>
            <a:off x="5212080" y="1947672"/>
            <a:ext cx="219456" cy="914"/>
          </a:xfrm>
          <a:prstGeom prst="line">
            <a:avLst/>
          </a:prstGeom>
          <a:noFill/>
          <a:ln w="14605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9" name="S08_WorkflowLane1Step3_Bg"/>
          <p:cNvSpPr/>
          <p:nvPr/>
        </p:nvSpPr>
        <p:spPr>
          <a:xfrm>
            <a:off x="5477256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0" name="S08_WorkflowLane1Step3_Text"/>
          <p:cNvSpPr/>
          <p:nvPr/>
        </p:nvSpPr>
        <p:spPr>
          <a:xfrm>
            <a:off x="5477256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_sdd index</a:t>
            </a:r>
            <a:endParaRPr lang="en-US" sz="940" dirty="0"/>
          </a:p>
        </p:txBody>
      </p:sp>
      <p:sp>
        <p:nvSpPr>
          <p:cNvPr id="21" name="S08_WorkflowLane1Arrow3"/>
          <p:cNvSpPr/>
          <p:nvPr/>
        </p:nvSpPr>
        <p:spPr>
          <a:xfrm>
            <a:off x="6739128" y="1947672"/>
            <a:ext cx="219456" cy="914"/>
          </a:xfrm>
          <a:prstGeom prst="line">
            <a:avLst/>
          </a:prstGeom>
          <a:noFill/>
          <a:ln w="14605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2" name="S08_WorkflowLane1Step4_Bg"/>
          <p:cNvSpPr/>
          <p:nvPr/>
        </p:nvSpPr>
        <p:spPr>
          <a:xfrm>
            <a:off x="7004304" y="1792224"/>
            <a:ext cx="1225296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3" name="S08_WorkflowLane1Step4_Text"/>
          <p:cNvSpPr/>
          <p:nvPr/>
        </p:nvSpPr>
        <p:spPr>
          <a:xfrm>
            <a:off x="7004304" y="1796796"/>
            <a:ext cx="1225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</a:t>
            </a:r>
            <a:endParaRPr lang="en-US" sz="940" dirty="0"/>
          </a:p>
        </p:txBody>
      </p:sp>
      <p:sp>
        <p:nvSpPr>
          <p:cNvPr id="24" name="S08_WorkflowConverge1"/>
          <p:cNvSpPr/>
          <p:nvPr/>
        </p:nvSpPr>
        <p:spPr>
          <a:xfrm>
            <a:off x="8476488" y="1856232"/>
            <a:ext cx="429768" cy="950976"/>
          </a:xfrm>
          <a:prstGeom prst="line">
            <a:avLst/>
          </a:prstGeom>
          <a:noFill/>
          <a:ln w="15875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5" name="S08_WorkflowLane2"/>
          <p:cNvSpPr/>
          <p:nvPr/>
        </p:nvSpPr>
        <p:spPr>
          <a:xfrm>
            <a:off x="658368" y="2468880"/>
            <a:ext cx="7818120" cy="813816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6" name="S08_WorkflowLaneAccent2"/>
          <p:cNvSpPr/>
          <p:nvPr/>
        </p:nvSpPr>
        <p:spPr>
          <a:xfrm>
            <a:off x="658368" y="2468880"/>
            <a:ext cx="82296" cy="8138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7" name="S08_WorkflowLaneLabel2"/>
          <p:cNvSpPr/>
          <p:nvPr/>
        </p:nvSpPr>
        <p:spPr>
          <a:xfrm>
            <a:off x="932688" y="25694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ОБЫЧНЫЙ CHANGE</a:t>
            </a:r>
            <a:endParaRPr lang="en-US" sz="820" dirty="0"/>
          </a:p>
        </p:txBody>
      </p:sp>
      <p:sp>
        <p:nvSpPr>
          <p:cNvPr id="28" name="S08_WorkflowLane2Step1_Bg"/>
          <p:cNvSpPr/>
          <p:nvPr/>
        </p:nvSpPr>
        <p:spPr>
          <a:xfrm>
            <a:off x="2423160" y="2816352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29" name="S08_WorkflowLane2Step1_Text"/>
          <p:cNvSpPr/>
          <p:nvPr/>
        </p:nvSpPr>
        <p:spPr>
          <a:xfrm>
            <a:off x="2423160" y="282092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Новое требование</a:t>
            </a:r>
            <a:endParaRPr lang="en-US" sz="940" dirty="0"/>
          </a:p>
        </p:txBody>
      </p:sp>
      <p:sp>
        <p:nvSpPr>
          <p:cNvPr id="30" name="S08_WorkflowLane2Arrow1"/>
          <p:cNvSpPr/>
          <p:nvPr/>
        </p:nvSpPr>
        <p:spPr>
          <a:xfrm>
            <a:off x="4050792" y="2971800"/>
            <a:ext cx="393192" cy="914"/>
          </a:xfrm>
          <a:prstGeom prst="line">
            <a:avLst/>
          </a:prstGeom>
          <a:noFill/>
          <a:ln w="14605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1" name="S08_WorkflowLane2Step2_Bg"/>
          <p:cNvSpPr/>
          <p:nvPr/>
        </p:nvSpPr>
        <p:spPr>
          <a:xfrm>
            <a:off x="4489704" y="2816352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2" name="S08_WorkflowLane2Step2_Text"/>
          <p:cNvSpPr/>
          <p:nvPr/>
        </p:nvSpPr>
        <p:spPr>
          <a:xfrm>
            <a:off x="4489704" y="282092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</a:t>
            </a:r>
            <a:endParaRPr lang="en-US" sz="940" dirty="0"/>
          </a:p>
        </p:txBody>
      </p:sp>
      <p:sp>
        <p:nvSpPr>
          <p:cNvPr id="33" name="S08_WorkflowLane2Arrow2"/>
          <p:cNvSpPr/>
          <p:nvPr/>
        </p:nvSpPr>
        <p:spPr>
          <a:xfrm>
            <a:off x="6117336" y="2971800"/>
            <a:ext cx="393192" cy="914"/>
          </a:xfrm>
          <a:prstGeom prst="line">
            <a:avLst/>
          </a:prstGeom>
          <a:noFill/>
          <a:ln w="14605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4" name="S08_WorkflowLane2Step3_Bg"/>
          <p:cNvSpPr/>
          <p:nvPr/>
        </p:nvSpPr>
        <p:spPr>
          <a:xfrm>
            <a:off x="6556248" y="2816352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5" name="S08_WorkflowLane2Step3_Text"/>
          <p:cNvSpPr/>
          <p:nvPr/>
        </p:nvSpPr>
        <p:spPr>
          <a:xfrm>
            <a:off x="6556248" y="282092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</a:t>
            </a:r>
            <a:endParaRPr lang="en-US" sz="940" dirty="0"/>
          </a:p>
        </p:txBody>
      </p:sp>
      <p:sp>
        <p:nvSpPr>
          <p:cNvPr id="36" name="S08_WorkflowConverge2"/>
          <p:cNvSpPr/>
          <p:nvPr/>
        </p:nvSpPr>
        <p:spPr>
          <a:xfrm flipV="1">
            <a:off x="8476488" y="2807208"/>
            <a:ext cx="429768" cy="73152"/>
          </a:xfrm>
          <a:prstGeom prst="line">
            <a:avLst/>
          </a:prstGeom>
          <a:noFill/>
          <a:ln w="15875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7" name="S08_WorkflowLane3"/>
          <p:cNvSpPr/>
          <p:nvPr/>
        </p:nvSpPr>
        <p:spPr>
          <a:xfrm>
            <a:off x="658368" y="3493008"/>
            <a:ext cx="7818120" cy="813816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8" name="S08_WorkflowLaneAccent3"/>
          <p:cNvSpPr/>
          <p:nvPr/>
        </p:nvSpPr>
        <p:spPr>
          <a:xfrm>
            <a:off x="658368" y="3493008"/>
            <a:ext cx="82296" cy="8138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9" name="S08_WorkflowLaneLabel3"/>
          <p:cNvSpPr/>
          <p:nvPr/>
        </p:nvSpPr>
        <p:spPr>
          <a:xfrm>
            <a:off x="932688" y="35935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80" kern="0" dirty="0">
                <a:solidFill>
                  <a:srgbClr val="F5A62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ВЕТКА АНАЛИТИКА</a:t>
            </a:r>
            <a:endParaRPr lang="en-US" sz="820" dirty="0"/>
          </a:p>
        </p:txBody>
      </p:sp>
      <p:sp>
        <p:nvSpPr>
          <p:cNvPr id="40" name="S08_WorkflowLane3Step1_Bg"/>
          <p:cNvSpPr/>
          <p:nvPr/>
        </p:nvSpPr>
        <p:spPr>
          <a:xfrm>
            <a:off x="2423160" y="3840480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41" name="S08_WorkflowLane3Step1_Text"/>
          <p:cNvSpPr/>
          <p:nvPr/>
        </p:nvSpPr>
        <p:spPr>
          <a:xfrm>
            <a:off x="2423160" y="3845052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Изменённые docs</a:t>
            </a:r>
            <a:endParaRPr lang="en-US" sz="940" dirty="0"/>
          </a:p>
        </p:txBody>
      </p:sp>
      <p:sp>
        <p:nvSpPr>
          <p:cNvPr id="42" name="S08_WorkflowLane3Arrow1"/>
          <p:cNvSpPr/>
          <p:nvPr/>
        </p:nvSpPr>
        <p:spPr>
          <a:xfrm>
            <a:off x="4050792" y="3995928"/>
            <a:ext cx="393192" cy="914"/>
          </a:xfrm>
          <a:prstGeom prst="line">
            <a:avLst/>
          </a:prstGeom>
          <a:noFill/>
          <a:ln w="1460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43" name="S08_WorkflowLane3Step2_Bg"/>
          <p:cNvSpPr/>
          <p:nvPr/>
        </p:nvSpPr>
        <p:spPr>
          <a:xfrm>
            <a:off x="4489704" y="3840480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44" name="S08_WorkflowLane3Step2_Text"/>
          <p:cNvSpPr/>
          <p:nvPr/>
        </p:nvSpPr>
        <p:spPr>
          <a:xfrm>
            <a:off x="4489704" y="3845052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440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change-from-diff</a:t>
            </a:r>
            <a:endParaRPr lang="en-US" sz="940" dirty="0"/>
          </a:p>
        </p:txBody>
      </p:sp>
      <p:sp>
        <p:nvSpPr>
          <p:cNvPr id="45" name="S08_WorkflowLane3Arrow2"/>
          <p:cNvSpPr/>
          <p:nvPr/>
        </p:nvSpPr>
        <p:spPr>
          <a:xfrm>
            <a:off x="6117336" y="3995928"/>
            <a:ext cx="393192" cy="914"/>
          </a:xfrm>
          <a:prstGeom prst="line">
            <a:avLst/>
          </a:prstGeom>
          <a:noFill/>
          <a:ln w="1460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46" name="S08_WorkflowLane3Step3_Bg"/>
          <p:cNvSpPr/>
          <p:nvPr/>
        </p:nvSpPr>
        <p:spPr>
          <a:xfrm>
            <a:off x="6556248" y="3840480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7" name="S08_WorkflowLane3Step3_Text"/>
          <p:cNvSpPr/>
          <p:nvPr/>
        </p:nvSpPr>
        <p:spPr>
          <a:xfrm>
            <a:off x="6556248" y="3845052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 + evidence</a:t>
            </a:r>
            <a:endParaRPr lang="en-US" sz="940" dirty="0"/>
          </a:p>
        </p:txBody>
      </p:sp>
      <p:sp>
        <p:nvSpPr>
          <p:cNvPr id="48" name="S08_WorkflowConverge3"/>
          <p:cNvSpPr/>
          <p:nvPr/>
        </p:nvSpPr>
        <p:spPr>
          <a:xfrm flipV="1">
            <a:off x="8476488" y="2807208"/>
            <a:ext cx="429768" cy="1097280"/>
          </a:xfrm>
          <a:prstGeom prst="line">
            <a:avLst/>
          </a:prstGeom>
          <a:noFill/>
          <a:ln w="15875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49" name="S08_UnifiedChangeCard"/>
          <p:cNvSpPr/>
          <p:nvPr/>
        </p:nvSpPr>
        <p:spPr>
          <a:xfrm>
            <a:off x="8979408" y="1993392"/>
            <a:ext cx="2523744" cy="1627632"/>
          </a:xfrm>
          <a:prstGeom prst="roundRect">
            <a:avLst>
              <a:gd name="adj" fmla="val 449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.6373007796100902e+41" dist="4.366135412293574e+41" dir="2.72097792e+49">
              <a:srgbClr val="22304A">
                <a:alpha val="1.2e+49"/>
              </a:srgbClr>
            </a:outerShdw>
          </a:effectLst>
        </p:spPr>
      </p:sp>
      <p:sp>
        <p:nvSpPr>
          <p:cNvPr id="50" name="S08_UnifiedChangeLabel_Bg"/>
          <p:cNvSpPr/>
          <p:nvPr/>
        </p:nvSpPr>
        <p:spPr>
          <a:xfrm>
            <a:off x="9491472" y="2267712"/>
            <a:ext cx="1499616" cy="347472"/>
          </a:xfrm>
          <a:prstGeom prst="roundRect">
            <a:avLst>
              <a:gd name="adj" fmla="val 21053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51" name="S08_UnifiedChangeLabel_Text"/>
          <p:cNvSpPr/>
          <p:nvPr/>
        </p:nvSpPr>
        <p:spPr>
          <a:xfrm>
            <a:off x="9491472" y="2272284"/>
            <a:ext cx="14996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ЕДИНАЯ ДЕЛЬТА</a:t>
            </a:r>
            <a:endParaRPr lang="en-US" sz="1020" dirty="0"/>
          </a:p>
        </p:txBody>
      </p:sp>
      <p:sp>
        <p:nvSpPr>
          <p:cNvPr id="52" name="S08_UnifiedChangeTitle"/>
          <p:cNvSpPr/>
          <p:nvPr/>
        </p:nvSpPr>
        <p:spPr>
          <a:xfrm>
            <a:off x="9400032" y="276148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change.md</a:t>
            </a:r>
            <a:endParaRPr lang="en-US" sz="1900" dirty="0"/>
          </a:p>
        </p:txBody>
      </p:sp>
      <p:sp>
        <p:nvSpPr>
          <p:cNvPr id="53" name="S08_UnifiedChangeSubtitle"/>
          <p:cNvSpPr/>
          <p:nvPr/>
        </p:nvSpPr>
        <p:spPr>
          <a:xfrm>
            <a:off x="9290304" y="3182112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5CE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 · mode · evidence</a:t>
            </a:r>
            <a:endParaRPr lang="en-US" sz="950" dirty="0"/>
          </a:p>
        </p:txBody>
      </p:sp>
      <p:sp>
        <p:nvSpPr>
          <p:cNvPr id="54" name="S08_SharedLifecycleLabel"/>
          <p:cNvSpPr/>
          <p:nvPr/>
        </p:nvSpPr>
        <p:spPr>
          <a:xfrm>
            <a:off x="658368" y="4599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ОБЩИЙ LIFECYCLE</a:t>
            </a:r>
            <a:endParaRPr lang="en-US" sz="850" dirty="0"/>
          </a:p>
        </p:txBody>
      </p:sp>
      <p:sp>
        <p:nvSpPr>
          <p:cNvPr id="55" name="S08_CommonLifecycleCard1"/>
          <p:cNvSpPr/>
          <p:nvPr/>
        </p:nvSpPr>
        <p:spPr>
          <a:xfrm>
            <a:off x="1298448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56" name="S08_CommonLifecycleText1"/>
          <p:cNvSpPr/>
          <p:nvPr/>
        </p:nvSpPr>
        <p:spPr>
          <a:xfrm>
            <a:off x="1371600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/ approve</a:t>
            </a:r>
            <a:endParaRPr lang="en-US" sz="1180" dirty="0"/>
          </a:p>
        </p:txBody>
      </p:sp>
      <p:sp>
        <p:nvSpPr>
          <p:cNvPr id="57" name="S08_CommonLifecycleArrow1"/>
          <p:cNvSpPr/>
          <p:nvPr/>
        </p:nvSpPr>
        <p:spPr>
          <a:xfrm>
            <a:off x="2926080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58" name="S08_CommonLifecycleCard2"/>
          <p:cNvSpPr/>
          <p:nvPr/>
        </p:nvSpPr>
        <p:spPr>
          <a:xfrm>
            <a:off x="3374136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59" name="S08_CommonLifecycleText2"/>
          <p:cNvSpPr/>
          <p:nvPr/>
        </p:nvSpPr>
        <p:spPr>
          <a:xfrm>
            <a:off x="3447288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design?</a:t>
            </a:r>
            <a:endParaRPr lang="en-US" sz="1180" dirty="0"/>
          </a:p>
        </p:txBody>
      </p:sp>
      <p:sp>
        <p:nvSpPr>
          <p:cNvPr id="60" name="S08_CommonLifecycleArrow2"/>
          <p:cNvSpPr/>
          <p:nvPr/>
        </p:nvSpPr>
        <p:spPr>
          <a:xfrm>
            <a:off x="5001768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61" name="S08_CommonLifecycleCard3"/>
          <p:cNvSpPr/>
          <p:nvPr/>
        </p:nvSpPr>
        <p:spPr>
          <a:xfrm>
            <a:off x="5449824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2" name="S08_CommonLifecycleText3"/>
          <p:cNvSpPr/>
          <p:nvPr/>
        </p:nvSpPr>
        <p:spPr>
          <a:xfrm>
            <a:off x="5522976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implement</a:t>
            </a:r>
            <a:endParaRPr lang="en-US" sz="1180" dirty="0"/>
          </a:p>
        </p:txBody>
      </p:sp>
      <p:sp>
        <p:nvSpPr>
          <p:cNvPr id="63" name="S08_CommonLifecycleArrow3"/>
          <p:cNvSpPr/>
          <p:nvPr/>
        </p:nvSpPr>
        <p:spPr>
          <a:xfrm>
            <a:off x="7077456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64" name="S08_CommonLifecycleCard4"/>
          <p:cNvSpPr/>
          <p:nvPr/>
        </p:nvSpPr>
        <p:spPr>
          <a:xfrm>
            <a:off x="7525512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5" name="S08_CommonLifecycleText4"/>
          <p:cNvSpPr/>
          <p:nvPr/>
        </p:nvSpPr>
        <p:spPr>
          <a:xfrm>
            <a:off x="7598664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 / verify</a:t>
            </a:r>
            <a:endParaRPr lang="en-US" sz="1180" dirty="0"/>
          </a:p>
        </p:txBody>
      </p:sp>
      <p:sp>
        <p:nvSpPr>
          <p:cNvPr id="66" name="S08_CommonLifecycleArrow4"/>
          <p:cNvSpPr/>
          <p:nvPr/>
        </p:nvSpPr>
        <p:spPr>
          <a:xfrm>
            <a:off x="9153144" y="5294376"/>
            <a:ext cx="356616" cy="914"/>
          </a:xfrm>
          <a:prstGeom prst="line">
            <a:avLst/>
          </a:prstGeom>
          <a:noFill/>
          <a:ln w="1651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67" name="S08_CommonLifecycleCard5"/>
          <p:cNvSpPr/>
          <p:nvPr/>
        </p:nvSpPr>
        <p:spPr>
          <a:xfrm>
            <a:off x="9601200" y="4956048"/>
            <a:ext cx="15727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8" name="S08_CommonLifecycleText5"/>
          <p:cNvSpPr/>
          <p:nvPr/>
        </p:nvSpPr>
        <p:spPr>
          <a:xfrm>
            <a:off x="9674352" y="51389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archive</a:t>
            </a:r>
            <a:endParaRPr lang="en-US" sz="1180" dirty="0"/>
          </a:p>
        </p:txBody>
      </p:sp>
      <p:sp>
        <p:nvSpPr>
          <p:cNvPr id="69" name="S08_ModeHint_Bg"/>
          <p:cNvSpPr/>
          <p:nvPr/>
        </p:nvSpPr>
        <p:spPr>
          <a:xfrm>
            <a:off x="3447288" y="5907024"/>
            <a:ext cx="5285232" cy="347472"/>
          </a:xfrm>
          <a:prstGeom prst="roundRect">
            <a:avLst>
              <a:gd name="adj" fmla="val 21053"/>
            </a:avLst>
          </a:prstGeom>
          <a:solidFill>
            <a:srgbClr val="E5F8F6"/>
          </a:solidFill>
          <a:ln w="12700">
            <a:solidFill>
              <a:srgbClr val="E5F8F6">
                <a:alpha val="0"/>
              </a:srgbClr>
            </a:solidFill>
            <a:prstDash val="solid"/>
          </a:ln>
        </p:spPr>
      </p:sp>
      <p:sp>
        <p:nvSpPr>
          <p:cNvPr id="70" name="S08_ModeHint_Text"/>
          <p:cNvSpPr/>
          <p:nvPr/>
        </p:nvSpPr>
        <p:spPr>
          <a:xfrm>
            <a:off x="3447288" y="5911596"/>
            <a:ext cx="5285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branch-diff → verify · manual-change → explicit apply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09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ЭФФЕКТ И ЗРЕЛОСТЬ</a:t>
            </a:r>
            <a:endParaRPr lang="en-US" sz="850" dirty="0"/>
          </a:p>
        </p:txBody>
      </p:sp>
      <p:sp>
        <p:nvSpPr>
          <p:cNvPr id="4" name="S09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получаем — и какую цену честно принимаем</a:t>
            </a:r>
            <a:endParaRPr lang="en-US" sz="2850" dirty="0"/>
          </a:p>
        </p:txBody>
      </p:sp>
      <p:sp>
        <p:nvSpPr>
          <p:cNvPr id="5" name="S09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Расширение закрывает наши требования, но добавляет новый слой governance.</a:t>
            </a:r>
            <a:endParaRPr lang="en-US" sz="1320" dirty="0"/>
          </a:p>
        </p:txBody>
      </p:sp>
      <p:sp>
        <p:nvSpPr>
          <p:cNvPr id="6" name="S09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09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</a:t>
            </a:r>
            <a:endParaRPr lang="en-US" sz="830" dirty="0"/>
          </a:p>
        </p:txBody>
      </p:sp>
      <p:sp>
        <p:nvSpPr>
          <p:cNvPr id="8" name="S09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09_BenefitCard1"/>
          <p:cNvSpPr/>
          <p:nvPr/>
        </p:nvSpPr>
        <p:spPr>
          <a:xfrm>
            <a:off x="658368" y="1472184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1" name="S09_BenefitIcon1_Bg"/>
          <p:cNvSpPr/>
          <p:nvPr/>
        </p:nvSpPr>
        <p:spPr>
          <a:xfrm>
            <a:off x="877824" y="1700784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S09_BenefitIcon1_Text"/>
          <p:cNvSpPr/>
          <p:nvPr/>
        </p:nvSpPr>
        <p:spPr>
          <a:xfrm>
            <a:off x="877824" y="1705356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↳</a:t>
            </a:r>
            <a:endParaRPr lang="en-US" sz="1320" dirty="0"/>
          </a:p>
        </p:txBody>
      </p:sp>
      <p:sp>
        <p:nvSpPr>
          <p:cNvPr id="13" name="S09_BenefitTitle1"/>
          <p:cNvSpPr/>
          <p:nvPr/>
        </p:nvSpPr>
        <p:spPr>
          <a:xfrm>
            <a:off x="1600200" y="17007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Управляемый контекст</a:t>
            </a:r>
            <a:endParaRPr lang="en-US" sz="1450" dirty="0"/>
          </a:p>
        </p:txBody>
      </p:sp>
      <p:sp>
        <p:nvSpPr>
          <p:cNvPr id="14" name="S09_BenefitText1"/>
          <p:cNvSpPr/>
          <p:nvPr/>
        </p:nvSpPr>
        <p:spPr>
          <a:xfrm>
            <a:off x="877824" y="2258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агент читает релевантные документы, а не всю папку</a:t>
            </a:r>
            <a:endParaRPr lang="en-US" sz="1120" dirty="0"/>
          </a:p>
        </p:txBody>
      </p:sp>
      <p:sp>
        <p:nvSpPr>
          <p:cNvPr id="15" name="S09_BenefitCard2"/>
          <p:cNvSpPr/>
          <p:nvPr/>
        </p:nvSpPr>
        <p:spPr>
          <a:xfrm>
            <a:off x="4005072" y="1472184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S09_BenefitIcon2_Bg"/>
          <p:cNvSpPr/>
          <p:nvPr/>
        </p:nvSpPr>
        <p:spPr>
          <a:xfrm>
            <a:off x="4224528" y="1700784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17" name="S09_BenefitIcon2_Text"/>
          <p:cNvSpPr/>
          <p:nvPr/>
        </p:nvSpPr>
        <p:spPr>
          <a:xfrm>
            <a:off x="4224528" y="1705356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{}</a:t>
            </a:r>
            <a:endParaRPr lang="en-US" sz="1320" dirty="0"/>
          </a:p>
        </p:txBody>
      </p:sp>
      <p:sp>
        <p:nvSpPr>
          <p:cNvPr id="18" name="S09_BenefitTitle2"/>
          <p:cNvSpPr/>
          <p:nvPr/>
        </p:nvSpPr>
        <p:spPr>
          <a:xfrm>
            <a:off x="4946904" y="17007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Multi-format source of truth</a:t>
            </a:r>
            <a:endParaRPr lang="en-US" sz="1450" dirty="0"/>
          </a:p>
        </p:txBody>
      </p:sp>
      <p:sp>
        <p:nvSpPr>
          <p:cNvPr id="19" name="S09_BenefitText2"/>
          <p:cNvSpPr/>
          <p:nvPr/>
        </p:nvSpPr>
        <p:spPr>
          <a:xfrm>
            <a:off x="4224528" y="22585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MD, OpenAPI, YAML, DBML и диаграммы — равноправные артефакты</a:t>
            </a:r>
            <a:endParaRPr lang="en-US" sz="1120" dirty="0"/>
          </a:p>
        </p:txBody>
      </p:sp>
      <p:sp>
        <p:nvSpPr>
          <p:cNvPr id="20" name="S09_BenefitCard3"/>
          <p:cNvSpPr/>
          <p:nvPr/>
        </p:nvSpPr>
        <p:spPr>
          <a:xfrm>
            <a:off x="658368" y="3182112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1" name="S09_BenefitIcon3_Bg"/>
          <p:cNvSpPr/>
          <p:nvPr/>
        </p:nvSpPr>
        <p:spPr>
          <a:xfrm>
            <a:off x="877824" y="3410712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2" name="S09_BenefitIcon3_Text"/>
          <p:cNvSpPr/>
          <p:nvPr/>
        </p:nvSpPr>
        <p:spPr>
          <a:xfrm>
            <a:off x="877824" y="3415284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</a:t>
            </a:r>
            <a:endParaRPr lang="en-US" sz="1320" dirty="0"/>
          </a:p>
        </p:txBody>
      </p:sp>
      <p:sp>
        <p:nvSpPr>
          <p:cNvPr id="23" name="S09_BenefitTitle3"/>
          <p:cNvSpPr/>
          <p:nvPr/>
        </p:nvSpPr>
        <p:spPr>
          <a:xfrm>
            <a:off x="1600200" y="3410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Traceability</a:t>
            </a:r>
            <a:endParaRPr lang="en-US" sz="1450" dirty="0"/>
          </a:p>
        </p:txBody>
      </p:sp>
      <p:sp>
        <p:nvSpPr>
          <p:cNvPr id="24" name="S09_BenefitText3"/>
          <p:cNvSpPr/>
          <p:nvPr/>
        </p:nvSpPr>
        <p:spPr>
          <a:xfrm>
            <a:off x="877824" y="39684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источники, refs, changed/context files и причины выбора</a:t>
            </a:r>
            <a:endParaRPr lang="en-US" sz="1120" dirty="0"/>
          </a:p>
        </p:txBody>
      </p:sp>
      <p:sp>
        <p:nvSpPr>
          <p:cNvPr id="25" name="S09_BenefitCard4"/>
          <p:cNvSpPr/>
          <p:nvPr/>
        </p:nvSpPr>
        <p:spPr>
          <a:xfrm>
            <a:off x="4005072" y="3182112"/>
            <a:ext cx="3054096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6" name="S09_BenefitIcon4_Bg"/>
          <p:cNvSpPr/>
          <p:nvPr/>
        </p:nvSpPr>
        <p:spPr>
          <a:xfrm>
            <a:off x="4224528" y="3410712"/>
            <a:ext cx="576072" cy="438912"/>
          </a:xfrm>
          <a:prstGeom prst="roundRect">
            <a:avLst>
              <a:gd name="adj" fmla="val 16667"/>
            </a:avLst>
          </a:prstGeom>
          <a:solidFill>
            <a:srgbClr val="16A36A"/>
          </a:solidFill>
          <a:ln w="12700">
            <a:solidFill>
              <a:srgbClr val="16A36A">
                <a:alpha val="0"/>
              </a:srgbClr>
            </a:solidFill>
            <a:prstDash val="solid"/>
          </a:ln>
        </p:spPr>
      </p:sp>
      <p:sp>
        <p:nvSpPr>
          <p:cNvPr id="27" name="S09_BenefitIcon4_Text"/>
          <p:cNvSpPr/>
          <p:nvPr/>
        </p:nvSpPr>
        <p:spPr>
          <a:xfrm>
            <a:off x="4224528" y="3415284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320" dirty="0"/>
          </a:p>
        </p:txBody>
      </p:sp>
      <p:sp>
        <p:nvSpPr>
          <p:cNvPr id="28" name="S09_BenefitTitle4"/>
          <p:cNvSpPr/>
          <p:nvPr/>
        </p:nvSpPr>
        <p:spPr>
          <a:xfrm>
            <a:off x="4946904" y="3410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Безопаснее обновлять</a:t>
            </a:r>
            <a:endParaRPr lang="en-US" sz="1450" dirty="0"/>
          </a:p>
        </p:txBody>
      </p:sp>
      <p:sp>
        <p:nvSpPr>
          <p:cNvPr id="29" name="S09_BenefitText4"/>
          <p:cNvSpPr/>
          <p:nvPr/>
        </p:nvSpPr>
        <p:spPr>
          <a:xfrm>
            <a:off x="4224528" y="39684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verify/manual gateway вместо blind merge по разным форматам</a:t>
            </a:r>
            <a:endParaRPr lang="en-US" sz="1120" dirty="0"/>
          </a:p>
        </p:txBody>
      </p:sp>
      <p:sp>
        <p:nvSpPr>
          <p:cNvPr id="30" name="S09_TradeoffsCard"/>
          <p:cNvSpPr/>
          <p:nvPr/>
        </p:nvSpPr>
        <p:spPr>
          <a:xfrm>
            <a:off x="7333488" y="1472184"/>
            <a:ext cx="4169664" cy="3118104"/>
          </a:xfrm>
          <a:prstGeom prst="roundRect">
            <a:avLst>
              <a:gd name="adj" fmla="val 2346"/>
            </a:avLst>
          </a:prstGeom>
          <a:solidFill>
            <a:srgbClr val="FFF3D9"/>
          </a:solidFill>
          <a:ln w="12700">
            <a:solidFill>
              <a:srgbClr val="F1D28B"/>
            </a:solidFill>
            <a:prstDash val="solid"/>
          </a:ln>
        </p:spPr>
      </p:sp>
      <p:sp>
        <p:nvSpPr>
          <p:cNvPr id="31" name="S09_TradeoffsLabel_Bg"/>
          <p:cNvSpPr/>
          <p:nvPr/>
        </p:nvSpPr>
        <p:spPr>
          <a:xfrm>
            <a:off x="7626096" y="1737360"/>
            <a:ext cx="2066544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09_TradeoffsLabel_Text"/>
          <p:cNvSpPr/>
          <p:nvPr/>
        </p:nvSpPr>
        <p:spPr>
          <a:xfrm>
            <a:off x="7626096" y="1741932"/>
            <a:ext cx="20665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8A5A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ОСОЗНАННЫЕ ОГРАНИЧЕНИЯ</a:t>
            </a:r>
            <a:endParaRPr lang="en-US" sz="980" dirty="0"/>
          </a:p>
        </p:txBody>
      </p:sp>
      <p:sp>
        <p:nvSpPr>
          <p:cNvPr id="33" name="S09_Tradeoff1_Dot"/>
          <p:cNvSpPr/>
          <p:nvPr/>
        </p:nvSpPr>
        <p:spPr>
          <a:xfrm>
            <a:off x="7635240" y="245059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4" name="S09_Tradeoff1_Text"/>
          <p:cNvSpPr/>
          <p:nvPr/>
        </p:nvSpPr>
        <p:spPr>
          <a:xfrm>
            <a:off x="7818120" y="2331720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manifest может устареть</a:t>
            </a:r>
            <a:endParaRPr lang="en-US" sz="1260" dirty="0"/>
          </a:p>
        </p:txBody>
      </p:sp>
      <p:sp>
        <p:nvSpPr>
          <p:cNvPr id="35" name="S09_Tradeoff2_Dot"/>
          <p:cNvSpPr/>
          <p:nvPr/>
        </p:nvSpPr>
        <p:spPr>
          <a:xfrm>
            <a:off x="7635240" y="294436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6" name="S09_Tradeoff2_Text"/>
          <p:cNvSpPr/>
          <p:nvPr/>
        </p:nvSpPr>
        <p:spPr>
          <a:xfrm>
            <a:off x="7818120" y="2825496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нужны schema, validators и CI gates</a:t>
            </a:r>
            <a:endParaRPr lang="en-US" sz="1260" dirty="0"/>
          </a:p>
        </p:txBody>
      </p:sp>
      <p:sp>
        <p:nvSpPr>
          <p:cNvPr id="37" name="S09_Tradeoff3_Dot"/>
          <p:cNvSpPr/>
          <p:nvPr/>
        </p:nvSpPr>
        <p:spPr>
          <a:xfrm>
            <a:off x="7635240" y="343814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8" name="S09_Tradeoff3_Text"/>
          <p:cNvSpPr/>
          <p:nvPr/>
        </p:nvSpPr>
        <p:spPr>
          <a:xfrm>
            <a:off x="7818120" y="3319272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branch-diff verify пока процедурный</a:t>
            </a:r>
            <a:endParaRPr lang="en-US" sz="1260" dirty="0"/>
          </a:p>
        </p:txBody>
      </p:sp>
      <p:sp>
        <p:nvSpPr>
          <p:cNvPr id="39" name="S09_Tradeoff4_Dot"/>
          <p:cNvSpPr/>
          <p:nvPr/>
        </p:nvSpPr>
        <p:spPr>
          <a:xfrm>
            <a:off x="7635240" y="393192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0" name="S09_Tradeoff4_Text"/>
          <p:cNvSpPr/>
          <p:nvPr/>
        </p:nvSpPr>
        <p:spPr>
          <a:xfrm>
            <a:off x="7818120" y="3813048"/>
            <a:ext cx="3337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больше церемоний; greenfield-путь слабее</a:t>
            </a:r>
            <a:endParaRPr lang="en-US" sz="1260" dirty="0"/>
          </a:p>
        </p:txBody>
      </p:sp>
      <p:sp>
        <p:nvSpPr>
          <p:cNvPr id="41" name="S09_RoadmapCard"/>
          <p:cNvSpPr/>
          <p:nvPr/>
        </p:nvSpPr>
        <p:spPr>
          <a:xfrm>
            <a:off x="658368" y="4928616"/>
            <a:ext cx="10844784" cy="1115568"/>
          </a:xfrm>
          <a:prstGeom prst="roundRect">
            <a:avLst>
              <a:gd name="adj" fmla="val 655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2.0793719901048145e+45" dist="5.544991973612839e+45" dir="1.6325867520000003e+54">
              <a:srgbClr val="22304A">
                <a:alpha val="1.2e+54"/>
              </a:srgbClr>
            </a:outerShdw>
          </a:effectLst>
        </p:spPr>
      </p:sp>
      <p:sp>
        <p:nvSpPr>
          <p:cNvPr id="42" name="S09_RoadmapLabel"/>
          <p:cNvSpPr/>
          <p:nvPr/>
        </p:nvSpPr>
        <p:spPr>
          <a:xfrm>
            <a:off x="896112" y="51572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C5CED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ROADMAP</a:t>
            </a:r>
            <a:endParaRPr lang="en-US" sz="840" dirty="0"/>
          </a:p>
        </p:txBody>
      </p:sp>
      <p:sp>
        <p:nvSpPr>
          <p:cNvPr id="43" name="S09_RoadmapNode1"/>
          <p:cNvSpPr/>
          <p:nvPr/>
        </p:nvSpPr>
        <p:spPr>
          <a:xfrm>
            <a:off x="1828800" y="5239512"/>
            <a:ext cx="246888" cy="24688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4" name="S09_RoadmapTitle1"/>
          <p:cNvSpPr/>
          <p:nvPr/>
        </p:nvSpPr>
        <p:spPr>
          <a:xfrm>
            <a:off x="2185416" y="50932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Сейчас</a:t>
            </a:r>
            <a:endParaRPr lang="en-US" sz="1030" dirty="0"/>
          </a:p>
        </p:txBody>
      </p:sp>
      <p:sp>
        <p:nvSpPr>
          <p:cNvPr id="45" name="S09_RoadmapText1"/>
          <p:cNvSpPr/>
          <p:nvPr/>
        </p:nvSpPr>
        <p:spPr>
          <a:xfrm>
            <a:off x="2185416" y="5376672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index + relations</a:t>
            </a:r>
            <a:endParaRPr lang="en-US" sz="1120" dirty="0"/>
          </a:p>
        </p:txBody>
      </p:sp>
      <p:sp>
        <p:nvSpPr>
          <p:cNvPr id="46" name="S09_RoadmapArrow1"/>
          <p:cNvSpPr/>
          <p:nvPr/>
        </p:nvSpPr>
        <p:spPr>
          <a:xfrm>
            <a:off x="4133088" y="5367528"/>
            <a:ext cx="384048" cy="914"/>
          </a:xfrm>
          <a:prstGeom prst="line">
            <a:avLst/>
          </a:prstGeom>
          <a:noFill/>
          <a:ln w="15875">
            <a:solidFill>
              <a:srgbClr val="667A9B"/>
            </a:solidFill>
            <a:prstDash val="solid"/>
            <a:headEnd type="none"/>
            <a:tailEnd type="triangle"/>
          </a:ln>
        </p:spPr>
      </p:sp>
      <p:sp>
        <p:nvSpPr>
          <p:cNvPr id="47" name="S09_RoadmapNode2"/>
          <p:cNvSpPr/>
          <p:nvPr/>
        </p:nvSpPr>
        <p:spPr>
          <a:xfrm>
            <a:off x="4663440" y="5239512"/>
            <a:ext cx="246888" cy="24688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8" name="S09_RoadmapTitle2"/>
          <p:cNvSpPr/>
          <p:nvPr/>
        </p:nvSpPr>
        <p:spPr>
          <a:xfrm>
            <a:off x="5020056" y="50932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Следом</a:t>
            </a:r>
            <a:endParaRPr lang="en-US" sz="1030" dirty="0"/>
          </a:p>
        </p:txBody>
      </p:sp>
      <p:sp>
        <p:nvSpPr>
          <p:cNvPr id="49" name="S09_RoadmapText2"/>
          <p:cNvSpPr/>
          <p:nvPr/>
        </p:nvSpPr>
        <p:spPr>
          <a:xfrm>
            <a:off x="5020056" y="5376672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schemas · validators · CI</a:t>
            </a:r>
            <a:endParaRPr lang="en-US" sz="1120" dirty="0"/>
          </a:p>
        </p:txBody>
      </p:sp>
      <p:sp>
        <p:nvSpPr>
          <p:cNvPr id="50" name="S09_RoadmapArrow2"/>
          <p:cNvSpPr/>
          <p:nvPr/>
        </p:nvSpPr>
        <p:spPr>
          <a:xfrm>
            <a:off x="7178040" y="5367528"/>
            <a:ext cx="374904" cy="914"/>
          </a:xfrm>
          <a:prstGeom prst="line">
            <a:avLst/>
          </a:prstGeom>
          <a:noFill/>
          <a:ln w="15875">
            <a:solidFill>
              <a:srgbClr val="667A9B"/>
            </a:solidFill>
            <a:prstDash val="solid"/>
            <a:headEnd type="none"/>
            <a:tailEnd type="triangle"/>
          </a:ln>
        </p:spPr>
      </p:sp>
      <p:sp>
        <p:nvSpPr>
          <p:cNvPr id="51" name="S09_RoadmapNode3"/>
          <p:cNvSpPr/>
          <p:nvPr/>
        </p:nvSpPr>
        <p:spPr>
          <a:xfrm>
            <a:off x="7699248" y="5239512"/>
            <a:ext cx="246888" cy="246888"/>
          </a:xfrm>
          <a:prstGeom prst="ellipse">
            <a:avLst/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52" name="S09_RoadmapTitle3"/>
          <p:cNvSpPr/>
          <p:nvPr/>
        </p:nvSpPr>
        <p:spPr>
          <a:xfrm>
            <a:off x="8055864" y="50932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7657D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Потенциал</a:t>
            </a:r>
            <a:endParaRPr lang="en-US" sz="1030" dirty="0"/>
          </a:p>
        </p:txBody>
      </p:sp>
      <p:sp>
        <p:nvSpPr>
          <p:cNvPr id="53" name="S09_RoadmapText3"/>
          <p:cNvSpPr/>
          <p:nvPr/>
        </p:nvSpPr>
        <p:spPr>
          <a:xfrm>
            <a:off x="8055864" y="537667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графовая область знаний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_TopAccent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" name="S10_SectionLabel"/>
          <p:cNvSpPr/>
          <p:nvPr/>
        </p:nvSpPr>
        <p:spPr>
          <a:xfrm>
            <a:off x="621792" y="256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ВЫВОД</a:t>
            </a:r>
            <a:endParaRPr lang="en-US" sz="850" dirty="0"/>
          </a:p>
        </p:txBody>
      </p:sp>
      <p:sp>
        <p:nvSpPr>
          <p:cNvPr id="4" name="S10_Title"/>
          <p:cNvSpPr/>
          <p:nvPr/>
        </p:nvSpPr>
        <p:spPr>
          <a:xfrm>
            <a:off x="621792" y="5029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Дополнительный профиль, а не обязательный стандарт</a:t>
            </a:r>
            <a:endParaRPr lang="en-US" sz="2850" dirty="0"/>
          </a:p>
        </p:txBody>
      </p:sp>
      <p:sp>
        <p:nvSpPr>
          <p:cNvPr id="5" name="S10_Subtitle"/>
          <p:cNvSpPr/>
          <p:nvPr/>
        </p:nvSpPr>
        <p:spPr>
          <a:xfrm>
            <a:off x="640080" y="1014984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Критерий выбора — сложность связей и цена пропущенного контекста.</a:t>
            </a:r>
            <a:endParaRPr lang="en-US" sz="1320" dirty="0"/>
          </a:p>
        </p:txBody>
      </p:sp>
      <p:sp>
        <p:nvSpPr>
          <p:cNvPr id="6" name="S10_DeckLabel"/>
          <p:cNvSpPr/>
          <p:nvPr/>
        </p:nvSpPr>
        <p:spPr>
          <a:xfrm>
            <a:off x="9921240" y="256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spc="100" kern="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SPEC · SDD</a:t>
            </a:r>
            <a:endParaRPr lang="en-US" sz="820" dirty="0"/>
          </a:p>
        </p:txBody>
      </p:sp>
      <p:sp>
        <p:nvSpPr>
          <p:cNvPr id="7" name="S10_SlideNumber"/>
          <p:cNvSpPr/>
          <p:nvPr/>
        </p:nvSpPr>
        <p:spPr>
          <a:xfrm>
            <a:off x="11375136" y="64739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98A2B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830" dirty="0"/>
          </a:p>
        </p:txBody>
      </p:sp>
      <p:sp>
        <p:nvSpPr>
          <p:cNvPr id="8" name="S10_FooterLine"/>
          <p:cNvSpPr/>
          <p:nvPr/>
        </p:nvSpPr>
        <p:spPr>
          <a:xfrm>
            <a:off x="621792" y="6419088"/>
            <a:ext cx="10972800" cy="914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  <a:headEnd type="none"/>
            <a:tailEnd type="none"/>
          </a:ln>
        </p:spPr>
      </p:sp>
      <p:sp>
        <p:nvSpPr>
          <p:cNvPr id="10" name="S10_BaselineDecisionCard"/>
          <p:cNvSpPr/>
          <p:nvPr/>
        </p:nvSpPr>
        <p:spPr>
          <a:xfrm>
            <a:off x="658368" y="1481328"/>
            <a:ext cx="5257800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2.640802427433114e+49" dist="7.042139806488305e+49" dir="9.795520512000002e+58">
              <a:srgbClr val="22304A">
                <a:alpha val="1.2e+59"/>
              </a:srgbClr>
            </a:outerShdw>
          </a:effectLst>
        </p:spPr>
      </p:sp>
      <p:sp>
        <p:nvSpPr>
          <p:cNvPr id="11" name="S10_BaselineDecisionLabel_Bg"/>
          <p:cNvSpPr/>
          <p:nvPr/>
        </p:nvSpPr>
        <p:spPr>
          <a:xfrm>
            <a:off x="941832" y="1764792"/>
            <a:ext cx="1920240" cy="402336"/>
          </a:xfrm>
          <a:prstGeom prst="roundRect">
            <a:avLst>
              <a:gd name="adj" fmla="val 18182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2" name="S10_BaselineDecisionLabel_Text"/>
          <p:cNvSpPr/>
          <p:nvPr/>
        </p:nvSpPr>
        <p:spPr>
          <a:xfrm>
            <a:off x="941832" y="1769364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BASELINE ПО ФО</a:t>
            </a:r>
            <a:endParaRPr lang="en-US" sz="1120" dirty="0"/>
          </a:p>
        </p:txBody>
      </p:sp>
      <p:sp>
        <p:nvSpPr>
          <p:cNvPr id="13" name="S10_BaselineDecisionTitle"/>
          <p:cNvSpPr/>
          <p:nvPr/>
        </p:nvSpPr>
        <p:spPr>
          <a:xfrm>
            <a:off x="941832" y="2395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Оптимален, если…</a:t>
            </a:r>
            <a:endParaRPr lang="en-US" sz="1800" dirty="0"/>
          </a:p>
        </p:txBody>
      </p:sp>
      <p:sp>
        <p:nvSpPr>
          <p:cNvPr id="14" name="S10_BaselineDecision1_Dot"/>
          <p:cNvSpPr/>
          <p:nvPr/>
        </p:nvSpPr>
        <p:spPr>
          <a:xfrm>
            <a:off x="950976" y="302666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S10_BaselineDecision1_Text"/>
          <p:cNvSpPr/>
          <p:nvPr/>
        </p:nvSpPr>
        <p:spPr>
          <a:xfrm>
            <a:off x="1133856" y="2907792"/>
            <a:ext cx="4069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локален внутри одной ФО</a:t>
            </a:r>
            <a:endParaRPr lang="en-US" sz="1320" dirty="0"/>
          </a:p>
        </p:txBody>
      </p:sp>
      <p:sp>
        <p:nvSpPr>
          <p:cNvPr id="16" name="S10_BaselineDecision2_Dot"/>
          <p:cNvSpPr/>
          <p:nvPr/>
        </p:nvSpPr>
        <p:spPr>
          <a:xfrm>
            <a:off x="950976" y="352958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S10_BaselineDecision2_Text"/>
          <p:cNvSpPr/>
          <p:nvPr/>
        </p:nvSpPr>
        <p:spPr>
          <a:xfrm>
            <a:off x="1133856" y="3410712"/>
            <a:ext cx="4069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проект небольшой / greenfield</a:t>
            </a:r>
            <a:endParaRPr lang="en-US" sz="1320" dirty="0"/>
          </a:p>
        </p:txBody>
      </p:sp>
      <p:sp>
        <p:nvSpPr>
          <p:cNvPr id="18" name="S10_BaselineDecision3_Dot"/>
          <p:cNvSpPr/>
          <p:nvPr/>
        </p:nvSpPr>
        <p:spPr>
          <a:xfrm>
            <a:off x="950976" y="403250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9" name="S10_BaselineDecision3_Text"/>
          <p:cNvSpPr/>
          <p:nvPr/>
        </p:nvSpPr>
        <p:spPr>
          <a:xfrm>
            <a:off x="1133856" y="3913632"/>
            <a:ext cx="4069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важнее быстрый старт и простая модель</a:t>
            </a:r>
            <a:endParaRPr lang="en-US" sz="1320" dirty="0"/>
          </a:p>
        </p:txBody>
      </p:sp>
      <p:sp>
        <p:nvSpPr>
          <p:cNvPr id="20" name="S10_IndexedDecisionCard"/>
          <p:cNvSpPr/>
          <p:nvPr/>
        </p:nvSpPr>
        <p:spPr>
          <a:xfrm>
            <a:off x="6199632" y="1481328"/>
            <a:ext cx="5303520" cy="3310128"/>
          </a:xfrm>
          <a:prstGeom prst="roundRect">
            <a:avLst>
              <a:gd name="adj" fmla="val 2210"/>
            </a:avLst>
          </a:prstGeom>
          <a:solidFill>
            <a:srgbClr val="E5F8F6"/>
          </a:solidFill>
          <a:ln w="12700">
            <a:solidFill>
              <a:srgbClr val="B8EAE6"/>
            </a:solidFill>
            <a:prstDash val="solid"/>
          </a:ln>
          <a:effectLst>
            <a:outerShdw sx="100000" sy="100000" kx="0" ky="0" algn="bl" rotWithShape="0" blurRad="3.353819082840055e+53" dist="8.943517554240149e+53" dir="5.877312307200001e+63">
              <a:srgbClr val="22304A">
                <a:alpha val="1.2000000000000001e+64"/>
              </a:srgbClr>
            </a:outerShdw>
          </a:effectLst>
        </p:spPr>
      </p:sp>
      <p:sp>
        <p:nvSpPr>
          <p:cNvPr id="21" name="S10_IndexedDecisionLabel_Bg"/>
          <p:cNvSpPr/>
          <p:nvPr/>
        </p:nvSpPr>
        <p:spPr>
          <a:xfrm>
            <a:off x="6492240" y="1764792"/>
            <a:ext cx="2048256" cy="402336"/>
          </a:xfrm>
          <a:prstGeom prst="roundRect">
            <a:avLst>
              <a:gd name="adj" fmla="val 18182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2" name="S10_IndexedDecisionLabel_Text"/>
          <p:cNvSpPr/>
          <p:nvPr/>
        </p:nvSpPr>
        <p:spPr>
          <a:xfrm>
            <a:off x="6492240" y="1769364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INDEXED PROFILE</a:t>
            </a:r>
            <a:endParaRPr lang="en-US" sz="1120" dirty="0"/>
          </a:p>
        </p:txBody>
      </p:sp>
      <p:sp>
        <p:nvSpPr>
          <p:cNvPr id="23" name="S10_IndexedDecisionTitle"/>
          <p:cNvSpPr/>
          <p:nvPr/>
        </p:nvSpPr>
        <p:spPr>
          <a:xfrm>
            <a:off x="6492240" y="2395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Даёт отдачу, если…</a:t>
            </a:r>
            <a:endParaRPr lang="en-US" sz="1800" dirty="0"/>
          </a:p>
        </p:txBody>
      </p:sp>
      <p:sp>
        <p:nvSpPr>
          <p:cNvPr id="24" name="S10_IndexedDecision1_Dot"/>
          <p:cNvSpPr/>
          <p:nvPr/>
        </p:nvSpPr>
        <p:spPr>
          <a:xfrm>
            <a:off x="6501384" y="3026664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5" name="S10_IndexedDecision1_Text"/>
          <p:cNvSpPr/>
          <p:nvPr/>
        </p:nvSpPr>
        <p:spPr>
          <a:xfrm>
            <a:off x="6684264" y="2907792"/>
            <a:ext cx="4160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большой brownfield и зрелая документация</a:t>
            </a:r>
            <a:endParaRPr lang="en-US" sz="1320" dirty="0"/>
          </a:p>
        </p:txBody>
      </p:sp>
      <p:sp>
        <p:nvSpPr>
          <p:cNvPr id="26" name="S10_IndexedDecision2_Dot"/>
          <p:cNvSpPr/>
          <p:nvPr/>
        </p:nvSpPr>
        <p:spPr>
          <a:xfrm>
            <a:off x="6501384" y="3529584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7" name="S10_IndexedDecision2_Text"/>
          <p:cNvSpPr/>
          <p:nvPr/>
        </p:nvSpPr>
        <p:spPr>
          <a:xfrm>
            <a:off x="6684264" y="3410712"/>
            <a:ext cx="4160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много форматов и аналитические Git-ветки</a:t>
            </a:r>
            <a:endParaRPr lang="en-US" sz="1320" dirty="0"/>
          </a:p>
        </p:txBody>
      </p:sp>
      <p:sp>
        <p:nvSpPr>
          <p:cNvPr id="28" name="S10_IndexedDecision3_Dot"/>
          <p:cNvSpPr/>
          <p:nvPr/>
        </p:nvSpPr>
        <p:spPr>
          <a:xfrm>
            <a:off x="6501384" y="4032504"/>
            <a:ext cx="91440" cy="9144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9" name="S10_IndexedDecision3_Text"/>
          <p:cNvSpPr/>
          <p:nvPr/>
        </p:nvSpPr>
        <p:spPr>
          <a:xfrm>
            <a:off x="6684264" y="3913632"/>
            <a:ext cx="4160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регулярно пересекает несколько ФО</a:t>
            </a:r>
            <a:endParaRPr lang="en-US" sz="1320" dirty="0"/>
          </a:p>
        </p:txBody>
      </p:sp>
      <p:sp>
        <p:nvSpPr>
          <p:cNvPr id="30" name="S10_FinalPositionCard"/>
          <p:cNvSpPr/>
          <p:nvPr/>
        </p:nvSpPr>
        <p:spPr>
          <a:xfrm>
            <a:off x="658368" y="5084064"/>
            <a:ext cx="10844784" cy="987552"/>
          </a:xfrm>
          <a:prstGeom prst="roundRect">
            <a:avLst>
              <a:gd name="adj" fmla="val 740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4.2593502352068695e+57" dist="1.1358267293884988e+58" dir="3.526387384320001e+68">
              <a:srgbClr val="22304A">
                <a:alpha val="1.2e+69"/>
              </a:srgbClr>
            </a:outerShdw>
          </a:effectLst>
        </p:spPr>
      </p:sp>
      <p:sp>
        <p:nvSpPr>
          <p:cNvPr id="31" name="S10_FinalPositionText"/>
          <p:cNvSpPr/>
          <p:nvPr/>
        </p:nvSpPr>
        <p:spPr>
          <a:xfrm>
            <a:off x="987552" y="5276088"/>
            <a:ext cx="6876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Сохраняем общий SDD lifecycle. Выбираем профиль по сложности связей.</a:t>
            </a:r>
            <a:endParaRPr lang="en-US" sz="1820" dirty="0"/>
          </a:p>
        </p:txBody>
      </p:sp>
      <p:sp>
        <p:nvSpPr>
          <p:cNvPr id="32" name="S10_FinalExperimentLabel"/>
          <p:cNvSpPr/>
          <p:nvPr/>
        </p:nvSpPr>
        <p:spPr>
          <a:xfrm>
            <a:off x="8028432" y="5230368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C5CED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Сравнить на одном cross-ФО сценарии:</a:t>
            </a:r>
            <a:endParaRPr lang="en-US" sz="1010" dirty="0"/>
          </a:p>
        </p:txBody>
      </p:sp>
      <p:sp>
        <p:nvSpPr>
          <p:cNvPr id="33" name="S10_FinalMetric1_Bg"/>
          <p:cNvSpPr/>
          <p:nvPr/>
        </p:nvSpPr>
        <p:spPr>
          <a:xfrm>
            <a:off x="8001000" y="5550408"/>
            <a:ext cx="960120" cy="301752"/>
          </a:xfrm>
          <a:prstGeom prst="roundRect">
            <a:avLst>
              <a:gd name="adj" fmla="val 24242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4" name="S10_FinalMetric1_Text"/>
          <p:cNvSpPr/>
          <p:nvPr/>
        </p:nvSpPr>
        <p:spPr>
          <a:xfrm>
            <a:off x="8001000" y="55549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контекст</a:t>
            </a:r>
            <a:endParaRPr lang="en-US" sz="920" dirty="0"/>
          </a:p>
        </p:txBody>
      </p:sp>
      <p:sp>
        <p:nvSpPr>
          <p:cNvPr id="35" name="S10_FinalMetric2_Bg"/>
          <p:cNvSpPr/>
          <p:nvPr/>
        </p:nvSpPr>
        <p:spPr>
          <a:xfrm>
            <a:off x="9052560" y="5550408"/>
            <a:ext cx="987552" cy="301752"/>
          </a:xfrm>
          <a:prstGeom prst="roundRect">
            <a:avLst>
              <a:gd name="adj" fmla="val 24242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6" name="S10_FinalMetric2_Text"/>
          <p:cNvSpPr/>
          <p:nvPr/>
        </p:nvSpPr>
        <p:spPr>
          <a:xfrm>
            <a:off x="9052560" y="555498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атомарность</a:t>
            </a:r>
            <a:endParaRPr lang="en-US" sz="920" dirty="0"/>
          </a:p>
        </p:txBody>
      </p:sp>
      <p:sp>
        <p:nvSpPr>
          <p:cNvPr id="37" name="S10_FinalMetric3_Bg"/>
          <p:cNvSpPr/>
          <p:nvPr/>
        </p:nvSpPr>
        <p:spPr>
          <a:xfrm>
            <a:off x="10131552" y="5550408"/>
            <a:ext cx="1024128" cy="301752"/>
          </a:xfrm>
          <a:prstGeom prst="roundRect">
            <a:avLst>
              <a:gd name="adj" fmla="val 24242"/>
            </a:avLst>
          </a:prstGeom>
          <a:solidFill>
            <a:srgbClr val="7657D5"/>
          </a:solidFill>
          <a:ln w="12700">
            <a:solidFill>
              <a:srgbClr val="7657D5">
                <a:alpha val="0"/>
              </a:srgbClr>
            </a:solidFill>
            <a:prstDash val="solid"/>
          </a:ln>
        </p:spPr>
      </p:sp>
      <p:sp>
        <p:nvSpPr>
          <p:cNvPr id="38" name="S10_FinalMetric3_Text"/>
          <p:cNvSpPr/>
          <p:nvPr/>
        </p:nvSpPr>
        <p:spPr>
          <a:xfrm>
            <a:off x="10131552" y="555498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traceability</a:t>
            </a:r>
            <a:endParaRPr lang="en-US" sz="920" dirty="0"/>
          </a:p>
        </p:txBody>
      </p:sp>
      <p:sp>
        <p:nvSpPr>
          <p:cNvPr id="39" name="S10_FinalNoMandate"/>
          <p:cNvSpPr/>
          <p:nvPr/>
        </p:nvSpPr>
        <p:spPr>
          <a:xfrm>
            <a:off x="2066544" y="6144768"/>
            <a:ext cx="8065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00A6A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Мы не настаиваем на переходе — показываем соответствие нашим требованиям.</a:t>
            </a:r>
            <a:endParaRPr lang="en-US" sz="12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OpenSpec на масштабе большого brownfield-сервиса</dc:title>
  <dc:subject>Эволюционное расширение OpenSpec для больших brownfield-сервисов</dc:subject>
  <dc:creator>Команда НСиР</dc:creator>
  <cp:lastModifiedBy>Команда НСиР</cp:lastModifiedBy>
  <cp:revision>1</cp:revision>
  <dcterms:created xsi:type="dcterms:W3CDTF">2026-07-09T22:21:27Z</dcterms:created>
  <dcterms:modified xsi:type="dcterms:W3CDTF">2026-07-09T22:21:27Z</dcterms:modified>
</cp:coreProperties>
</file>
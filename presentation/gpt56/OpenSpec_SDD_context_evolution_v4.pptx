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рамка доклада: это эволюционное развитие OpenSpec для большой системы документации. Мы сохраняем принцип «сначала описываем изменение, затем реализуем», но мастер-спецификация становится папкой связанных документов. Добавляются навигационный слой _sdd, применение изменения к нескольким файлам и дополнительный маршрут по разнице версий. Новые возможности требуют поддерживать _sdd согласованным и актуальным.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дать целостную картину, затем переходить к деталям. Знания о системе уже существуют, но находятся в Confluence и разных форматах. Первый самостоятельный этап — перенос и структурирование документов в Markdown и Git. Второй — подключение готовой мастер-спецификации к OpenSpec. Мы развиваем OpenSpec для работы с папкой связанных документов: _sdd помогает собирать контекст, а apply переносит одну дельту в несколько документов. Дополнительная возможность требует поддерживать _sdd актуальным.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зачитывать весь слайд. Зафиксировать пять базовых понятий: SDD, мастер-спецификация, описание изменения, навигационный слой и применение изменения. Английские названия propose, apply, init-master-spec и change-from-diff остаются как системные имена 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попытка начать документировать систему с нуля. За 3+ года сформировался процесс, который начинается с аналитического описания и охватывает 10 сервисов и библиотек. Актуальность документации относительно кода — исходное ограничение и одновременно актив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масштаб без попытки доказать, что каждый сервис одинаков. Цифры из текущей мастер-спецификации: 80+ процессов, 15+ интеграций, 50+ справочников, 30+ экранных форм, 80+ алгоритмов интерфейса. Пилот invest-dkz — около 100 Markdown-документов и 18 документов процессов.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Чётко разделить ответственность. Этап 1 находится вне OpenSpec: собственные средства автоматизации создают, структурируют и переносят документацию из Confluence в Markdown, Git и docs-hub. Этап 2 начинается, когда папка документов уже существует: init-master-spec подключает её к OpenSpec и создаёт _sdd. После этого запускается цикл управления изменением.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занижать объём изменений. Базовый цикл остаётся узнаваемым, но мастер-спецификация теперь адресуется как папка. Появляются навигационный слой _sdd, применение одной дельты к нескольким документам и дополнительный маршрут change-from-diff. Это расширяет возможности OpenSpec и одновременно усложняет сопровождение.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Мастер-спецификация адресуется папкой документов, а её внутренняя структура формируется по смыслу и реальным связям внутри сервиса. Функциональная область может быть ориентиром, но не является обязательной единицей хранения. _sdd фиксирует навигацию и отношения между документами. Добавление, изменение или перенос документов требует согласованно обновлять карту.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OpenSpec не создаёт исходный корпус Markdown-документов. Его точка входа — init-master-spec: подключение существующей папки и создание _sdd. Затем change.md формируется основным маршрутом propose или дополнительным change-from-diff. После реализации apply переносит дельту в несколько выбранных документов мастер-спецификации, после чего актуализируется навигационный слой.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две стороны развития. Ценность: единая карта docs-hub, разные форматы в одном контексте, понятные источники изменения. Цена: дополнительный слой нужно обновлять вместе с мастер-спецификацией, проверять связи после изменения структуры и не допускать устаревания карты. Следующий шаг — снижать стоимость этой дисциплины и точнее отбирать и связывать контекст вокруг изменения.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позиция должна звучать уверенно: мы развиваем OpenSpec для работы с системой взаимосвязанных документов. Уже создан внешний процесс подготовки Markdown, docs-hub и полностью переведён первый сервис. Сейчас готовые документы подключаются через init-master-spec и используются в цикле propose/apply для папки. Дальше снижаем стоимость поддержки _sdd и улучшаем связи и точность контекста.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Позиционировать выборочно, без призыва использовать для каждого изменения. Сейчас аналитики предпочитают основной маршрут propose — это нормально. change-from-diff полезен, когда дельта уже существует в Git: в простых случаях он сокращает повторное описание, в сложных помогает собрать распределённое целевое состояние, связанный контекст и вопросы в единый change.md. Результат обязательно проверяется аналитиком.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0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4" name="S0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5" name="S0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7" name="S01_HeroCircle1"/>
          <p:cNvSpPr/>
          <p:nvPr/>
        </p:nvSpPr>
        <p:spPr>
          <a:xfrm>
            <a:off x="8366760" y="-411480"/>
            <a:ext cx="4297680" cy="4297680"/>
          </a:xfrm>
          <a:prstGeom prst="ellipse">
            <a:avLst/>
          </a:prstGeom>
          <a:solidFill>
            <a:srgbClr val="EAF0FF">
              <a:alpha val="90000"/>
            </a:srgbClr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8" name="S01_HeroCircle2"/>
          <p:cNvSpPr/>
          <p:nvPr/>
        </p:nvSpPr>
        <p:spPr>
          <a:xfrm>
            <a:off x="9281160" y="320040"/>
            <a:ext cx="3108960" cy="3108960"/>
          </a:xfrm>
          <a:prstGeom prst="ellipse">
            <a:avLst/>
          </a:prstGeom>
          <a:solidFill>
            <a:srgbClr val="E5F8F6">
              <a:alpha val="95000"/>
            </a:srgbClr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" name="S01_HeroPill_Bg"/>
          <p:cNvSpPr/>
          <p:nvPr/>
        </p:nvSpPr>
        <p:spPr>
          <a:xfrm>
            <a:off x="658368" y="566928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01_HeroPill_Text"/>
          <p:cNvSpPr/>
          <p:nvPr/>
        </p:nvSpPr>
        <p:spPr>
          <a:xfrm>
            <a:off x="658368" y="571500"/>
            <a:ext cx="2999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· OPENSPEC · ДЕЙСТВУЮЩИЙ СЕРВИС</a:t>
            </a:r>
            <a:endParaRPr lang="en-US" sz="970" dirty="0"/>
          </a:p>
        </p:txBody>
      </p:sp>
      <p:sp>
        <p:nvSpPr>
          <p:cNvPr id="11" name="S01_HeroTitle"/>
          <p:cNvSpPr/>
          <p:nvPr/>
        </p:nvSpPr>
        <p:spPr>
          <a:xfrm>
            <a:off x="658368" y="117043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для крупного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действующего сервиса</a:t>
            </a:r>
            <a:endParaRPr lang="en-US" sz="3150" dirty="0"/>
          </a:p>
        </p:txBody>
      </p:sp>
      <p:sp>
        <p:nvSpPr>
          <p:cNvPr id="12" name="S01_HeroSubtitle"/>
          <p:cNvSpPr/>
          <p:nvPr/>
        </p:nvSpPr>
        <p:spPr>
          <a:xfrm>
            <a:off x="676656" y="2907792"/>
            <a:ext cx="6629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Эволюционное развитие OpenSpec для мастер-спецификации в виде папки</a:t>
            </a:r>
            <a:endParaRPr lang="en-US" sz="1750" dirty="0"/>
          </a:p>
        </p:txBody>
      </p:sp>
      <p:sp>
        <p:nvSpPr>
          <p:cNvPr id="13" name="S01_HeroStatementCard"/>
          <p:cNvSpPr/>
          <p:nvPr/>
        </p:nvSpPr>
        <p:spPr>
          <a:xfrm>
            <a:off x="658368" y="3703320"/>
            <a:ext cx="6748272" cy="1170432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9050" dist="50800" dir="2700000">
              <a:srgbClr val="22304A">
                <a:alpha val="12000"/>
              </a:srgbClr>
            </a:outerShdw>
          </a:effectLst>
        </p:spPr>
      </p:sp>
      <p:sp>
        <p:nvSpPr>
          <p:cNvPr id="14" name="S01_HeroStatementAccent"/>
          <p:cNvSpPr/>
          <p:nvPr/>
        </p:nvSpPr>
        <p:spPr>
          <a:xfrm>
            <a:off x="658368" y="37033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S01_HeroStatement"/>
          <p:cNvSpPr/>
          <p:nvPr/>
        </p:nvSpPr>
        <p:spPr>
          <a:xfrm>
            <a:off x="987552" y="3904488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Сначала описываем изменение.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Затем управляем его реализацией.</a:t>
            </a:r>
            <a:endParaRPr lang="en-US" sz="2100" dirty="0"/>
          </a:p>
        </p:txBody>
      </p:sp>
      <p:sp>
        <p:nvSpPr>
          <p:cNvPr id="16" name="S01_HeroVisualCard"/>
          <p:cNvSpPr/>
          <p:nvPr/>
        </p:nvSpPr>
        <p:spPr>
          <a:xfrm>
            <a:off x="7973568" y="1234440"/>
            <a:ext cx="3401568" cy="41605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22304A">
                <a:alpha val="1200000000"/>
              </a:srgbClr>
            </a:outerShdw>
          </a:effectLst>
        </p:spPr>
      </p:sp>
      <p:sp>
        <p:nvSpPr>
          <p:cNvPr id="17" name="S01_HeroFolder_Body"/>
          <p:cNvSpPr/>
          <p:nvPr/>
        </p:nvSpPr>
        <p:spPr>
          <a:xfrm>
            <a:off x="8302752" y="1762597"/>
            <a:ext cx="713232" cy="413675"/>
          </a:xfrm>
          <a:prstGeom prst="roundRect">
            <a:avLst>
              <a:gd name="adj" fmla="val 88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S01_HeroFolder_Tab"/>
          <p:cNvSpPr/>
          <p:nvPr/>
        </p:nvSpPr>
        <p:spPr>
          <a:xfrm>
            <a:off x="8375904" y="1645920"/>
            <a:ext cx="328087" cy="201534"/>
          </a:xfrm>
          <a:prstGeom prst="roundRect">
            <a:avLst>
              <a:gd name="adj" fmla="val 1361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1_HeroFolderLabel"/>
          <p:cNvSpPr/>
          <p:nvPr/>
        </p:nvSpPr>
        <p:spPr>
          <a:xfrm>
            <a:off x="9180576" y="1673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00" dirty="0"/>
          </a:p>
        </p:txBody>
      </p:sp>
      <p:sp>
        <p:nvSpPr>
          <p:cNvPr id="20" name="S01_HeroFile1_Page"/>
          <p:cNvSpPr/>
          <p:nvPr/>
        </p:nvSpPr>
        <p:spPr>
          <a:xfrm>
            <a:off x="8339328" y="2395728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01_HeroFile1_Line1"/>
          <p:cNvSpPr/>
          <p:nvPr/>
        </p:nvSpPr>
        <p:spPr>
          <a:xfrm>
            <a:off x="8416138" y="2555748"/>
            <a:ext cx="230429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2" name="S01_HeroFile1_Line2"/>
          <p:cNvSpPr/>
          <p:nvPr/>
        </p:nvSpPr>
        <p:spPr>
          <a:xfrm>
            <a:off x="8416138" y="2647188"/>
            <a:ext cx="199705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3" name="S01_HeroFile1_Line3"/>
          <p:cNvSpPr/>
          <p:nvPr/>
        </p:nvSpPr>
        <p:spPr>
          <a:xfrm>
            <a:off x="8416138" y="2738628"/>
            <a:ext cx="161300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4" name="S01_HeroFileLabel1"/>
          <p:cNvSpPr/>
          <p:nvPr/>
        </p:nvSpPr>
        <p:spPr>
          <a:xfrm>
            <a:off x="8915400" y="24963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процессы и правила</a:t>
            </a:r>
            <a:endParaRPr lang="en-US" sz="1150" dirty="0"/>
          </a:p>
        </p:txBody>
      </p:sp>
      <p:sp>
        <p:nvSpPr>
          <p:cNvPr id="25" name="S01_HeroFile2_Page"/>
          <p:cNvSpPr/>
          <p:nvPr/>
        </p:nvSpPr>
        <p:spPr>
          <a:xfrm>
            <a:off x="8339328" y="301752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01_HeroFile2_Line1"/>
          <p:cNvSpPr/>
          <p:nvPr/>
        </p:nvSpPr>
        <p:spPr>
          <a:xfrm>
            <a:off x="8416138" y="3177540"/>
            <a:ext cx="230429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7" name="S01_HeroFile2_Line2"/>
          <p:cNvSpPr/>
          <p:nvPr/>
        </p:nvSpPr>
        <p:spPr>
          <a:xfrm>
            <a:off x="8416138" y="3268980"/>
            <a:ext cx="199705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8" name="S01_HeroFile2_Line3"/>
          <p:cNvSpPr/>
          <p:nvPr/>
        </p:nvSpPr>
        <p:spPr>
          <a:xfrm>
            <a:off x="8416138" y="3360420"/>
            <a:ext cx="161300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9" name="S01_HeroFileLabel2"/>
          <p:cNvSpPr/>
          <p:nvPr/>
        </p:nvSpPr>
        <p:spPr>
          <a:xfrm>
            <a:off x="8915400" y="3118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и API</a:t>
            </a:r>
            <a:endParaRPr lang="en-US" sz="1150" dirty="0"/>
          </a:p>
        </p:txBody>
      </p:sp>
      <p:sp>
        <p:nvSpPr>
          <p:cNvPr id="30" name="S01_HeroFile3_Page"/>
          <p:cNvSpPr/>
          <p:nvPr/>
        </p:nvSpPr>
        <p:spPr>
          <a:xfrm>
            <a:off x="8339328" y="363931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1_HeroFile3_Line1"/>
          <p:cNvSpPr/>
          <p:nvPr/>
        </p:nvSpPr>
        <p:spPr>
          <a:xfrm>
            <a:off x="8416138" y="3799332"/>
            <a:ext cx="230429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2" name="S01_HeroFile3_Line2"/>
          <p:cNvSpPr/>
          <p:nvPr/>
        </p:nvSpPr>
        <p:spPr>
          <a:xfrm>
            <a:off x="8416138" y="3890772"/>
            <a:ext cx="199705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3" name="S01_HeroFile3_Line3"/>
          <p:cNvSpPr/>
          <p:nvPr/>
        </p:nvSpPr>
        <p:spPr>
          <a:xfrm>
            <a:off x="8416138" y="3982212"/>
            <a:ext cx="161300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4" name="S01_HeroFileLabel3"/>
          <p:cNvSpPr/>
          <p:nvPr/>
        </p:nvSpPr>
        <p:spPr>
          <a:xfrm>
            <a:off x="8915400" y="37398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DBML</a:t>
            </a:r>
            <a:endParaRPr lang="en-US" sz="1150" dirty="0"/>
          </a:p>
        </p:txBody>
      </p:sp>
      <p:sp>
        <p:nvSpPr>
          <p:cNvPr id="35" name="S01_HeroIndexLink"/>
          <p:cNvSpPr/>
          <p:nvPr/>
        </p:nvSpPr>
        <p:spPr>
          <a:xfrm>
            <a:off x="8659368" y="4370832"/>
            <a:ext cx="1856232" cy="914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1_HeroIndexPill_Bg"/>
          <p:cNvSpPr/>
          <p:nvPr/>
        </p:nvSpPr>
        <p:spPr>
          <a:xfrm>
            <a:off x="8339328" y="4599432"/>
            <a:ext cx="2395728" cy="438912"/>
          </a:xfrm>
          <a:prstGeom prst="roundRect">
            <a:avLst>
              <a:gd name="adj" fmla="val 16667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37" name="S01_HeroIndexPill_Text"/>
          <p:cNvSpPr/>
          <p:nvPr/>
        </p:nvSpPr>
        <p:spPr>
          <a:xfrm>
            <a:off x="8339328" y="4604004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карта связей</a:t>
            </a:r>
            <a:endParaRPr lang="en-US" sz="1150" dirty="0"/>
          </a:p>
        </p:txBody>
      </p:sp>
      <p:sp>
        <p:nvSpPr>
          <p:cNvPr id="38" name="S01_HeroBottomPill1_Bg"/>
          <p:cNvSpPr/>
          <p:nvPr/>
        </p:nvSpPr>
        <p:spPr>
          <a:xfrm>
            <a:off x="658368" y="5285232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1_HeroBottomPill1_Text"/>
          <p:cNvSpPr/>
          <p:nvPr/>
        </p:nvSpPr>
        <p:spPr>
          <a:xfrm>
            <a:off x="658368" y="52898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в папке</a:t>
            </a:r>
            <a:endParaRPr lang="en-US" sz="1060" dirty="0"/>
          </a:p>
        </p:txBody>
      </p:sp>
      <p:sp>
        <p:nvSpPr>
          <p:cNvPr id="40" name="S01_HeroBottomPill2_Bg"/>
          <p:cNvSpPr/>
          <p:nvPr/>
        </p:nvSpPr>
        <p:spPr>
          <a:xfrm>
            <a:off x="2944368" y="5285232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1_HeroBottomPill2_Text"/>
          <p:cNvSpPr/>
          <p:nvPr/>
        </p:nvSpPr>
        <p:spPr>
          <a:xfrm>
            <a:off x="2944368" y="528980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навигация и связи</a:t>
            </a:r>
            <a:endParaRPr lang="en-US" sz="1060" dirty="0"/>
          </a:p>
        </p:txBody>
      </p:sp>
      <p:sp>
        <p:nvSpPr>
          <p:cNvPr id="42" name="S01_HeroBottomPill3_Bg"/>
          <p:cNvSpPr/>
          <p:nvPr/>
        </p:nvSpPr>
        <p:spPr>
          <a:xfrm>
            <a:off x="5449824" y="5285232"/>
            <a:ext cx="195681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1_HeroBottomPill3_Text"/>
          <p:cNvSpPr/>
          <p:nvPr/>
        </p:nvSpPr>
        <p:spPr>
          <a:xfrm>
            <a:off x="5449824" y="528980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по нескольким файлам</a:t>
            </a: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ГЛАВНОЕ ЗА МИНУТУ</a:t>
            </a:r>
            <a:endParaRPr lang="en-US" sz="850" dirty="0"/>
          </a:p>
        </p:txBody>
      </p:sp>
      <p:sp>
        <p:nvSpPr>
          <p:cNvPr id="4" name="S0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Главное за минуту</a:t>
            </a:r>
            <a:endParaRPr lang="en-US" sz="2850" dirty="0"/>
          </a:p>
        </p:txBody>
      </p:sp>
      <p:sp>
        <p:nvSpPr>
          <p:cNvPr id="5" name="S0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мы развиваем OpenSpec и что это даёт бизнесу.</a:t>
            </a:r>
            <a:endParaRPr lang="en-US" sz="1320" dirty="0"/>
          </a:p>
        </p:txBody>
      </p:sp>
      <p:sp>
        <p:nvSpPr>
          <p:cNvPr id="6" name="S0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8" name="S0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2_ExecutiveCard1"/>
          <p:cNvSpPr/>
          <p:nvPr/>
        </p:nvSpPr>
        <p:spPr>
          <a:xfrm>
            <a:off x="658368" y="1444752"/>
            <a:ext cx="52578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2_ExecutiveLabel1_Bg"/>
          <p:cNvSpPr/>
          <p:nvPr/>
        </p:nvSpPr>
        <p:spPr>
          <a:xfrm>
            <a:off x="886968" y="1645920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2_ExecutiveLabel1_Text"/>
          <p:cNvSpPr/>
          <p:nvPr/>
        </p:nvSpPr>
        <p:spPr>
          <a:xfrm>
            <a:off x="886968" y="1650492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· ИСХОДНАЯ СИТУАЦИЯ</a:t>
            </a:r>
            <a:endParaRPr lang="en-US" sz="940" dirty="0"/>
          </a:p>
        </p:txBody>
      </p:sp>
      <p:sp>
        <p:nvSpPr>
          <p:cNvPr id="13" name="S02_ExecutiveTitle1"/>
          <p:cNvSpPr/>
          <p:nvPr/>
        </p:nvSpPr>
        <p:spPr>
          <a:xfrm>
            <a:off x="905256" y="211226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Знания и код жили в разных средах</a:t>
            </a:r>
            <a:endParaRPr lang="en-US" sz="1620" dirty="0"/>
          </a:p>
        </p:txBody>
      </p:sp>
      <p:sp>
        <p:nvSpPr>
          <p:cNvPr id="14" name="S02_ExecutiveText1"/>
          <p:cNvSpPr/>
          <p:nvPr/>
        </p:nvSpPr>
        <p:spPr>
          <a:xfrm>
            <a:off x="905256" y="2514600"/>
            <a:ext cx="4764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Документация — в Confluence, разработка — в Git. Для автоматизации нужен единый структурированный и версионируемый контекст.</a:t>
            </a:r>
            <a:endParaRPr lang="en-US" sz="1180" dirty="0"/>
          </a:p>
        </p:txBody>
      </p:sp>
      <p:sp>
        <p:nvSpPr>
          <p:cNvPr id="15" name="S02_ExecutiveCard2"/>
          <p:cNvSpPr/>
          <p:nvPr/>
        </p:nvSpPr>
        <p:spPr>
          <a:xfrm>
            <a:off x="6236208" y="1444752"/>
            <a:ext cx="5266944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6" name="S02_ExecutiveLabel2_Bg"/>
          <p:cNvSpPr/>
          <p:nvPr/>
        </p:nvSpPr>
        <p:spPr>
          <a:xfrm>
            <a:off x="6464808" y="1645920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17" name="S02_ExecutiveLabel2_Text"/>
          <p:cNvSpPr/>
          <p:nvPr/>
        </p:nvSpPr>
        <p:spPr>
          <a:xfrm>
            <a:off x="6464808" y="1650492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ДВА ЭТАПА</a:t>
            </a:r>
            <a:endParaRPr lang="en-US" sz="940" dirty="0"/>
          </a:p>
        </p:txBody>
      </p:sp>
      <p:sp>
        <p:nvSpPr>
          <p:cNvPr id="18" name="S02_ExecutiveTitle2"/>
          <p:cNvSpPr/>
          <p:nvPr/>
        </p:nvSpPr>
        <p:spPr>
          <a:xfrm>
            <a:off x="6483096" y="211226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Сначала база знаний, затем OpenSpec</a:t>
            </a:r>
            <a:endParaRPr lang="en-US" sz="1620" dirty="0"/>
          </a:p>
        </p:txBody>
      </p:sp>
      <p:sp>
        <p:nvSpPr>
          <p:cNvPr id="19" name="S02_ExecutiveText2"/>
          <p:cNvSpPr/>
          <p:nvPr/>
        </p:nvSpPr>
        <p:spPr>
          <a:xfrm>
            <a:off x="6483096" y="251460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Переносим документы в Markdown и docs-hub. После этого подключаем готовую мастер-спецификацию через init-master-spec.</a:t>
            </a:r>
            <a:endParaRPr lang="en-US" sz="1180" dirty="0"/>
          </a:p>
        </p:txBody>
      </p:sp>
      <p:sp>
        <p:nvSpPr>
          <p:cNvPr id="20" name="S02_ExecutiveCard3"/>
          <p:cNvSpPr/>
          <p:nvPr/>
        </p:nvSpPr>
        <p:spPr>
          <a:xfrm>
            <a:off x="658368" y="3401568"/>
            <a:ext cx="52578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1" name="S02_ExecutiveLabel3_Bg"/>
          <p:cNvSpPr/>
          <p:nvPr/>
        </p:nvSpPr>
        <p:spPr>
          <a:xfrm>
            <a:off x="886968" y="3602736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22" name="S02_ExecutiveLabel3_Text"/>
          <p:cNvSpPr/>
          <p:nvPr/>
        </p:nvSpPr>
        <p:spPr>
          <a:xfrm>
            <a:off x="886968" y="360730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ЭВОЛЮЦИЯ OPENSPEC</a:t>
            </a:r>
            <a:endParaRPr lang="en-US" sz="940" dirty="0"/>
          </a:p>
        </p:txBody>
      </p:sp>
      <p:sp>
        <p:nvSpPr>
          <p:cNvPr id="23" name="S02_ExecutiveTitle3"/>
          <p:cNvSpPr/>
          <p:nvPr/>
        </p:nvSpPr>
        <p:spPr>
          <a:xfrm>
            <a:off x="905256" y="4069080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Мастер-спецификация становится папкой</a:t>
            </a:r>
            <a:endParaRPr lang="en-US" sz="1620" dirty="0"/>
          </a:p>
        </p:txBody>
      </p:sp>
      <p:sp>
        <p:nvSpPr>
          <p:cNvPr id="24" name="S02_ExecutiveText3"/>
          <p:cNvSpPr/>
          <p:nvPr/>
        </p:nvSpPr>
        <p:spPr>
          <a:xfrm>
            <a:off x="905256" y="4471416"/>
            <a:ext cx="4764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помогает находить связанный контекст, а apply переносит одно согласованное изменение в несколько документов.</a:t>
            </a:r>
            <a:endParaRPr lang="en-US" sz="1180" dirty="0"/>
          </a:p>
        </p:txBody>
      </p:sp>
      <p:sp>
        <p:nvSpPr>
          <p:cNvPr id="25" name="S02_ExecutiveCard4"/>
          <p:cNvSpPr/>
          <p:nvPr/>
        </p:nvSpPr>
        <p:spPr>
          <a:xfrm>
            <a:off x="6236208" y="3401568"/>
            <a:ext cx="5266944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6" name="S02_ExecutiveLabel4_Bg"/>
          <p:cNvSpPr/>
          <p:nvPr/>
        </p:nvSpPr>
        <p:spPr>
          <a:xfrm>
            <a:off x="6464808" y="3602736"/>
            <a:ext cx="2029968" cy="329184"/>
          </a:xfrm>
          <a:prstGeom prst="roundRect">
            <a:avLst>
              <a:gd name="adj" fmla="val 22222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7" name="S02_ExecutiveLabel4_Text"/>
          <p:cNvSpPr/>
          <p:nvPr/>
        </p:nvSpPr>
        <p:spPr>
          <a:xfrm>
            <a:off x="6464808" y="360730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· ЭФФЕКТ И ЦЕНА</a:t>
            </a:r>
            <a:endParaRPr lang="en-US" sz="940" dirty="0"/>
          </a:p>
        </p:txBody>
      </p:sp>
      <p:sp>
        <p:nvSpPr>
          <p:cNvPr id="28" name="S02_ExecutiveTitle4"/>
          <p:cNvSpPr/>
          <p:nvPr/>
        </p:nvSpPr>
        <p:spPr>
          <a:xfrm>
            <a:off x="6483096" y="406908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Постепенный переход и новая дисциплина</a:t>
            </a:r>
            <a:endParaRPr lang="en-US" sz="1620" dirty="0"/>
          </a:p>
        </p:txBody>
      </p:sp>
      <p:sp>
        <p:nvSpPr>
          <p:cNvPr id="29" name="S02_ExecutiveText4"/>
          <p:cNvSpPr/>
          <p:nvPr/>
        </p:nvSpPr>
        <p:spPr>
          <a:xfrm>
            <a:off x="6483096" y="4471416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Знания развиваются вместе с системой. Дополнительная ответственность — поддерживать _sdd согласованным и актуальным.</a:t>
            </a:r>
            <a:endParaRPr lang="en-US" sz="1180" dirty="0"/>
          </a:p>
        </p:txBody>
      </p:sp>
      <p:sp>
        <p:nvSpPr>
          <p:cNvPr id="30" name="S02_ExecutiveThesisCard"/>
          <p:cNvSpPr/>
          <p:nvPr/>
        </p:nvSpPr>
        <p:spPr>
          <a:xfrm>
            <a:off x="658368" y="5394960"/>
            <a:ext cx="10844784" cy="694944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S02_ExecutiveThesis"/>
          <p:cNvSpPr/>
          <p:nvPr/>
        </p:nvSpPr>
        <p:spPr>
          <a:xfrm>
            <a:off x="960120" y="55961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документов в Confluence — к управляемой базе знаний и прослеживаемому циклу изменений.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3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ТЕРМИНЫ</a:t>
            </a:r>
            <a:endParaRPr lang="en-US" sz="850" dirty="0"/>
          </a:p>
        </p:txBody>
      </p:sp>
      <p:sp>
        <p:nvSpPr>
          <p:cNvPr id="4" name="S03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Глоссарий: как читать термины презентации</a:t>
            </a:r>
            <a:endParaRPr lang="en-US" sz="2850" dirty="0"/>
          </a:p>
        </p:txBody>
      </p:sp>
      <p:sp>
        <p:nvSpPr>
          <p:cNvPr id="5" name="S03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речи используем русские названия; имена команд и файлов сохраняем без перевода.</a:t>
            </a:r>
            <a:endParaRPr lang="en-US" sz="1320" dirty="0"/>
          </a:p>
        </p:txBody>
      </p:sp>
      <p:sp>
        <p:nvSpPr>
          <p:cNvPr id="6" name="S03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3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8" name="S03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3_GlossaryCard1"/>
          <p:cNvSpPr/>
          <p:nvPr/>
        </p:nvSpPr>
        <p:spPr>
          <a:xfrm>
            <a:off x="658368" y="141732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3_GlossaryAccent1"/>
          <p:cNvSpPr/>
          <p:nvPr/>
        </p:nvSpPr>
        <p:spPr>
          <a:xfrm>
            <a:off x="658368" y="1417320"/>
            <a:ext cx="64008" cy="7498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3_GlossaryTerm1"/>
          <p:cNvSpPr/>
          <p:nvPr/>
        </p:nvSpPr>
        <p:spPr>
          <a:xfrm>
            <a:off x="859536" y="150876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/ управление изменениями</a:t>
            </a:r>
            <a:endParaRPr lang="en-US" sz="1070" dirty="0"/>
          </a:p>
        </p:txBody>
      </p:sp>
      <p:sp>
        <p:nvSpPr>
          <p:cNvPr id="13" name="S03_GlossaryDefinition1"/>
          <p:cNvSpPr/>
          <p:nvPr/>
        </p:nvSpPr>
        <p:spPr>
          <a:xfrm>
            <a:off x="859536" y="177393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Каркас SDD: от формулировки изменения до реализации и обновления спецификации.</a:t>
            </a:r>
            <a:endParaRPr lang="en-US" sz="970" dirty="0"/>
          </a:p>
        </p:txBody>
      </p:sp>
      <p:sp>
        <p:nvSpPr>
          <p:cNvPr id="14" name="S03_GlossaryCard2"/>
          <p:cNvSpPr/>
          <p:nvPr/>
        </p:nvSpPr>
        <p:spPr>
          <a:xfrm>
            <a:off x="658368" y="2295144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3_GlossaryAccent2"/>
          <p:cNvSpPr/>
          <p:nvPr/>
        </p:nvSpPr>
        <p:spPr>
          <a:xfrm>
            <a:off x="658368" y="2295144"/>
            <a:ext cx="64008" cy="7498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S03_GlossaryTerm2"/>
          <p:cNvSpPr/>
          <p:nvPr/>
        </p:nvSpPr>
        <p:spPr>
          <a:xfrm>
            <a:off x="859536" y="238658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/ разработка по спецификации</a:t>
            </a:r>
            <a:endParaRPr lang="en-US" sz="1070" dirty="0"/>
          </a:p>
        </p:txBody>
      </p:sp>
      <p:sp>
        <p:nvSpPr>
          <p:cNvPr id="17" name="S03_GlossaryDefinition2"/>
          <p:cNvSpPr/>
          <p:nvPr/>
        </p:nvSpPr>
        <p:spPr>
          <a:xfrm>
            <a:off x="859536" y="26517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Согласованная спецификация направляет проектирование, реализацию и проверку.</a:t>
            </a:r>
            <a:endParaRPr lang="en-US" sz="970" dirty="0"/>
          </a:p>
        </p:txBody>
      </p:sp>
      <p:sp>
        <p:nvSpPr>
          <p:cNvPr id="18" name="S03_GlossaryCard3"/>
          <p:cNvSpPr/>
          <p:nvPr/>
        </p:nvSpPr>
        <p:spPr>
          <a:xfrm>
            <a:off x="658368" y="3172968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3_GlossaryAccent3"/>
          <p:cNvSpPr/>
          <p:nvPr/>
        </p:nvSpPr>
        <p:spPr>
          <a:xfrm>
            <a:off x="658368" y="3172968"/>
            <a:ext cx="64008" cy="7498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03_GlossaryTerm3"/>
          <p:cNvSpPr/>
          <p:nvPr/>
        </p:nvSpPr>
        <p:spPr>
          <a:xfrm>
            <a:off x="859536" y="326440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/ мастер-спецификация</a:t>
            </a:r>
            <a:endParaRPr lang="en-US" sz="1070" dirty="0"/>
          </a:p>
        </p:txBody>
      </p:sp>
      <p:sp>
        <p:nvSpPr>
          <p:cNvPr id="21" name="S03_GlossaryDefinition3"/>
          <p:cNvSpPr/>
          <p:nvPr/>
        </p:nvSpPr>
        <p:spPr>
          <a:xfrm>
            <a:off x="859536" y="352958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Актуальное согласованное описание поведения, данных, интерфейсов и ограничений сервиса.</a:t>
            </a:r>
            <a:endParaRPr lang="en-US" sz="970" dirty="0"/>
          </a:p>
        </p:txBody>
      </p:sp>
      <p:sp>
        <p:nvSpPr>
          <p:cNvPr id="22" name="S03_GlossaryCard4"/>
          <p:cNvSpPr/>
          <p:nvPr/>
        </p:nvSpPr>
        <p:spPr>
          <a:xfrm>
            <a:off x="658368" y="405079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03_GlossaryAccent4"/>
          <p:cNvSpPr/>
          <p:nvPr/>
        </p:nvSpPr>
        <p:spPr>
          <a:xfrm>
            <a:off x="658368" y="4050792"/>
            <a:ext cx="64008" cy="7498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4" name="S03_GlossaryTerm4"/>
          <p:cNvSpPr/>
          <p:nvPr/>
        </p:nvSpPr>
        <p:spPr>
          <a:xfrm>
            <a:off x="859536" y="414223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specification / спецификация в папке</a:t>
            </a:r>
            <a:endParaRPr lang="en-US" sz="1070" dirty="0"/>
          </a:p>
        </p:txBody>
      </p:sp>
      <p:sp>
        <p:nvSpPr>
          <p:cNvPr id="25" name="S03_GlossaryDefinition4"/>
          <p:cNvSpPr/>
          <p:nvPr/>
        </p:nvSpPr>
        <p:spPr>
          <a:xfrm>
            <a:off x="859536" y="44074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Набор связанных файлов; состав и деление определяются содержанием, а не обязательными ФО.</a:t>
            </a:r>
            <a:endParaRPr lang="en-US" sz="970" dirty="0"/>
          </a:p>
        </p:txBody>
      </p:sp>
      <p:sp>
        <p:nvSpPr>
          <p:cNvPr id="26" name="S03_GlossaryCard5"/>
          <p:cNvSpPr/>
          <p:nvPr/>
        </p:nvSpPr>
        <p:spPr>
          <a:xfrm>
            <a:off x="658368" y="492861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7" name="S03_GlossaryAccent5"/>
          <p:cNvSpPr/>
          <p:nvPr/>
        </p:nvSpPr>
        <p:spPr>
          <a:xfrm>
            <a:off x="658368" y="4928616"/>
            <a:ext cx="64008" cy="7498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S03_GlossaryTerm5"/>
          <p:cNvSpPr/>
          <p:nvPr/>
        </p:nvSpPr>
        <p:spPr>
          <a:xfrm>
            <a:off x="859536" y="502005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Change, change.md / описание изменения</a:t>
            </a:r>
            <a:endParaRPr lang="en-US" sz="1070" dirty="0"/>
          </a:p>
        </p:txBody>
      </p:sp>
      <p:sp>
        <p:nvSpPr>
          <p:cNvPr id="29" name="S03_GlossaryDefinition5"/>
          <p:cNvSpPr/>
          <p:nvPr/>
        </p:nvSpPr>
        <p:spPr>
          <a:xfrm>
            <a:off x="859536" y="528523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Фиксирует, зачем и что меняется относительно текущей мастер-спецификации.</a:t>
            </a:r>
            <a:endParaRPr lang="en-US" sz="970" dirty="0"/>
          </a:p>
        </p:txBody>
      </p:sp>
      <p:sp>
        <p:nvSpPr>
          <p:cNvPr id="30" name="S03_GlossaryCard6"/>
          <p:cNvSpPr/>
          <p:nvPr/>
        </p:nvSpPr>
        <p:spPr>
          <a:xfrm>
            <a:off x="6199632" y="141732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03_GlossaryAccent6"/>
          <p:cNvSpPr/>
          <p:nvPr/>
        </p:nvSpPr>
        <p:spPr>
          <a:xfrm>
            <a:off x="6199632" y="1417320"/>
            <a:ext cx="64008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2" name="S03_GlossaryTerm6"/>
          <p:cNvSpPr/>
          <p:nvPr/>
        </p:nvSpPr>
        <p:spPr>
          <a:xfrm>
            <a:off x="6400800" y="150876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 / подготовка предложения</a:t>
            </a:r>
            <a:endParaRPr lang="en-US" sz="1070" dirty="0"/>
          </a:p>
        </p:txBody>
      </p:sp>
      <p:sp>
        <p:nvSpPr>
          <p:cNvPr id="33" name="S03_GlossaryDefinition6"/>
          <p:cNvSpPr/>
          <p:nvPr/>
        </p:nvSpPr>
        <p:spPr>
          <a:xfrm>
            <a:off x="6400800" y="177393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Собирает нужный контекст и формирует change.md для обсуждения и согласования.</a:t>
            </a:r>
            <a:endParaRPr lang="en-US" sz="970" dirty="0"/>
          </a:p>
        </p:txBody>
      </p:sp>
      <p:sp>
        <p:nvSpPr>
          <p:cNvPr id="34" name="S03_GlossaryCard7"/>
          <p:cNvSpPr/>
          <p:nvPr/>
        </p:nvSpPr>
        <p:spPr>
          <a:xfrm>
            <a:off x="6199632" y="2295144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5" name="S03_GlossaryAccent7"/>
          <p:cNvSpPr/>
          <p:nvPr/>
        </p:nvSpPr>
        <p:spPr>
          <a:xfrm>
            <a:off x="6199632" y="2295144"/>
            <a:ext cx="64008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S03_GlossaryTerm7"/>
          <p:cNvSpPr/>
          <p:nvPr/>
        </p:nvSpPr>
        <p:spPr>
          <a:xfrm>
            <a:off x="6400800" y="238658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/ применение изменения</a:t>
            </a:r>
            <a:endParaRPr lang="en-US" sz="1070" dirty="0"/>
          </a:p>
        </p:txBody>
      </p:sp>
      <p:sp>
        <p:nvSpPr>
          <p:cNvPr id="37" name="S03_GlossaryDefinition7"/>
          <p:cNvSpPr/>
          <p:nvPr/>
        </p:nvSpPr>
        <p:spPr>
          <a:xfrm>
            <a:off x="6400800" y="26517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Переносит согласованную дельту в затронутые документы; затем обновляется навигация.</a:t>
            </a:r>
            <a:endParaRPr lang="en-US" sz="970" dirty="0"/>
          </a:p>
        </p:txBody>
      </p:sp>
      <p:sp>
        <p:nvSpPr>
          <p:cNvPr id="38" name="S03_GlossaryCard8"/>
          <p:cNvSpPr/>
          <p:nvPr/>
        </p:nvSpPr>
        <p:spPr>
          <a:xfrm>
            <a:off x="6199632" y="3172968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9" name="S03_GlossaryAccent8"/>
          <p:cNvSpPr/>
          <p:nvPr/>
        </p:nvSpPr>
        <p:spPr>
          <a:xfrm>
            <a:off x="6199632" y="3172968"/>
            <a:ext cx="64008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03_GlossaryTerm8"/>
          <p:cNvSpPr/>
          <p:nvPr/>
        </p:nvSpPr>
        <p:spPr>
          <a:xfrm>
            <a:off x="6400800" y="326440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/ навигационный слой</a:t>
            </a:r>
            <a:endParaRPr lang="en-US" sz="1070" dirty="0"/>
          </a:p>
        </p:txBody>
      </p:sp>
      <p:sp>
        <p:nvSpPr>
          <p:cNvPr id="41" name="S03_GlossaryDefinition8"/>
          <p:cNvSpPr/>
          <p:nvPr/>
        </p:nvSpPr>
        <p:spPr>
          <a:xfrm>
            <a:off x="6400800" y="352958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Карта документов, связей и покрытия; требует актуализации вместе с документами.</a:t>
            </a:r>
            <a:endParaRPr lang="en-US" sz="970" dirty="0"/>
          </a:p>
        </p:txBody>
      </p:sp>
      <p:sp>
        <p:nvSpPr>
          <p:cNvPr id="42" name="S03_GlossaryCard9"/>
          <p:cNvSpPr/>
          <p:nvPr/>
        </p:nvSpPr>
        <p:spPr>
          <a:xfrm>
            <a:off x="6199632" y="405079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3" name="S03_GlossaryAccent9"/>
          <p:cNvSpPr/>
          <p:nvPr/>
        </p:nvSpPr>
        <p:spPr>
          <a:xfrm>
            <a:off x="6199632" y="4050792"/>
            <a:ext cx="64008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4" name="S03_GlossaryTerm9"/>
          <p:cNvSpPr/>
          <p:nvPr/>
        </p:nvSpPr>
        <p:spPr>
          <a:xfrm>
            <a:off x="6400800" y="414223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 / подключение</a:t>
            </a:r>
            <a:endParaRPr lang="en-US" sz="1070" dirty="0"/>
          </a:p>
        </p:txBody>
      </p:sp>
      <p:sp>
        <p:nvSpPr>
          <p:cNvPr id="45" name="S03_GlossaryDefinition9"/>
          <p:cNvSpPr/>
          <p:nvPr/>
        </p:nvSpPr>
        <p:spPr>
          <a:xfrm>
            <a:off x="6400800" y="44074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Подключает существующие MD-документы к OpenSpec и создаёт или обновляет _sdd.</a:t>
            </a:r>
            <a:endParaRPr lang="en-US" sz="970" dirty="0"/>
          </a:p>
        </p:txBody>
      </p:sp>
      <p:sp>
        <p:nvSpPr>
          <p:cNvPr id="46" name="S03_GlossaryCard10"/>
          <p:cNvSpPr/>
          <p:nvPr/>
        </p:nvSpPr>
        <p:spPr>
          <a:xfrm>
            <a:off x="6199632" y="492861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7" name="S03_GlossaryAccent10"/>
          <p:cNvSpPr/>
          <p:nvPr/>
        </p:nvSpPr>
        <p:spPr>
          <a:xfrm>
            <a:off x="6199632" y="4928616"/>
            <a:ext cx="64008" cy="7498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3_GlossaryTerm10"/>
          <p:cNvSpPr/>
          <p:nvPr/>
        </p:nvSpPr>
        <p:spPr>
          <a:xfrm>
            <a:off x="6400800" y="502005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 / изменение по разнице</a:t>
            </a:r>
            <a:endParaRPr lang="en-US" sz="1070" dirty="0"/>
          </a:p>
        </p:txBody>
      </p:sp>
      <p:sp>
        <p:nvSpPr>
          <p:cNvPr id="49" name="S03_GlossaryDefinition10"/>
          <p:cNvSpPr/>
          <p:nvPr/>
        </p:nvSpPr>
        <p:spPr>
          <a:xfrm>
            <a:off x="6400800" y="528523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Формирует change.md по уже внесённым правкам между версиями документов в Git.</a:t>
            </a:r>
            <a:endParaRPr lang="en-US" sz="970" dirty="0"/>
          </a:p>
        </p:txBody>
      </p:sp>
      <p:sp>
        <p:nvSpPr>
          <p:cNvPr id="50" name="S03_GlossaryMdGit_Bg"/>
          <p:cNvSpPr/>
          <p:nvPr/>
        </p:nvSpPr>
        <p:spPr>
          <a:xfrm>
            <a:off x="1005840" y="5907024"/>
            <a:ext cx="10168128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51" name="S03_GlossaryMdGit_Text"/>
          <p:cNvSpPr/>
          <p:nvPr/>
        </p:nvSpPr>
        <p:spPr>
          <a:xfrm>
            <a:off x="1005840" y="5911596"/>
            <a:ext cx="10168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Markdown (MD) — текстовый формат документов · Git — хранение версий и истории изменений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4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КОНТЕКСТ</a:t>
            </a:r>
            <a:endParaRPr lang="en-US" sz="850" dirty="0"/>
          </a:p>
        </p:txBody>
      </p:sp>
      <p:sp>
        <p:nvSpPr>
          <p:cNvPr id="4" name="S04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Документация уже является частью процесса разработки</a:t>
            </a:r>
            <a:endParaRPr lang="en-US" sz="2850" dirty="0"/>
          </a:p>
        </p:txBody>
      </p:sp>
      <p:sp>
        <p:nvSpPr>
          <p:cNvPr id="5" name="S04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меняется описание поведения — затем код.</a:t>
            </a:r>
            <a:endParaRPr lang="en-US" sz="1320" dirty="0"/>
          </a:p>
        </p:txBody>
      </p:sp>
      <p:sp>
        <p:nvSpPr>
          <p:cNvPr id="6" name="S04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4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30" dirty="0"/>
          </a:p>
        </p:txBody>
      </p:sp>
      <p:sp>
        <p:nvSpPr>
          <p:cNvPr id="8" name="S04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4_MetricYears_Card"/>
          <p:cNvSpPr/>
          <p:nvPr/>
        </p:nvSpPr>
        <p:spPr>
          <a:xfrm>
            <a:off x="658368" y="1444752"/>
            <a:ext cx="23774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4_MetricYears_Accent"/>
          <p:cNvSpPr/>
          <p:nvPr/>
        </p:nvSpPr>
        <p:spPr>
          <a:xfrm>
            <a:off x="658368" y="1444752"/>
            <a:ext cx="73152" cy="9418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4_MetricYears_Number"/>
          <p:cNvSpPr/>
          <p:nvPr/>
        </p:nvSpPr>
        <p:spPr>
          <a:xfrm>
            <a:off x="877824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400" dirty="0"/>
          </a:p>
        </p:txBody>
      </p:sp>
      <p:sp>
        <p:nvSpPr>
          <p:cNvPr id="13" name="S04_MetricYears_Label"/>
          <p:cNvSpPr/>
          <p:nvPr/>
        </p:nvSpPr>
        <p:spPr>
          <a:xfrm>
            <a:off x="1828800" y="158191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года развития проекта</a:t>
            </a:r>
            <a:endParaRPr lang="en-US" sz="1250" dirty="0"/>
          </a:p>
        </p:txBody>
      </p:sp>
      <p:sp>
        <p:nvSpPr>
          <p:cNvPr id="14" name="S04_MetricServices_Card"/>
          <p:cNvSpPr/>
          <p:nvPr/>
        </p:nvSpPr>
        <p:spPr>
          <a:xfrm>
            <a:off x="3200400" y="1444752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4_MetricServices_Accent"/>
          <p:cNvSpPr/>
          <p:nvPr/>
        </p:nvSpPr>
        <p:spPr>
          <a:xfrm>
            <a:off x="3200400" y="1444752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S04_MetricServices_Number"/>
          <p:cNvSpPr/>
          <p:nvPr/>
        </p:nvSpPr>
        <p:spPr>
          <a:xfrm>
            <a:off x="3419856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S04_MetricServices_Label"/>
          <p:cNvSpPr/>
          <p:nvPr/>
        </p:nvSpPr>
        <p:spPr>
          <a:xfrm>
            <a:off x="4370832" y="1581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сервисов и библиотек</a:t>
            </a:r>
            <a:endParaRPr lang="en-US" sz="1250" dirty="0"/>
          </a:p>
        </p:txBody>
      </p:sp>
      <p:sp>
        <p:nvSpPr>
          <p:cNvPr id="18" name="S04_MetricSequence_Card"/>
          <p:cNvSpPr/>
          <p:nvPr/>
        </p:nvSpPr>
        <p:spPr>
          <a:xfrm>
            <a:off x="5907024" y="1444752"/>
            <a:ext cx="30632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4_MetricSequence_Accent"/>
          <p:cNvSpPr/>
          <p:nvPr/>
        </p:nvSpPr>
        <p:spPr>
          <a:xfrm>
            <a:off x="5907024" y="1444752"/>
            <a:ext cx="73152" cy="941832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0" name="S04_MetricSequence_Number"/>
          <p:cNvSpPr/>
          <p:nvPr/>
        </p:nvSpPr>
        <p:spPr>
          <a:xfrm>
            <a:off x="6126480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 → КОД</a:t>
            </a:r>
            <a:endParaRPr lang="en-US" sz="2400" dirty="0"/>
          </a:p>
        </p:txBody>
      </p:sp>
      <p:sp>
        <p:nvSpPr>
          <p:cNvPr id="21" name="S04_MetricSequence_Label"/>
          <p:cNvSpPr/>
          <p:nvPr/>
        </p:nvSpPr>
        <p:spPr>
          <a:xfrm>
            <a:off x="7077456" y="15819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описания предшествует коду</a:t>
            </a:r>
            <a:endParaRPr lang="en-US" sz="1250" dirty="0"/>
          </a:p>
        </p:txBody>
      </p:sp>
      <p:sp>
        <p:nvSpPr>
          <p:cNvPr id="22" name="S04_BugException_Bg"/>
          <p:cNvSpPr/>
          <p:nvPr/>
        </p:nvSpPr>
        <p:spPr>
          <a:xfrm>
            <a:off x="9144000" y="1591056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3" name="S04_BugException_Text"/>
          <p:cNvSpPr/>
          <p:nvPr/>
        </p:nvSpPr>
        <p:spPr>
          <a:xfrm>
            <a:off x="9144000" y="1595628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кроме исправления дефектов</a:t>
            </a:r>
            <a:endParaRPr lang="en-US" sz="1080" dirty="0"/>
          </a:p>
        </p:txBody>
      </p:sp>
      <p:sp>
        <p:nvSpPr>
          <p:cNvPr id="24" name="S04_CurrentFlow1_Card"/>
          <p:cNvSpPr/>
          <p:nvPr/>
        </p:nvSpPr>
        <p:spPr>
          <a:xfrm>
            <a:off x="658368" y="2889504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5" name="S04_CurrentFlow1_Dot"/>
          <p:cNvSpPr/>
          <p:nvPr/>
        </p:nvSpPr>
        <p:spPr>
          <a:xfrm>
            <a:off x="77724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S04_CurrentFlow1_Title"/>
          <p:cNvSpPr/>
          <p:nvPr/>
        </p:nvSpPr>
        <p:spPr>
          <a:xfrm>
            <a:off x="1078992" y="29809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</a:t>
            </a:r>
            <a:endParaRPr lang="en-US" sz="1250" dirty="0"/>
          </a:p>
        </p:txBody>
      </p:sp>
      <p:sp>
        <p:nvSpPr>
          <p:cNvPr id="27" name="S04_CurrentFlow1_Subtitle"/>
          <p:cNvSpPr/>
          <p:nvPr/>
        </p:nvSpPr>
        <p:spPr>
          <a:xfrm>
            <a:off x="1078992" y="329184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формулирует изменение</a:t>
            </a:r>
            <a:endParaRPr lang="en-US" sz="1050" dirty="0"/>
          </a:p>
        </p:txBody>
      </p:sp>
      <p:sp>
        <p:nvSpPr>
          <p:cNvPr id="28" name="S04_CurrentArrow1"/>
          <p:cNvSpPr/>
          <p:nvPr/>
        </p:nvSpPr>
        <p:spPr>
          <a:xfrm>
            <a:off x="2148840" y="3474720"/>
            <a:ext cx="173736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04_CurrentFlow2_Card"/>
          <p:cNvSpPr/>
          <p:nvPr/>
        </p:nvSpPr>
        <p:spPr>
          <a:xfrm>
            <a:off x="2395728" y="2889504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0" name="S04_CurrentFlow2_Dot"/>
          <p:cNvSpPr/>
          <p:nvPr/>
        </p:nvSpPr>
        <p:spPr>
          <a:xfrm>
            <a:off x="2514600" y="3026664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4_CurrentFlow2_Title"/>
          <p:cNvSpPr/>
          <p:nvPr/>
        </p:nvSpPr>
        <p:spPr>
          <a:xfrm>
            <a:off x="2816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2" name="S04_CurrentFlow2_Subtitle"/>
          <p:cNvSpPr/>
          <p:nvPr/>
        </p:nvSpPr>
        <p:spPr>
          <a:xfrm>
            <a:off x="2816352" y="329184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правка выделена цветом</a:t>
            </a:r>
            <a:endParaRPr lang="en-US" sz="1050" dirty="0"/>
          </a:p>
        </p:txBody>
      </p:sp>
      <p:sp>
        <p:nvSpPr>
          <p:cNvPr id="33" name="S04_CurrentArrow2"/>
          <p:cNvSpPr/>
          <p:nvPr/>
        </p:nvSpPr>
        <p:spPr>
          <a:xfrm>
            <a:off x="4462272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04_CurrentFlow3_Card"/>
          <p:cNvSpPr/>
          <p:nvPr/>
        </p:nvSpPr>
        <p:spPr>
          <a:xfrm>
            <a:off x="4718304" y="2889504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35" name="S04_CurrentFlow3_Dot"/>
          <p:cNvSpPr/>
          <p:nvPr/>
        </p:nvSpPr>
        <p:spPr>
          <a:xfrm>
            <a:off x="4837176" y="3026664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6" name="S04_CurrentFlow3_Title"/>
          <p:cNvSpPr/>
          <p:nvPr/>
        </p:nvSpPr>
        <p:spPr>
          <a:xfrm>
            <a:off x="5138928" y="29809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37" name="S04_CurrentFlow3_Subtitle"/>
          <p:cNvSpPr/>
          <p:nvPr/>
        </p:nvSpPr>
        <p:spPr>
          <a:xfrm>
            <a:off x="5138928" y="329184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согласовано для разработки</a:t>
            </a:r>
            <a:endParaRPr lang="en-US" sz="1050" dirty="0"/>
          </a:p>
        </p:txBody>
      </p:sp>
      <p:sp>
        <p:nvSpPr>
          <p:cNvPr id="38" name="S04_CurrentArrow3"/>
          <p:cNvSpPr/>
          <p:nvPr/>
        </p:nvSpPr>
        <p:spPr>
          <a:xfrm>
            <a:off x="6620256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9" name="S04_CurrentFlow4_Card"/>
          <p:cNvSpPr/>
          <p:nvPr/>
        </p:nvSpPr>
        <p:spPr>
          <a:xfrm>
            <a:off x="6876288" y="2889504"/>
            <a:ext cx="1737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40" name="S04_CurrentFlow4_Dot"/>
          <p:cNvSpPr/>
          <p:nvPr/>
        </p:nvSpPr>
        <p:spPr>
          <a:xfrm>
            <a:off x="699516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S04_CurrentFlow4_Title"/>
          <p:cNvSpPr/>
          <p:nvPr/>
        </p:nvSpPr>
        <p:spPr>
          <a:xfrm>
            <a:off x="7296912" y="29809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2" name="S04_CurrentFlow4_Subtitle"/>
          <p:cNvSpPr/>
          <p:nvPr/>
        </p:nvSpPr>
        <p:spPr>
          <a:xfrm>
            <a:off x="7296912" y="32918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в коде</a:t>
            </a:r>
            <a:endParaRPr lang="en-US" sz="1050" dirty="0"/>
          </a:p>
        </p:txBody>
      </p:sp>
      <p:sp>
        <p:nvSpPr>
          <p:cNvPr id="43" name="S04_CurrentArrow4"/>
          <p:cNvSpPr/>
          <p:nvPr/>
        </p:nvSpPr>
        <p:spPr>
          <a:xfrm>
            <a:off x="8686800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44" name="S04_CurrentFlow5_Card"/>
          <p:cNvSpPr/>
          <p:nvPr/>
        </p:nvSpPr>
        <p:spPr>
          <a:xfrm>
            <a:off x="8942832" y="2889504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45" name="S04_CurrentFlow5_Dot"/>
          <p:cNvSpPr/>
          <p:nvPr/>
        </p:nvSpPr>
        <p:spPr>
          <a:xfrm>
            <a:off x="9061704" y="3026664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4_CurrentFlow5_Title"/>
          <p:cNvSpPr/>
          <p:nvPr/>
        </p:nvSpPr>
        <p:spPr>
          <a:xfrm>
            <a:off x="9363456" y="298094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Актуальная спецификация</a:t>
            </a:r>
            <a:endParaRPr lang="en-US" sz="1250" dirty="0"/>
          </a:p>
        </p:txBody>
      </p:sp>
      <p:sp>
        <p:nvSpPr>
          <p:cNvPr id="47" name="S04_CurrentFlow5_Subtitle"/>
          <p:cNvSpPr/>
          <p:nvPr/>
        </p:nvSpPr>
        <p:spPr>
          <a:xfrm>
            <a:off x="9363456" y="3291840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цветовая разметка снята</a:t>
            </a:r>
            <a:endParaRPr lang="en-US" sz="1050" dirty="0"/>
          </a:p>
        </p:txBody>
      </p:sp>
      <p:sp>
        <p:nvSpPr>
          <p:cNvPr id="48" name="S04_DeliveryThesisCard"/>
          <p:cNvSpPr/>
          <p:nvPr/>
        </p:nvSpPr>
        <p:spPr>
          <a:xfrm>
            <a:off x="658368" y="4526280"/>
            <a:ext cx="10844784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9" name="S04_DeliveryThesis"/>
          <p:cNvSpPr/>
          <p:nvPr/>
        </p:nvSpPr>
        <p:spPr>
          <a:xfrm>
            <a:off x="1024128" y="47548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— не отчёт после разработки, а вход в разработку.</a:t>
            </a:r>
            <a:endParaRPr lang="en-US" sz="1950" dirty="0"/>
          </a:p>
        </p:txBody>
      </p:sp>
      <p:sp>
        <p:nvSpPr>
          <p:cNvPr id="50" name="S04_DeliverySoT_Bg"/>
          <p:cNvSpPr/>
          <p:nvPr/>
        </p:nvSpPr>
        <p:spPr>
          <a:xfrm>
            <a:off x="8595360" y="4754880"/>
            <a:ext cx="24414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4_DeliverySoT_Text"/>
          <p:cNvSpPr/>
          <p:nvPr/>
        </p:nvSpPr>
        <p:spPr>
          <a:xfrm>
            <a:off x="8595360" y="4759452"/>
            <a:ext cx="2441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актуальное описание уже есть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5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 ЗНАНИЯ</a:t>
            </a:r>
            <a:endParaRPr lang="en-US" sz="850" dirty="0"/>
          </a:p>
        </p:txBody>
      </p:sp>
      <p:sp>
        <p:nvSpPr>
          <p:cNvPr id="4" name="S05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Мастер-спецификация — это система документов</a:t>
            </a:r>
            <a:endParaRPr lang="en-US" sz="2850" dirty="0"/>
          </a:p>
        </p:txBody>
      </p:sp>
      <p:sp>
        <p:nvSpPr>
          <p:cNvPr id="5" name="S05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связывает процессы, данные, интерфейсы и интеграции.</a:t>
            </a:r>
            <a:endParaRPr lang="en-US" sz="1320" dirty="0"/>
          </a:p>
        </p:txBody>
      </p:sp>
      <p:sp>
        <p:nvSpPr>
          <p:cNvPr id="6" name="S05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5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30" dirty="0"/>
          </a:p>
        </p:txBody>
      </p:sp>
      <p:sp>
        <p:nvSpPr>
          <p:cNvPr id="8" name="S05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5_BranchProcess"/>
          <p:cNvSpPr/>
          <p:nvPr/>
        </p:nvSpPr>
        <p:spPr>
          <a:xfrm flipH="1" flipV="1">
            <a:off x="3630168" y="2112264"/>
            <a:ext cx="1014984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1" name="S05_BranchIntegration"/>
          <p:cNvSpPr/>
          <p:nvPr/>
        </p:nvSpPr>
        <p:spPr>
          <a:xfrm flipV="1">
            <a:off x="7552944" y="2112264"/>
            <a:ext cx="1005840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2" name="S05_BranchDictionary"/>
          <p:cNvSpPr/>
          <p:nvPr/>
        </p:nvSpPr>
        <p:spPr>
          <a:xfrm flipH="1">
            <a:off x="3630168" y="3694176"/>
            <a:ext cx="1014984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3" name="S05_BranchUI"/>
          <p:cNvSpPr/>
          <p:nvPr/>
        </p:nvSpPr>
        <p:spPr>
          <a:xfrm>
            <a:off x="7552944" y="3694176"/>
            <a:ext cx="1005840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4" name="S05_BranchAlgorithms"/>
          <p:cNvSpPr/>
          <p:nvPr/>
        </p:nvSpPr>
        <p:spPr>
          <a:xfrm>
            <a:off x="6099048" y="4151376"/>
            <a:ext cx="914" cy="676656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5" name="S05_MasterSpecCenter"/>
          <p:cNvSpPr/>
          <p:nvPr/>
        </p:nvSpPr>
        <p:spPr>
          <a:xfrm>
            <a:off x="4645152" y="2304288"/>
            <a:ext cx="2907792" cy="1847088"/>
          </a:xfrm>
          <a:prstGeom prst="roundRect">
            <a:avLst>
              <a:gd name="adj" fmla="val 396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22304A">
                <a:alpha val="120000000000000"/>
              </a:srgbClr>
            </a:outerShdw>
          </a:effectLst>
        </p:spPr>
      </p:sp>
      <p:sp>
        <p:nvSpPr>
          <p:cNvPr id="16" name="S05_MasterSpecService_Bg"/>
          <p:cNvSpPr/>
          <p:nvPr/>
        </p:nvSpPr>
        <p:spPr>
          <a:xfrm>
            <a:off x="5175504" y="256032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5_MasterSpecService_Text"/>
          <p:cNvSpPr/>
          <p:nvPr/>
        </p:nvSpPr>
        <p:spPr>
          <a:xfrm>
            <a:off x="5175504" y="2564892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СЕРВИС</a:t>
            </a:r>
            <a:endParaRPr lang="en-US" sz="1050" dirty="0"/>
          </a:p>
        </p:txBody>
      </p:sp>
      <p:sp>
        <p:nvSpPr>
          <p:cNvPr id="18" name="S05_MasterSpecCenterText"/>
          <p:cNvSpPr/>
          <p:nvPr/>
        </p:nvSpPr>
        <p:spPr>
          <a:xfrm>
            <a:off x="4992624" y="3063240"/>
            <a:ext cx="22128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</a:t>
            </a:r>
            <a:endParaRPr lang="en-US" sz="2000" dirty="0"/>
          </a:p>
        </p:txBody>
      </p:sp>
      <p:sp>
        <p:nvSpPr>
          <p:cNvPr id="19" name="S05_BranchCard1"/>
          <p:cNvSpPr/>
          <p:nvPr/>
        </p:nvSpPr>
        <p:spPr>
          <a:xfrm>
            <a:off x="658368" y="162763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S05_BranchMetric1"/>
          <p:cNvSpPr/>
          <p:nvPr/>
        </p:nvSpPr>
        <p:spPr>
          <a:xfrm>
            <a:off x="859536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21" name="S05_BranchTitle1"/>
          <p:cNvSpPr/>
          <p:nvPr/>
        </p:nvSpPr>
        <p:spPr>
          <a:xfrm>
            <a:off x="1609344" y="1783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бизнес-процессов</a:t>
            </a:r>
            <a:endParaRPr lang="en-US" sz="1350" dirty="0"/>
          </a:p>
        </p:txBody>
      </p:sp>
      <p:sp>
        <p:nvSpPr>
          <p:cNvPr id="22" name="S05_BranchSubtitle1"/>
          <p:cNvSpPr/>
          <p:nvPr/>
        </p:nvSpPr>
        <p:spPr>
          <a:xfrm>
            <a:off x="1609344" y="21305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шагов в каждом</a:t>
            </a:r>
            <a:endParaRPr lang="en-US" sz="1050" dirty="0"/>
          </a:p>
        </p:txBody>
      </p:sp>
      <p:sp>
        <p:nvSpPr>
          <p:cNvPr id="23" name="S05_BranchCard2"/>
          <p:cNvSpPr/>
          <p:nvPr/>
        </p:nvSpPr>
        <p:spPr>
          <a:xfrm>
            <a:off x="8558784" y="162763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4" name="S05_BranchMetric2"/>
          <p:cNvSpPr/>
          <p:nvPr/>
        </p:nvSpPr>
        <p:spPr>
          <a:xfrm>
            <a:off x="8759952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S05_BranchTitle2"/>
          <p:cNvSpPr/>
          <p:nvPr/>
        </p:nvSpPr>
        <p:spPr>
          <a:xfrm>
            <a:off x="9509760" y="1783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интеграций</a:t>
            </a:r>
            <a:endParaRPr lang="en-US" sz="1350" dirty="0"/>
          </a:p>
        </p:txBody>
      </p:sp>
      <p:sp>
        <p:nvSpPr>
          <p:cNvPr id="26" name="S05_BranchSubtitle2"/>
          <p:cNvSpPr/>
          <p:nvPr/>
        </p:nvSpPr>
        <p:spPr>
          <a:xfrm>
            <a:off x="9509760" y="213055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 + контракты</a:t>
            </a:r>
            <a:endParaRPr lang="en-US" sz="1050" dirty="0"/>
          </a:p>
        </p:txBody>
      </p:sp>
      <p:sp>
        <p:nvSpPr>
          <p:cNvPr id="27" name="S05_BranchCard3"/>
          <p:cNvSpPr/>
          <p:nvPr/>
        </p:nvSpPr>
        <p:spPr>
          <a:xfrm>
            <a:off x="658368" y="382219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28" name="S05_BranchMetric3"/>
          <p:cNvSpPr/>
          <p:nvPr/>
        </p:nvSpPr>
        <p:spPr>
          <a:xfrm>
            <a:off x="859536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50+</a:t>
            </a:r>
            <a:endParaRPr lang="en-US" sz="2200" dirty="0"/>
          </a:p>
        </p:txBody>
      </p:sp>
      <p:sp>
        <p:nvSpPr>
          <p:cNvPr id="29" name="S05_BranchTitle3"/>
          <p:cNvSpPr/>
          <p:nvPr/>
        </p:nvSpPr>
        <p:spPr>
          <a:xfrm>
            <a:off x="1609344" y="397764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справочников</a:t>
            </a:r>
            <a:endParaRPr lang="en-US" sz="1350" dirty="0"/>
          </a:p>
        </p:txBody>
      </p:sp>
      <p:sp>
        <p:nvSpPr>
          <p:cNvPr id="30" name="S05_BranchSubtitle3"/>
          <p:cNvSpPr/>
          <p:nvPr/>
        </p:nvSpPr>
        <p:spPr>
          <a:xfrm>
            <a:off x="1609344" y="432511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— отдельная сущность</a:t>
            </a:r>
            <a:endParaRPr lang="en-US" sz="1050" dirty="0"/>
          </a:p>
        </p:txBody>
      </p:sp>
      <p:sp>
        <p:nvSpPr>
          <p:cNvPr id="31" name="S05_BranchCard4"/>
          <p:cNvSpPr/>
          <p:nvPr/>
        </p:nvSpPr>
        <p:spPr>
          <a:xfrm>
            <a:off x="8558784" y="382219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2" name="S05_BranchMetric4"/>
          <p:cNvSpPr/>
          <p:nvPr/>
        </p:nvSpPr>
        <p:spPr>
          <a:xfrm>
            <a:off x="8759952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200" dirty="0"/>
          </a:p>
        </p:txBody>
      </p:sp>
      <p:sp>
        <p:nvSpPr>
          <p:cNvPr id="33" name="S05_BranchTitle4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экранных форм</a:t>
            </a:r>
            <a:endParaRPr lang="en-US" sz="1350" dirty="0"/>
          </a:p>
        </p:txBody>
      </p:sp>
      <p:sp>
        <p:nvSpPr>
          <p:cNvPr id="34" name="S05_BranchSubtitle4"/>
          <p:cNvSpPr/>
          <p:nvPr/>
        </p:nvSpPr>
        <p:spPr>
          <a:xfrm>
            <a:off x="9509760" y="432511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и действия</a:t>
            </a:r>
            <a:endParaRPr lang="en-US" sz="1050" dirty="0"/>
          </a:p>
        </p:txBody>
      </p:sp>
      <p:sp>
        <p:nvSpPr>
          <p:cNvPr id="35" name="S05_BranchCard5"/>
          <p:cNvSpPr/>
          <p:nvPr/>
        </p:nvSpPr>
        <p:spPr>
          <a:xfrm>
            <a:off x="4389120" y="482803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36" name="S05_BranchMetric5"/>
          <p:cNvSpPr/>
          <p:nvPr/>
        </p:nvSpPr>
        <p:spPr>
          <a:xfrm>
            <a:off x="4590288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37" name="S05_BranchTitle5"/>
          <p:cNvSpPr/>
          <p:nvPr/>
        </p:nvSpPr>
        <p:spPr>
          <a:xfrm>
            <a:off x="5340096" y="49834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алгоритмов интерфейса</a:t>
            </a:r>
            <a:endParaRPr lang="en-US" sz="1350" dirty="0"/>
          </a:p>
        </p:txBody>
      </p:sp>
      <p:sp>
        <p:nvSpPr>
          <p:cNvPr id="38" name="S05_PilotPill_Bg"/>
          <p:cNvSpPr/>
          <p:nvPr/>
        </p:nvSpPr>
        <p:spPr>
          <a:xfrm>
            <a:off x="658368" y="589788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5_PilotPill_Text"/>
          <p:cNvSpPr/>
          <p:nvPr/>
        </p:nvSpPr>
        <p:spPr>
          <a:xfrm>
            <a:off x="658368" y="5902452"/>
            <a:ext cx="4681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invest-dkz · ≈100 MD-документов · 18 документов процессов</a:t>
            </a:r>
            <a:endParaRPr lang="en-US" sz="1040" dirty="0"/>
          </a:p>
        </p:txBody>
      </p:sp>
      <p:sp>
        <p:nvSpPr>
          <p:cNvPr id="40" name="S05_FormatsPill_Bg"/>
          <p:cNvSpPr/>
          <p:nvPr/>
        </p:nvSpPr>
        <p:spPr>
          <a:xfrm>
            <a:off x="5532120" y="5897880"/>
            <a:ext cx="597103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5_FormatsPill_Text"/>
          <p:cNvSpPr/>
          <p:nvPr/>
        </p:nvSpPr>
        <p:spPr>
          <a:xfrm>
            <a:off x="5532120" y="5902452"/>
            <a:ext cx="5971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 · настройки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6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ГРАНИЦА ПРОЦЕССА</a:t>
            </a:r>
            <a:endParaRPr lang="en-US" sz="850" dirty="0"/>
          </a:p>
        </p:txBody>
      </p:sp>
      <p:sp>
        <p:nvSpPr>
          <p:cNvPr id="4" name="S06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Переход к SDD состоит из двух самостоятельных этапов</a:t>
            </a:r>
            <a:endParaRPr lang="en-US" sz="2850" dirty="0"/>
          </a:p>
        </p:txBody>
      </p:sp>
      <p:sp>
        <p:nvSpPr>
          <p:cNvPr id="5" name="S06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OpenSpec начинается только после появления мастер-спецификации в Markdown и Git.</a:t>
            </a:r>
            <a:endParaRPr lang="en-US" sz="1320" dirty="0"/>
          </a:p>
        </p:txBody>
      </p:sp>
      <p:sp>
        <p:nvSpPr>
          <p:cNvPr id="6" name="S06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6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30" dirty="0"/>
          </a:p>
        </p:txBody>
      </p:sp>
      <p:sp>
        <p:nvSpPr>
          <p:cNvPr id="8" name="S06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6_StageOneCard"/>
          <p:cNvSpPr/>
          <p:nvPr/>
        </p:nvSpPr>
        <p:spPr>
          <a:xfrm>
            <a:off x="658368" y="1444752"/>
            <a:ext cx="10844784" cy="1856232"/>
          </a:xfrm>
          <a:prstGeom prst="roundRect">
            <a:avLst>
              <a:gd name="adj" fmla="val 3941"/>
            </a:avLst>
          </a:prstGeom>
          <a:solidFill>
            <a:srgbClr val="EAF0FF"/>
          </a:solidFill>
          <a:ln w="12700">
            <a:solidFill>
              <a:srgbClr val="C9D8FF"/>
            </a:solidFill>
            <a:prstDash val="solid"/>
          </a:ln>
        </p:spPr>
      </p:sp>
      <p:sp>
        <p:nvSpPr>
          <p:cNvPr id="11" name="S06_StageOneLabel_Bg"/>
          <p:cNvSpPr/>
          <p:nvPr/>
        </p:nvSpPr>
        <p:spPr>
          <a:xfrm>
            <a:off x="914400" y="1673352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6_StageOneLabel_Text"/>
          <p:cNvSpPr/>
          <p:nvPr/>
        </p:nvSpPr>
        <p:spPr>
          <a:xfrm>
            <a:off x="914400" y="1677924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 1 · ВНЕ OPENSPEC</a:t>
            </a:r>
            <a:endParaRPr lang="en-US" sz="1050" dirty="0"/>
          </a:p>
        </p:txBody>
      </p:sp>
      <p:sp>
        <p:nvSpPr>
          <p:cNvPr id="13" name="S06_StageOneTitle"/>
          <p:cNvSpPr/>
          <p:nvPr/>
        </p:nvSpPr>
        <p:spPr>
          <a:xfrm>
            <a:off x="3017520" y="1719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Подготовка мастер-спецификации</a:t>
            </a:r>
            <a:endParaRPr lang="en-US" sz="1620" dirty="0"/>
          </a:p>
        </p:txBody>
      </p:sp>
      <p:sp>
        <p:nvSpPr>
          <p:cNvPr id="14" name="S06_StageOneStep1_Bg"/>
          <p:cNvSpPr/>
          <p:nvPr/>
        </p:nvSpPr>
        <p:spPr>
          <a:xfrm>
            <a:off x="914400" y="231343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6_StageOneStep1_Text"/>
          <p:cNvSpPr/>
          <p:nvPr/>
        </p:nvSpPr>
        <p:spPr>
          <a:xfrm>
            <a:off x="914400" y="2318004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16" name="S06_StageOneArrow1"/>
          <p:cNvSpPr/>
          <p:nvPr/>
        </p:nvSpPr>
        <p:spPr>
          <a:xfrm>
            <a:off x="2514600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17" name="S06_StageOneStep2_Bg"/>
          <p:cNvSpPr/>
          <p:nvPr/>
        </p:nvSpPr>
        <p:spPr>
          <a:xfrm>
            <a:off x="2880360" y="2313432"/>
            <a:ext cx="1993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6_StageOneStep2_Text"/>
          <p:cNvSpPr/>
          <p:nvPr/>
        </p:nvSpPr>
        <p:spPr>
          <a:xfrm>
            <a:off x="2880360" y="2318004"/>
            <a:ext cx="1993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наши средства конвертации</a:t>
            </a:r>
            <a:endParaRPr lang="en-US" sz="1050" dirty="0"/>
          </a:p>
        </p:txBody>
      </p:sp>
      <p:sp>
        <p:nvSpPr>
          <p:cNvPr id="19" name="S06_StageOneArrow2"/>
          <p:cNvSpPr/>
          <p:nvPr/>
        </p:nvSpPr>
        <p:spPr>
          <a:xfrm>
            <a:off x="4919472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0" name="S06_StageOneStep3_Bg"/>
          <p:cNvSpPr/>
          <p:nvPr/>
        </p:nvSpPr>
        <p:spPr>
          <a:xfrm>
            <a:off x="5285232" y="2313432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6_StageOneStep3_Text"/>
          <p:cNvSpPr/>
          <p:nvPr/>
        </p:nvSpPr>
        <p:spPr>
          <a:xfrm>
            <a:off x="5285232" y="2318004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MD-документы</a:t>
            </a:r>
            <a:endParaRPr lang="en-US" sz="1050" dirty="0"/>
          </a:p>
        </p:txBody>
      </p:sp>
      <p:sp>
        <p:nvSpPr>
          <p:cNvPr id="22" name="S06_StageOneArrow3"/>
          <p:cNvSpPr/>
          <p:nvPr/>
        </p:nvSpPr>
        <p:spPr>
          <a:xfrm>
            <a:off x="6931152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3" name="S06_StageOneStep4_Bg"/>
          <p:cNvSpPr/>
          <p:nvPr/>
        </p:nvSpPr>
        <p:spPr>
          <a:xfrm>
            <a:off x="7296912" y="231343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6_StageOneStep4_Text"/>
          <p:cNvSpPr/>
          <p:nvPr/>
        </p:nvSpPr>
        <p:spPr>
          <a:xfrm>
            <a:off x="7296912" y="2318004"/>
            <a:ext cx="1444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docs-hub</a:t>
            </a:r>
            <a:endParaRPr lang="en-US" sz="1050" dirty="0"/>
          </a:p>
        </p:txBody>
      </p:sp>
      <p:sp>
        <p:nvSpPr>
          <p:cNvPr id="25" name="S06_StageOneArrow4"/>
          <p:cNvSpPr/>
          <p:nvPr/>
        </p:nvSpPr>
        <p:spPr>
          <a:xfrm>
            <a:off x="8787384" y="2542032"/>
            <a:ext cx="320040" cy="914"/>
          </a:xfrm>
          <a:prstGeom prst="line">
            <a:avLst/>
          </a:prstGeom>
          <a:noFill/>
          <a:ln w="16510">
            <a:solidFill>
              <a:srgbClr val="5B8CFF"/>
            </a:solidFill>
            <a:prstDash val="solid"/>
            <a:headEnd type="none"/>
            <a:tailEnd type="triangle"/>
          </a:ln>
        </p:spPr>
      </p:sp>
      <p:sp>
        <p:nvSpPr>
          <p:cNvPr id="26" name="S06_StageOneStep5_Bg"/>
          <p:cNvSpPr/>
          <p:nvPr/>
        </p:nvSpPr>
        <p:spPr>
          <a:xfrm>
            <a:off x="9153144" y="2313432"/>
            <a:ext cx="188366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6_StageOneStep5_Text"/>
          <p:cNvSpPr/>
          <p:nvPr/>
        </p:nvSpPr>
        <p:spPr>
          <a:xfrm>
            <a:off x="9153144" y="2318004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готовая мастер-спецификация</a:t>
            </a:r>
            <a:endParaRPr lang="en-US" sz="1050" dirty="0"/>
          </a:p>
        </p:txBody>
      </p:sp>
      <p:sp>
        <p:nvSpPr>
          <p:cNvPr id="28" name="S06_StageOneResult"/>
          <p:cNvSpPr/>
          <p:nvPr/>
        </p:nvSpPr>
        <p:spPr>
          <a:xfrm>
            <a:off x="932688" y="292608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 этапа: структурированные документы уже существуют и версионируются в Git.</a:t>
            </a:r>
            <a:endParaRPr lang="en-US" sz="1140" dirty="0"/>
          </a:p>
        </p:txBody>
      </p:sp>
      <p:sp>
        <p:nvSpPr>
          <p:cNvPr id="29" name="S06_StageTwoCard"/>
          <p:cNvSpPr/>
          <p:nvPr/>
        </p:nvSpPr>
        <p:spPr>
          <a:xfrm>
            <a:off x="658368" y="3547872"/>
            <a:ext cx="10844784" cy="1856232"/>
          </a:xfrm>
          <a:prstGeom prst="roundRect">
            <a:avLst>
              <a:gd name="adj" fmla="val 3941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</p:spPr>
      </p:sp>
      <p:sp>
        <p:nvSpPr>
          <p:cNvPr id="30" name="S06_StageTwoLabel_Bg"/>
          <p:cNvSpPr/>
          <p:nvPr/>
        </p:nvSpPr>
        <p:spPr>
          <a:xfrm>
            <a:off x="914400" y="3776472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1" name="S06_StageTwoLabel_Text"/>
          <p:cNvSpPr/>
          <p:nvPr/>
        </p:nvSpPr>
        <p:spPr>
          <a:xfrm>
            <a:off x="914400" y="3781044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 2 · OPENSPEC</a:t>
            </a:r>
            <a:endParaRPr lang="en-US" sz="1050" dirty="0"/>
          </a:p>
        </p:txBody>
      </p:sp>
      <p:sp>
        <p:nvSpPr>
          <p:cNvPr id="32" name="S06_StageTwoTitle"/>
          <p:cNvSpPr/>
          <p:nvPr/>
        </p:nvSpPr>
        <p:spPr>
          <a:xfrm>
            <a:off x="3017520" y="38221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 и управление изменениями</a:t>
            </a:r>
            <a:endParaRPr lang="en-US" sz="1620" dirty="0"/>
          </a:p>
        </p:txBody>
      </p:sp>
      <p:sp>
        <p:nvSpPr>
          <p:cNvPr id="33" name="S06_StageTwoStep1_Bg"/>
          <p:cNvSpPr/>
          <p:nvPr/>
        </p:nvSpPr>
        <p:spPr>
          <a:xfrm>
            <a:off x="914400" y="4416552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6_StageTwoStep1_Text"/>
          <p:cNvSpPr/>
          <p:nvPr/>
        </p:nvSpPr>
        <p:spPr>
          <a:xfrm>
            <a:off x="914400" y="44211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в MD</a:t>
            </a:r>
            <a:endParaRPr lang="en-US" sz="1030" dirty="0"/>
          </a:p>
        </p:txBody>
      </p:sp>
      <p:sp>
        <p:nvSpPr>
          <p:cNvPr id="35" name="S06_StageTwoArrow1"/>
          <p:cNvSpPr/>
          <p:nvPr/>
        </p:nvSpPr>
        <p:spPr>
          <a:xfrm>
            <a:off x="2606040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6_StageTwoStep2_Bg"/>
          <p:cNvSpPr/>
          <p:nvPr/>
        </p:nvSpPr>
        <p:spPr>
          <a:xfrm>
            <a:off x="2944368" y="4416552"/>
            <a:ext cx="179222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6_StageTwoStep2_Text"/>
          <p:cNvSpPr/>
          <p:nvPr/>
        </p:nvSpPr>
        <p:spPr>
          <a:xfrm>
            <a:off x="2944368" y="4421124"/>
            <a:ext cx="1792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1030" dirty="0"/>
          </a:p>
        </p:txBody>
      </p:sp>
      <p:sp>
        <p:nvSpPr>
          <p:cNvPr id="38" name="S06_StageTwoArrow2"/>
          <p:cNvSpPr/>
          <p:nvPr/>
        </p:nvSpPr>
        <p:spPr>
          <a:xfrm>
            <a:off x="4782312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9" name="S06_StageTwoStep3_Bg"/>
          <p:cNvSpPr/>
          <p:nvPr/>
        </p:nvSpPr>
        <p:spPr>
          <a:xfrm>
            <a:off x="5120640" y="441655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06_StageTwoStep3_Text"/>
          <p:cNvSpPr/>
          <p:nvPr/>
        </p:nvSpPr>
        <p:spPr>
          <a:xfrm>
            <a:off x="5120640" y="4421124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030" dirty="0"/>
          </a:p>
        </p:txBody>
      </p:sp>
      <p:sp>
        <p:nvSpPr>
          <p:cNvPr id="41" name="S06_StageTwoArrow3"/>
          <p:cNvSpPr/>
          <p:nvPr/>
        </p:nvSpPr>
        <p:spPr>
          <a:xfrm>
            <a:off x="6446520" y="4645152"/>
            <a:ext cx="292608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2" name="S06_StageTwoStep4_Bg"/>
          <p:cNvSpPr/>
          <p:nvPr/>
        </p:nvSpPr>
        <p:spPr>
          <a:xfrm>
            <a:off x="6784848" y="441655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6_StageTwoStep4_Text"/>
          <p:cNvSpPr/>
          <p:nvPr/>
        </p:nvSpPr>
        <p:spPr>
          <a:xfrm>
            <a:off x="6784848" y="4421124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 / change-from-diff</a:t>
            </a:r>
            <a:endParaRPr lang="en-US" sz="1030" dirty="0"/>
          </a:p>
        </p:txBody>
      </p:sp>
      <p:sp>
        <p:nvSpPr>
          <p:cNvPr id="44" name="S06_StageTwoArrow4"/>
          <p:cNvSpPr/>
          <p:nvPr/>
        </p:nvSpPr>
        <p:spPr>
          <a:xfrm>
            <a:off x="8887968" y="4645152"/>
            <a:ext cx="301752" cy="914"/>
          </a:xfrm>
          <a:prstGeom prst="line">
            <a:avLst/>
          </a:prstGeom>
          <a:noFill/>
          <a:ln w="1651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5" name="S06_StageTwoStep5_Bg"/>
          <p:cNvSpPr/>
          <p:nvPr/>
        </p:nvSpPr>
        <p:spPr>
          <a:xfrm>
            <a:off x="9235440" y="441655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46" name="S06_StageTwoStep5_Text"/>
          <p:cNvSpPr/>
          <p:nvPr/>
        </p:nvSpPr>
        <p:spPr>
          <a:xfrm>
            <a:off x="9235440" y="4421124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цикл изменения OpenSpec</a:t>
            </a:r>
            <a:endParaRPr lang="en-US" sz="1030" dirty="0"/>
          </a:p>
        </p:txBody>
      </p:sp>
      <p:sp>
        <p:nvSpPr>
          <p:cNvPr id="47" name="S06_StageTwoResult"/>
          <p:cNvSpPr/>
          <p:nvPr/>
        </p:nvSpPr>
        <p:spPr>
          <a:xfrm>
            <a:off x="932688" y="50292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87A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Точка старта OpenSpec — инициализация: подключение существующей папки документов и создание навигационного слоя.</a:t>
            </a:r>
            <a:endParaRPr lang="en-US" sz="1140" dirty="0"/>
          </a:p>
        </p:txBody>
      </p:sp>
      <p:sp>
        <p:nvSpPr>
          <p:cNvPr id="48" name="S06_TwoStageStatus_Bg"/>
          <p:cNvSpPr/>
          <p:nvPr/>
        </p:nvSpPr>
        <p:spPr>
          <a:xfrm>
            <a:off x="1060704" y="5797296"/>
            <a:ext cx="1005840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49" name="S06_TwoStageStatus_Text"/>
          <p:cNvSpPr/>
          <p:nvPr/>
        </p:nvSpPr>
        <p:spPr>
          <a:xfrm>
            <a:off x="1060704" y="5801868"/>
            <a:ext cx="10058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Сейчас: один сервис переведён полностью; справочники и общие библиотеки подключены; остальные области мигрируют постепенно.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7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ЭВОЛЮЦИЯ ИДЕИ</a:t>
            </a:r>
            <a:endParaRPr lang="en-US" sz="850" dirty="0"/>
          </a:p>
        </p:txBody>
      </p:sp>
      <p:sp>
        <p:nvSpPr>
          <p:cNvPr id="4" name="S07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для мастер-спецификации в виде папки</a:t>
            </a:r>
            <a:endParaRPr lang="en-US" sz="2850" dirty="0"/>
          </a:p>
        </p:txBody>
      </p:sp>
      <p:sp>
        <p:nvSpPr>
          <p:cNvPr id="5" name="S07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Сохраняем основной цикл и расширяем модель работы с системой документов.</a:t>
            </a:r>
            <a:endParaRPr lang="en-US" sz="1320" dirty="0"/>
          </a:p>
        </p:txBody>
      </p:sp>
      <p:sp>
        <p:nvSpPr>
          <p:cNvPr id="6" name="S07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7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30" dirty="0"/>
          </a:p>
        </p:txBody>
      </p:sp>
      <p:sp>
        <p:nvSpPr>
          <p:cNvPr id="8" name="S07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7_LifecycleCard1"/>
          <p:cNvSpPr/>
          <p:nvPr/>
        </p:nvSpPr>
        <p:spPr>
          <a:xfrm>
            <a:off x="65836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7_LifecycleText1"/>
          <p:cNvSpPr/>
          <p:nvPr/>
        </p:nvSpPr>
        <p:spPr>
          <a:xfrm>
            <a:off x="73152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</a:t>
            </a:r>
            <a:endParaRPr lang="en-US" sz="1230" dirty="0"/>
          </a:p>
        </p:txBody>
      </p:sp>
      <p:sp>
        <p:nvSpPr>
          <p:cNvPr id="12" name="S07_LifecycleArrow1"/>
          <p:cNvSpPr/>
          <p:nvPr/>
        </p:nvSpPr>
        <p:spPr>
          <a:xfrm>
            <a:off x="199339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07_LifecycleCard2"/>
          <p:cNvSpPr/>
          <p:nvPr/>
        </p:nvSpPr>
        <p:spPr>
          <a:xfrm>
            <a:off x="222199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S07_LifecycleText2"/>
          <p:cNvSpPr/>
          <p:nvPr/>
        </p:nvSpPr>
        <p:spPr>
          <a:xfrm>
            <a:off x="229514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1230" dirty="0"/>
          </a:p>
        </p:txBody>
      </p:sp>
      <p:sp>
        <p:nvSpPr>
          <p:cNvPr id="15" name="S07_LifecycleArrow2"/>
          <p:cNvSpPr/>
          <p:nvPr/>
        </p:nvSpPr>
        <p:spPr>
          <a:xfrm>
            <a:off x="3557016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07_LifecycleCard3"/>
          <p:cNvSpPr/>
          <p:nvPr/>
        </p:nvSpPr>
        <p:spPr>
          <a:xfrm>
            <a:off x="3785616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7" name="S07_LifecycleText3"/>
          <p:cNvSpPr/>
          <p:nvPr/>
        </p:nvSpPr>
        <p:spPr>
          <a:xfrm>
            <a:off x="3858768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согласование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230" dirty="0"/>
          </a:p>
        </p:txBody>
      </p:sp>
      <p:sp>
        <p:nvSpPr>
          <p:cNvPr id="18" name="S07_LifecycleArrow3"/>
          <p:cNvSpPr/>
          <p:nvPr/>
        </p:nvSpPr>
        <p:spPr>
          <a:xfrm>
            <a:off x="5120640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07_LifecycleCard4"/>
          <p:cNvSpPr/>
          <p:nvPr/>
        </p:nvSpPr>
        <p:spPr>
          <a:xfrm>
            <a:off x="5349240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0" name="S07_LifecycleText4"/>
          <p:cNvSpPr/>
          <p:nvPr/>
        </p:nvSpPr>
        <p:spPr>
          <a:xfrm>
            <a:off x="5422392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проектирование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230" dirty="0"/>
          </a:p>
        </p:txBody>
      </p:sp>
      <p:sp>
        <p:nvSpPr>
          <p:cNvPr id="21" name="S07_LifecycleArrow4"/>
          <p:cNvSpPr/>
          <p:nvPr/>
        </p:nvSpPr>
        <p:spPr>
          <a:xfrm>
            <a:off x="6684264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07_LifecycleCard5"/>
          <p:cNvSpPr/>
          <p:nvPr/>
        </p:nvSpPr>
        <p:spPr>
          <a:xfrm>
            <a:off x="6912864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3" name="S07_LifecycleText5"/>
          <p:cNvSpPr/>
          <p:nvPr/>
        </p:nvSpPr>
        <p:spPr>
          <a:xfrm>
            <a:off x="6986016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230" dirty="0"/>
          </a:p>
        </p:txBody>
      </p:sp>
      <p:sp>
        <p:nvSpPr>
          <p:cNvPr id="24" name="S07_LifecycleArrow5"/>
          <p:cNvSpPr/>
          <p:nvPr/>
        </p:nvSpPr>
        <p:spPr>
          <a:xfrm>
            <a:off x="8247888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7_LifecycleCard6"/>
          <p:cNvSpPr/>
          <p:nvPr/>
        </p:nvSpPr>
        <p:spPr>
          <a:xfrm>
            <a:off x="847648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6" name="S07_LifecycleText6"/>
          <p:cNvSpPr/>
          <p:nvPr/>
        </p:nvSpPr>
        <p:spPr>
          <a:xfrm>
            <a:off x="854964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применение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230" dirty="0"/>
          </a:p>
        </p:txBody>
      </p:sp>
      <p:sp>
        <p:nvSpPr>
          <p:cNvPr id="27" name="S07_LifecycleArrow6"/>
          <p:cNvSpPr/>
          <p:nvPr/>
        </p:nvSpPr>
        <p:spPr>
          <a:xfrm>
            <a:off x="981151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07_LifecycleCard7"/>
          <p:cNvSpPr/>
          <p:nvPr/>
        </p:nvSpPr>
        <p:spPr>
          <a:xfrm>
            <a:off x="1004011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9" name="S07_LifecycleText7"/>
          <p:cNvSpPr/>
          <p:nvPr/>
        </p:nvSpPr>
        <p:spPr>
          <a:xfrm>
            <a:off x="1011326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архив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230" dirty="0"/>
          </a:p>
        </p:txBody>
      </p:sp>
      <p:sp>
        <p:nvSpPr>
          <p:cNvPr id="30" name="S07_OpenSpecInvariantCard"/>
          <p:cNvSpPr/>
          <p:nvPr/>
        </p:nvSpPr>
        <p:spPr>
          <a:xfrm>
            <a:off x="658368" y="2578608"/>
            <a:ext cx="5138928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22304A">
                <a:alpha val="12000000000000000000"/>
              </a:srgbClr>
            </a:outerShdw>
          </a:effectLst>
        </p:spPr>
      </p:sp>
      <p:sp>
        <p:nvSpPr>
          <p:cNvPr id="31" name="S07_OpenSpecInvariantLabel_Bg"/>
          <p:cNvSpPr/>
          <p:nvPr/>
        </p:nvSpPr>
        <p:spPr>
          <a:xfrm>
            <a:off x="932688" y="28346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S07_OpenSpecInvariantLabel_Text"/>
          <p:cNvSpPr/>
          <p:nvPr/>
        </p:nvSpPr>
        <p:spPr>
          <a:xfrm>
            <a:off x="932688" y="283921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ЯДРО OPENSPEC</a:t>
            </a:r>
            <a:endParaRPr lang="en-US" sz="1080" dirty="0"/>
          </a:p>
        </p:txBody>
      </p:sp>
      <p:sp>
        <p:nvSpPr>
          <p:cNvPr id="33" name="S07_OpenSpecInvariantTitle"/>
          <p:cNvSpPr/>
          <p:nvPr/>
        </p:nvSpPr>
        <p:spPr>
          <a:xfrm>
            <a:off x="941832" y="34381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Цикл OpenSpec</a:t>
            </a:r>
            <a:endParaRPr lang="en-US" sz="1800" dirty="0"/>
          </a:p>
        </p:txBody>
      </p:sp>
      <p:sp>
        <p:nvSpPr>
          <p:cNvPr id="34" name="S07_OpenSpecInvariant1_Dot"/>
          <p:cNvSpPr/>
          <p:nvPr/>
        </p:nvSpPr>
        <p:spPr>
          <a:xfrm>
            <a:off x="950976" y="40325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S07_OpenSpecInvariant1_Text"/>
          <p:cNvSpPr/>
          <p:nvPr/>
        </p:nvSpPr>
        <p:spPr>
          <a:xfrm>
            <a:off x="1133856" y="391363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согласованное изменение, затем код</a:t>
            </a:r>
            <a:endParaRPr lang="en-US" sz="1300" dirty="0"/>
          </a:p>
        </p:txBody>
      </p:sp>
      <p:sp>
        <p:nvSpPr>
          <p:cNvPr id="36" name="S07_OpenSpecInvariant2_Dot"/>
          <p:cNvSpPr/>
          <p:nvPr/>
        </p:nvSpPr>
        <p:spPr>
          <a:xfrm>
            <a:off x="950976" y="4526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7_OpenSpecInvariant2_Text"/>
          <p:cNvSpPr/>
          <p:nvPr/>
        </p:nvSpPr>
        <p:spPr>
          <a:xfrm>
            <a:off x="1133856" y="4407408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change.md · design.md · tasks.md</a:t>
            </a:r>
            <a:endParaRPr lang="en-US" sz="1300" dirty="0"/>
          </a:p>
        </p:txBody>
      </p:sp>
      <p:sp>
        <p:nvSpPr>
          <p:cNvPr id="38" name="S07_OpenSpecInvariant3_Dot"/>
          <p:cNvSpPr/>
          <p:nvPr/>
        </p:nvSpPr>
        <p:spPr>
          <a:xfrm>
            <a:off x="950976" y="50200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S07_OpenSpecInvariant3_Text"/>
          <p:cNvSpPr/>
          <p:nvPr/>
        </p:nvSpPr>
        <p:spPr>
          <a:xfrm>
            <a:off x="1133856" y="490118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согласование · реализация · проверка · архив</a:t>
            </a:r>
            <a:endParaRPr lang="en-US" sz="1300" dirty="0"/>
          </a:p>
        </p:txBody>
      </p:sp>
      <p:sp>
        <p:nvSpPr>
          <p:cNvPr id="40" name="S07_FolderBasedContractCard"/>
          <p:cNvSpPr/>
          <p:nvPr/>
        </p:nvSpPr>
        <p:spPr>
          <a:xfrm>
            <a:off x="6062472" y="2578608"/>
            <a:ext cx="5440680" cy="3054096"/>
          </a:xfrm>
          <a:prstGeom prst="roundRect">
            <a:avLst>
              <a:gd name="adj" fmla="val 2395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22304A">
                <a:alpha val="1.2e+24"/>
              </a:srgbClr>
            </a:outerShdw>
          </a:effectLst>
        </p:spPr>
      </p:sp>
      <p:sp>
        <p:nvSpPr>
          <p:cNvPr id="41" name="S07_FolderBasedContractLabel_Bg"/>
          <p:cNvSpPr/>
          <p:nvPr/>
        </p:nvSpPr>
        <p:spPr>
          <a:xfrm>
            <a:off x="6345936" y="283464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7_FolderBasedContractLabel_Text"/>
          <p:cNvSpPr/>
          <p:nvPr/>
        </p:nvSpPr>
        <p:spPr>
          <a:xfrm>
            <a:off x="6345936" y="2839212"/>
            <a:ext cx="2542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ЭВОЛЮЦИОННОЕ РАСШИРЕНИЕ</a:t>
            </a:r>
            <a:endParaRPr lang="en-US" sz="980" dirty="0"/>
          </a:p>
        </p:txBody>
      </p:sp>
      <p:sp>
        <p:nvSpPr>
          <p:cNvPr id="43" name="S07_FolderBasedContractTitle"/>
          <p:cNvSpPr/>
          <p:nvPr/>
        </p:nvSpPr>
        <p:spPr>
          <a:xfrm>
            <a:off x="6364224" y="3438144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Мастер-спецификация = папка</a:t>
            </a:r>
            <a:endParaRPr lang="en-US" sz="1800" dirty="0"/>
          </a:p>
        </p:txBody>
      </p:sp>
      <p:sp>
        <p:nvSpPr>
          <p:cNvPr id="44" name="S07_FolderBasedContractFolder_Body"/>
          <p:cNvSpPr/>
          <p:nvPr/>
        </p:nvSpPr>
        <p:spPr>
          <a:xfrm>
            <a:off x="6382512" y="4074201"/>
            <a:ext cx="585216" cy="342351"/>
          </a:xfrm>
          <a:prstGeom prst="roundRect">
            <a:avLst>
              <a:gd name="adj" fmla="val 10684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5" name="S07_FolderBasedContractFolder_Tab"/>
          <p:cNvSpPr/>
          <p:nvPr/>
        </p:nvSpPr>
        <p:spPr>
          <a:xfrm>
            <a:off x="6455664" y="3977640"/>
            <a:ext cx="269199" cy="166787"/>
          </a:xfrm>
          <a:prstGeom prst="roundRect">
            <a:avLst>
              <a:gd name="adj" fmla="val 1644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7_FolderBasedContractPath"/>
          <p:cNvSpPr/>
          <p:nvPr/>
        </p:nvSpPr>
        <p:spPr>
          <a:xfrm>
            <a:off x="717804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47" name="S07_FolderBasedContract1_Dot"/>
          <p:cNvSpPr/>
          <p:nvPr/>
        </p:nvSpPr>
        <p:spPr>
          <a:xfrm>
            <a:off x="6391656" y="458114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7_FolderBasedContract1_Text"/>
          <p:cNvSpPr/>
          <p:nvPr/>
        </p:nvSpPr>
        <p:spPr>
          <a:xfrm>
            <a:off x="6574536" y="446227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папка объединяет документы и форматы</a:t>
            </a:r>
            <a:endParaRPr lang="en-US" sz="1180" dirty="0"/>
          </a:p>
        </p:txBody>
      </p:sp>
      <p:sp>
        <p:nvSpPr>
          <p:cNvPr id="49" name="S07_FolderBasedContract2_Dot"/>
          <p:cNvSpPr/>
          <p:nvPr/>
        </p:nvSpPr>
        <p:spPr>
          <a:xfrm>
            <a:off x="6391656" y="4956048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7_FolderBasedContract2_Text"/>
          <p:cNvSpPr/>
          <p:nvPr/>
        </p:nvSpPr>
        <p:spPr>
          <a:xfrm>
            <a:off x="6574536" y="4837176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управляет навигацией и связями</a:t>
            </a:r>
            <a:endParaRPr lang="en-US" sz="1180" dirty="0"/>
          </a:p>
        </p:txBody>
      </p:sp>
      <p:sp>
        <p:nvSpPr>
          <p:cNvPr id="51" name="S07_FolderBasedContract3_Dot"/>
          <p:cNvSpPr/>
          <p:nvPr/>
        </p:nvSpPr>
        <p:spPr>
          <a:xfrm>
            <a:off x="6391656" y="533095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2" name="S07_FolderBasedContract3_Text"/>
          <p:cNvSpPr/>
          <p:nvPr/>
        </p:nvSpPr>
        <p:spPr>
          <a:xfrm>
            <a:off x="6574536" y="5212080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переносит дельту в несколько файлов</a:t>
            </a:r>
            <a:endParaRPr lang="en-US" sz="1180" dirty="0"/>
          </a:p>
        </p:txBody>
      </p:sp>
      <p:sp>
        <p:nvSpPr>
          <p:cNvPr id="53" name="S07_LifecycleThesis_Bg"/>
          <p:cNvSpPr/>
          <p:nvPr/>
        </p:nvSpPr>
        <p:spPr>
          <a:xfrm>
            <a:off x="932688" y="5843016"/>
            <a:ext cx="10314432" cy="41148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54" name="S07_LifecycleThesis_Text"/>
          <p:cNvSpPr/>
          <p:nvPr/>
        </p:nvSpPr>
        <p:spPr>
          <a:xfrm>
            <a:off x="932688" y="5847588"/>
            <a:ext cx="10314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Расширение увеличивает возможности OpenSpec — и добавляет ответственность за согласованность _sdd.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8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АРХИТЕКТУРА РАСШИРЕНИЯ</a:t>
            </a:r>
            <a:endParaRPr lang="en-US" sz="850" dirty="0"/>
          </a:p>
        </p:txBody>
      </p:sp>
      <p:sp>
        <p:nvSpPr>
          <p:cNvPr id="4" name="S08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в папке: документы, связи и актуальная карта</a:t>
            </a:r>
            <a:endParaRPr lang="en-US" sz="2850" dirty="0"/>
          </a:p>
        </p:txBody>
      </p:sp>
      <p:sp>
        <p:nvSpPr>
          <p:cNvPr id="5" name="S08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Папка задаёт общую границу, но не требует делить документы по функциональным областям.</a:t>
            </a:r>
            <a:endParaRPr lang="en-US" sz="1320" dirty="0"/>
          </a:p>
        </p:txBody>
      </p:sp>
      <p:sp>
        <p:nvSpPr>
          <p:cNvPr id="6" name="S08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8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30" dirty="0"/>
          </a:p>
        </p:txBody>
      </p:sp>
      <p:sp>
        <p:nvSpPr>
          <p:cNvPr id="8" name="S08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8_FolderTreeCard"/>
          <p:cNvSpPr/>
          <p:nvPr/>
        </p:nvSpPr>
        <p:spPr>
          <a:xfrm>
            <a:off x="658368" y="1444752"/>
            <a:ext cx="3456432" cy="450799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22304A">
                <a:alpha val="1.2e+29"/>
              </a:srgbClr>
            </a:outerShdw>
          </a:effectLst>
        </p:spPr>
      </p:sp>
      <p:sp>
        <p:nvSpPr>
          <p:cNvPr id="11" name="S08_FolderTreeLabel_Bg"/>
          <p:cNvSpPr/>
          <p:nvPr/>
        </p:nvSpPr>
        <p:spPr>
          <a:xfrm>
            <a:off x="914400" y="1700784"/>
            <a:ext cx="2139696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8_FolderTreeLabel_Text"/>
          <p:cNvSpPr/>
          <p:nvPr/>
        </p:nvSpPr>
        <p:spPr>
          <a:xfrm>
            <a:off x="914400" y="1705356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МАСТЕР-СПЕЦИФИКАЦИЯ</a:t>
            </a:r>
            <a:endParaRPr lang="en-US" sz="970" dirty="0"/>
          </a:p>
        </p:txBody>
      </p:sp>
      <p:sp>
        <p:nvSpPr>
          <p:cNvPr id="13" name="S08_FolderTreeExample_Bg"/>
          <p:cNvSpPr/>
          <p:nvPr/>
        </p:nvSpPr>
        <p:spPr>
          <a:xfrm>
            <a:off x="3127248" y="1700784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8_FolderTreeExample_Text"/>
          <p:cNvSpPr/>
          <p:nvPr/>
        </p:nvSpPr>
        <p:spPr>
          <a:xfrm>
            <a:off x="3127248" y="1705356"/>
            <a:ext cx="713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ПРИМЕР</a:t>
            </a:r>
            <a:endParaRPr lang="en-US" sz="880" dirty="0"/>
          </a:p>
        </p:txBody>
      </p:sp>
      <p:sp>
        <p:nvSpPr>
          <p:cNvPr id="15" name="S08_FolderTreeRoot_Body"/>
          <p:cNvSpPr/>
          <p:nvPr/>
        </p:nvSpPr>
        <p:spPr>
          <a:xfrm>
            <a:off x="932688" y="2418222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S08_FolderTreeRoot_Tab"/>
          <p:cNvSpPr/>
          <p:nvPr/>
        </p:nvSpPr>
        <p:spPr>
          <a:xfrm>
            <a:off x="1005840" y="2331720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8_FolderTreeRootText"/>
          <p:cNvSpPr/>
          <p:nvPr/>
        </p:nvSpPr>
        <p:spPr>
          <a:xfrm>
            <a:off x="164592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18" name="S08_FolderTreeSpine"/>
          <p:cNvSpPr/>
          <p:nvPr/>
        </p:nvSpPr>
        <p:spPr>
          <a:xfrm>
            <a:off x="1197864" y="2724912"/>
            <a:ext cx="914" cy="2633472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9" name="S08_FolderTreeBranch1"/>
          <p:cNvSpPr/>
          <p:nvPr/>
        </p:nvSpPr>
        <p:spPr>
          <a:xfrm>
            <a:off x="1197864" y="3063240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0" name="S08_FolderTreeFolder1_Body"/>
          <p:cNvSpPr/>
          <p:nvPr/>
        </p:nvSpPr>
        <p:spPr>
          <a:xfrm>
            <a:off x="1581912" y="2966131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S08_FolderTreeFolder1_Tab"/>
          <p:cNvSpPr/>
          <p:nvPr/>
        </p:nvSpPr>
        <p:spPr>
          <a:xfrm>
            <a:off x="1655064" y="2907792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2" name="S08_FolderTreeText1"/>
          <p:cNvSpPr/>
          <p:nvPr/>
        </p:nvSpPr>
        <p:spPr>
          <a:xfrm>
            <a:off x="2066544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процессы и правила</a:t>
            </a:r>
            <a:endParaRPr lang="en-US" sz="1130" dirty="0"/>
          </a:p>
        </p:txBody>
      </p:sp>
      <p:sp>
        <p:nvSpPr>
          <p:cNvPr id="23" name="S08_FolderTreeBranch2"/>
          <p:cNvSpPr/>
          <p:nvPr/>
        </p:nvSpPr>
        <p:spPr>
          <a:xfrm>
            <a:off x="1197864" y="3547872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4" name="S08_FolderTreeFolder2_Body"/>
          <p:cNvSpPr/>
          <p:nvPr/>
        </p:nvSpPr>
        <p:spPr>
          <a:xfrm>
            <a:off x="1581912" y="3450763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5" name="S08_FolderTreeFolder2_Tab"/>
          <p:cNvSpPr/>
          <p:nvPr/>
        </p:nvSpPr>
        <p:spPr>
          <a:xfrm>
            <a:off x="1655064" y="3392424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6" name="S08_FolderTreeText2"/>
          <p:cNvSpPr/>
          <p:nvPr/>
        </p:nvSpPr>
        <p:spPr>
          <a:xfrm>
            <a:off x="206654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и модели</a:t>
            </a:r>
            <a:endParaRPr lang="en-US" sz="1130" dirty="0"/>
          </a:p>
        </p:txBody>
      </p:sp>
      <p:sp>
        <p:nvSpPr>
          <p:cNvPr id="27" name="S08_FolderTreeBranch3"/>
          <p:cNvSpPr/>
          <p:nvPr/>
        </p:nvSpPr>
        <p:spPr>
          <a:xfrm>
            <a:off x="1197864" y="4032504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8" name="S08_FolderTreeFolder3_Body"/>
          <p:cNvSpPr/>
          <p:nvPr/>
        </p:nvSpPr>
        <p:spPr>
          <a:xfrm>
            <a:off x="1581912" y="3935395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S08_FolderTreeFolder3_Tab"/>
          <p:cNvSpPr/>
          <p:nvPr/>
        </p:nvSpPr>
        <p:spPr>
          <a:xfrm>
            <a:off x="1655064" y="3877056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0" name="S08_FolderTreeText3"/>
          <p:cNvSpPr/>
          <p:nvPr/>
        </p:nvSpPr>
        <p:spPr>
          <a:xfrm>
            <a:off x="2066544" y="389534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и интеграции</a:t>
            </a:r>
            <a:endParaRPr lang="en-US" sz="1130" dirty="0"/>
          </a:p>
        </p:txBody>
      </p:sp>
      <p:sp>
        <p:nvSpPr>
          <p:cNvPr id="31" name="S08_FolderTreeBranch4"/>
          <p:cNvSpPr/>
          <p:nvPr/>
        </p:nvSpPr>
        <p:spPr>
          <a:xfrm>
            <a:off x="1197864" y="4517136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2" name="S08_FolderTreeFolder4_Body"/>
          <p:cNvSpPr/>
          <p:nvPr/>
        </p:nvSpPr>
        <p:spPr>
          <a:xfrm>
            <a:off x="1581912" y="4420027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3" name="S08_FolderTreeFolder4_Tab"/>
          <p:cNvSpPr/>
          <p:nvPr/>
        </p:nvSpPr>
        <p:spPr>
          <a:xfrm>
            <a:off x="1655064" y="4361688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08_FolderTreeText4"/>
          <p:cNvSpPr/>
          <p:nvPr/>
        </p:nvSpPr>
        <p:spPr>
          <a:xfrm>
            <a:off x="2066544" y="437997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интерфейсы</a:t>
            </a:r>
            <a:endParaRPr lang="en-US" sz="1130" dirty="0"/>
          </a:p>
        </p:txBody>
      </p:sp>
      <p:sp>
        <p:nvSpPr>
          <p:cNvPr id="35" name="S08_FolderTreeBranch5"/>
          <p:cNvSpPr/>
          <p:nvPr/>
        </p:nvSpPr>
        <p:spPr>
          <a:xfrm>
            <a:off x="1197864" y="5001768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6" name="S08_FolderTreeFolder5_Body"/>
          <p:cNvSpPr/>
          <p:nvPr/>
        </p:nvSpPr>
        <p:spPr>
          <a:xfrm>
            <a:off x="1581912" y="4904659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7" name="S08_FolderTreeFolder5_Tab"/>
          <p:cNvSpPr/>
          <p:nvPr/>
        </p:nvSpPr>
        <p:spPr>
          <a:xfrm>
            <a:off x="1655064" y="4846320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8" name="S08_FolderTreeText5"/>
          <p:cNvSpPr/>
          <p:nvPr/>
        </p:nvSpPr>
        <p:spPr>
          <a:xfrm>
            <a:off x="2066544" y="486460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диаграммы и настройки</a:t>
            </a:r>
            <a:endParaRPr lang="en-US" sz="1130" dirty="0"/>
          </a:p>
        </p:txBody>
      </p:sp>
      <p:sp>
        <p:nvSpPr>
          <p:cNvPr id="39" name="S08_FolderFormats_Bg"/>
          <p:cNvSpPr/>
          <p:nvPr/>
        </p:nvSpPr>
        <p:spPr>
          <a:xfrm>
            <a:off x="941832" y="546811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8_FolderFormats_Text"/>
          <p:cNvSpPr/>
          <p:nvPr/>
        </p:nvSpPr>
        <p:spPr>
          <a:xfrm>
            <a:off x="941832" y="54726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</a:t>
            </a:r>
            <a:endParaRPr lang="en-US" sz="910" dirty="0"/>
          </a:p>
        </p:txBody>
      </p:sp>
      <p:sp>
        <p:nvSpPr>
          <p:cNvPr id="41" name="S08_FolderToIndex"/>
          <p:cNvSpPr/>
          <p:nvPr/>
        </p:nvSpPr>
        <p:spPr>
          <a:xfrm>
            <a:off x="4114800" y="3675888"/>
            <a:ext cx="292608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2" name="S08_IndexLayerCard"/>
          <p:cNvSpPr/>
          <p:nvPr/>
        </p:nvSpPr>
        <p:spPr>
          <a:xfrm>
            <a:off x="4462272" y="1444752"/>
            <a:ext cx="3072384" cy="4507992"/>
          </a:xfrm>
          <a:prstGeom prst="roundRect">
            <a:avLst>
              <a:gd name="adj" fmla="val 238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22304A">
                <a:alpha val="1.2e+34"/>
              </a:srgbClr>
            </a:outerShdw>
          </a:effectLst>
        </p:spPr>
      </p:sp>
      <p:sp>
        <p:nvSpPr>
          <p:cNvPr id="43" name="S08_IndexLayerLabel_Bg"/>
          <p:cNvSpPr/>
          <p:nvPr/>
        </p:nvSpPr>
        <p:spPr>
          <a:xfrm>
            <a:off x="4736592" y="170078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4" name="S08_IndexLayerLabel_Text"/>
          <p:cNvSpPr/>
          <p:nvPr/>
        </p:nvSpPr>
        <p:spPr>
          <a:xfrm>
            <a:off x="4736592" y="170535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120" dirty="0"/>
          </a:p>
        </p:txBody>
      </p:sp>
      <p:sp>
        <p:nvSpPr>
          <p:cNvPr id="45" name="S08_IndexLayerKicker"/>
          <p:cNvSpPr/>
          <p:nvPr/>
        </p:nvSpPr>
        <p:spPr>
          <a:xfrm>
            <a:off x="5925312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8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</a:t>
            </a:r>
            <a:endParaRPr lang="en-US" sz="830" dirty="0"/>
          </a:p>
        </p:txBody>
      </p:sp>
      <p:sp>
        <p:nvSpPr>
          <p:cNvPr id="46" name="S08_IndexFileCard1"/>
          <p:cNvSpPr/>
          <p:nvPr/>
        </p:nvSpPr>
        <p:spPr>
          <a:xfrm>
            <a:off x="4718304" y="23774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7" name="S08_IndexFileAccent1"/>
          <p:cNvSpPr/>
          <p:nvPr/>
        </p:nvSpPr>
        <p:spPr>
          <a:xfrm>
            <a:off x="4718304" y="2377440"/>
            <a:ext cx="64008" cy="5669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8" name="S08_IndexFileTitle1"/>
          <p:cNvSpPr/>
          <p:nvPr/>
        </p:nvSpPr>
        <p:spPr>
          <a:xfrm>
            <a:off x="49377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manifest.yaml</a:t>
            </a:r>
            <a:endParaRPr lang="en-US" sz="1170" dirty="0"/>
          </a:p>
        </p:txBody>
      </p:sp>
      <p:sp>
        <p:nvSpPr>
          <p:cNvPr id="49" name="S08_IndexFileSubtitle1"/>
          <p:cNvSpPr/>
          <p:nvPr/>
        </p:nvSpPr>
        <p:spPr>
          <a:xfrm>
            <a:off x="4937760" y="26974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 · типы · контрольные суммы · связи</a:t>
            </a:r>
            <a:endParaRPr lang="en-US" sz="890" dirty="0"/>
          </a:p>
        </p:txBody>
      </p:sp>
      <p:sp>
        <p:nvSpPr>
          <p:cNvPr id="50" name="S08_IndexFileCard2"/>
          <p:cNvSpPr/>
          <p:nvPr/>
        </p:nvSpPr>
        <p:spPr>
          <a:xfrm>
            <a:off x="4718304" y="313639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1" name="S08_IndexFileAccent2"/>
          <p:cNvSpPr/>
          <p:nvPr/>
        </p:nvSpPr>
        <p:spPr>
          <a:xfrm>
            <a:off x="4718304" y="3136392"/>
            <a:ext cx="64008" cy="5669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2" name="S08_IndexFileTitle2"/>
          <p:cNvSpPr/>
          <p:nvPr/>
        </p:nvSpPr>
        <p:spPr>
          <a:xfrm>
            <a:off x="4937760" y="3227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navigation.md</a:t>
            </a:r>
            <a:endParaRPr lang="en-US" sz="1170" dirty="0"/>
          </a:p>
        </p:txBody>
      </p:sp>
      <p:sp>
        <p:nvSpPr>
          <p:cNvPr id="53" name="S08_IndexFileSubtitle2"/>
          <p:cNvSpPr/>
          <p:nvPr/>
        </p:nvSpPr>
        <p:spPr>
          <a:xfrm>
            <a:off x="4937760" y="34564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читать первым</a:t>
            </a:r>
            <a:endParaRPr lang="en-US" sz="890" dirty="0"/>
          </a:p>
        </p:txBody>
      </p:sp>
      <p:sp>
        <p:nvSpPr>
          <p:cNvPr id="54" name="S08_IndexFileCard3"/>
          <p:cNvSpPr/>
          <p:nvPr/>
        </p:nvSpPr>
        <p:spPr>
          <a:xfrm>
            <a:off x="4718304" y="389534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5" name="S08_IndexFileAccent3"/>
          <p:cNvSpPr/>
          <p:nvPr/>
        </p:nvSpPr>
        <p:spPr>
          <a:xfrm>
            <a:off x="4718304" y="3895344"/>
            <a:ext cx="64008" cy="566928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6" name="S08_IndexFileTitle3"/>
          <p:cNvSpPr/>
          <p:nvPr/>
        </p:nvSpPr>
        <p:spPr>
          <a:xfrm>
            <a:off x="493776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coverage.md</a:t>
            </a:r>
            <a:endParaRPr lang="en-US" sz="1170" dirty="0"/>
          </a:p>
        </p:txBody>
      </p:sp>
      <p:sp>
        <p:nvSpPr>
          <p:cNvPr id="57" name="S08_IndexFileSubtitle3"/>
          <p:cNvSpPr/>
          <p:nvPr/>
        </p:nvSpPr>
        <p:spPr>
          <a:xfrm>
            <a:off x="4937760" y="421538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описано / где пробел</a:t>
            </a:r>
            <a:endParaRPr lang="en-US" sz="890" dirty="0"/>
          </a:p>
        </p:txBody>
      </p:sp>
      <p:sp>
        <p:nvSpPr>
          <p:cNvPr id="58" name="S08_IndexFileCard4"/>
          <p:cNvSpPr/>
          <p:nvPr/>
        </p:nvSpPr>
        <p:spPr>
          <a:xfrm>
            <a:off x="4718304" y="46542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9" name="S08_IndexFileAccent4"/>
          <p:cNvSpPr/>
          <p:nvPr/>
        </p:nvSpPr>
        <p:spPr>
          <a:xfrm>
            <a:off x="4718304" y="4654296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0" name="S08_IndexFileTitle4"/>
          <p:cNvSpPr/>
          <p:nvPr/>
        </p:nvSpPr>
        <p:spPr>
          <a:xfrm>
            <a:off x="4937760" y="4745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stale-files.md</a:t>
            </a:r>
            <a:endParaRPr lang="en-US" sz="1170" dirty="0"/>
          </a:p>
        </p:txBody>
      </p:sp>
      <p:sp>
        <p:nvSpPr>
          <p:cNvPr id="61" name="S08_IndexFileSubtitle4"/>
          <p:cNvSpPr/>
          <p:nvPr/>
        </p:nvSpPr>
        <p:spPr>
          <a:xfrm>
            <a:off x="4937760" y="4974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добавлено · изменено · удалено</a:t>
            </a:r>
            <a:endParaRPr lang="en-US" sz="890" dirty="0"/>
          </a:p>
        </p:txBody>
      </p:sp>
      <p:sp>
        <p:nvSpPr>
          <p:cNvPr id="62" name="S08_IndexToContext"/>
          <p:cNvSpPr/>
          <p:nvPr/>
        </p:nvSpPr>
        <p:spPr>
          <a:xfrm>
            <a:off x="7534656" y="3675888"/>
            <a:ext cx="283464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63" name="S08_ContextMapCard"/>
          <p:cNvSpPr/>
          <p:nvPr/>
        </p:nvSpPr>
        <p:spPr>
          <a:xfrm>
            <a:off x="7882128" y="1444752"/>
            <a:ext cx="3621024" cy="450799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22304A">
                <a:alpha val="1.1999999999999999e+39"/>
              </a:srgbClr>
            </a:outerShdw>
          </a:effectLst>
        </p:spPr>
      </p:sp>
      <p:sp>
        <p:nvSpPr>
          <p:cNvPr id="64" name="S08_ContextSelectorLabel_Bg"/>
          <p:cNvSpPr/>
          <p:nvPr/>
        </p:nvSpPr>
        <p:spPr>
          <a:xfrm>
            <a:off x="8174736" y="1700784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5" name="S08_ContextSelectorLabel_Text"/>
          <p:cNvSpPr/>
          <p:nvPr/>
        </p:nvSpPr>
        <p:spPr>
          <a:xfrm>
            <a:off x="8174736" y="1705356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ОТБОР КОНТЕКСТА</a:t>
            </a:r>
            <a:endParaRPr lang="en-US" sz="1010" dirty="0"/>
          </a:p>
        </p:txBody>
      </p:sp>
      <p:sp>
        <p:nvSpPr>
          <p:cNvPr id="66" name="S08_SelectorEntity_Bg"/>
          <p:cNvSpPr/>
          <p:nvPr/>
        </p:nvSpPr>
        <p:spPr>
          <a:xfrm>
            <a:off x="8183880" y="2313432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67" name="S08_SelectorEntity_Text"/>
          <p:cNvSpPr/>
          <p:nvPr/>
        </p:nvSpPr>
        <p:spPr>
          <a:xfrm>
            <a:off x="8183880" y="2318004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сущность</a:t>
            </a:r>
            <a:endParaRPr lang="en-US" sz="880" dirty="0"/>
          </a:p>
        </p:txBody>
      </p:sp>
      <p:sp>
        <p:nvSpPr>
          <p:cNvPr id="68" name="S08_SelectorEndpoint_Bg"/>
          <p:cNvSpPr/>
          <p:nvPr/>
        </p:nvSpPr>
        <p:spPr>
          <a:xfrm>
            <a:off x="8979408" y="2313432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9" name="S08_SelectorEndpoint_Text"/>
          <p:cNvSpPr/>
          <p:nvPr/>
        </p:nvSpPr>
        <p:spPr>
          <a:xfrm>
            <a:off x="8979408" y="2318004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метод API</a:t>
            </a:r>
            <a:endParaRPr lang="en-US" sz="860" dirty="0"/>
          </a:p>
        </p:txBody>
      </p:sp>
      <p:sp>
        <p:nvSpPr>
          <p:cNvPr id="70" name="S08_SelectorEvent_Bg"/>
          <p:cNvSpPr/>
          <p:nvPr/>
        </p:nvSpPr>
        <p:spPr>
          <a:xfrm>
            <a:off x="9866376" y="23134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71" name="S08_SelectorEvent_Text"/>
          <p:cNvSpPr/>
          <p:nvPr/>
        </p:nvSpPr>
        <p:spPr>
          <a:xfrm>
            <a:off x="9866376" y="2318004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событие</a:t>
            </a:r>
            <a:endParaRPr lang="en-US" sz="870" dirty="0"/>
          </a:p>
        </p:txBody>
      </p:sp>
      <p:sp>
        <p:nvSpPr>
          <p:cNvPr id="72" name="S08_SelectorRelation_Bg"/>
          <p:cNvSpPr/>
          <p:nvPr/>
        </p:nvSpPr>
        <p:spPr>
          <a:xfrm>
            <a:off x="10607040" y="2313432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73" name="S08_SelectorRelation_Text"/>
          <p:cNvSpPr/>
          <p:nvPr/>
        </p:nvSpPr>
        <p:spPr>
          <a:xfrm>
            <a:off x="10607040" y="231800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связь</a:t>
            </a:r>
            <a:endParaRPr lang="en-US" sz="870" dirty="0"/>
          </a:p>
        </p:txBody>
      </p:sp>
      <p:sp>
        <p:nvSpPr>
          <p:cNvPr id="74" name="S08_ContextChangeCard"/>
          <p:cNvSpPr/>
          <p:nvPr/>
        </p:nvSpPr>
        <p:spPr>
          <a:xfrm>
            <a:off x="9189720" y="3236976"/>
            <a:ext cx="107899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5" name="S08_ContextChangeText"/>
          <p:cNvSpPr/>
          <p:nvPr/>
        </p:nvSpPr>
        <p:spPr>
          <a:xfrm>
            <a:off x="9290304" y="34564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240" dirty="0"/>
          </a:p>
        </p:txBody>
      </p:sp>
      <p:sp>
        <p:nvSpPr>
          <p:cNvPr id="76" name="S08_ContextLink1"/>
          <p:cNvSpPr/>
          <p:nvPr/>
        </p:nvSpPr>
        <p:spPr>
          <a:xfrm flipH="1" flipV="1">
            <a:off x="8567928" y="3218688"/>
            <a:ext cx="1161288" cy="38404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77" name="S08_ContextDoc1"/>
          <p:cNvSpPr/>
          <p:nvPr/>
        </p:nvSpPr>
        <p:spPr>
          <a:xfrm>
            <a:off x="8174736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8" name="S08_ContextDocText1"/>
          <p:cNvSpPr/>
          <p:nvPr/>
        </p:nvSpPr>
        <p:spPr>
          <a:xfrm>
            <a:off x="8247888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1050" dirty="0"/>
          </a:p>
        </p:txBody>
      </p:sp>
      <p:sp>
        <p:nvSpPr>
          <p:cNvPr id="79" name="S08_ContextLink2"/>
          <p:cNvSpPr/>
          <p:nvPr/>
        </p:nvSpPr>
        <p:spPr>
          <a:xfrm flipV="1">
            <a:off x="9729216" y="3218688"/>
            <a:ext cx="1289304" cy="384048"/>
          </a:xfrm>
          <a:prstGeom prst="line">
            <a:avLst/>
          </a:prstGeom>
          <a:noFill/>
          <a:ln w="1524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80" name="S08_ContextDoc2"/>
          <p:cNvSpPr/>
          <p:nvPr/>
        </p:nvSpPr>
        <p:spPr>
          <a:xfrm>
            <a:off x="10625328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1" name="S08_ContextDocText2"/>
          <p:cNvSpPr/>
          <p:nvPr/>
        </p:nvSpPr>
        <p:spPr>
          <a:xfrm>
            <a:off x="10698480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50" dirty="0"/>
          </a:p>
        </p:txBody>
      </p:sp>
      <p:sp>
        <p:nvSpPr>
          <p:cNvPr id="82" name="S08_ContextLink3"/>
          <p:cNvSpPr/>
          <p:nvPr/>
        </p:nvSpPr>
        <p:spPr>
          <a:xfrm flipH="1">
            <a:off x="8567928" y="3602736"/>
            <a:ext cx="1161288" cy="9601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3" name="S08_ContextDoc3"/>
          <p:cNvSpPr/>
          <p:nvPr/>
        </p:nvSpPr>
        <p:spPr>
          <a:xfrm>
            <a:off x="8174736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4" name="S08_ContextDocText3"/>
          <p:cNvSpPr/>
          <p:nvPr/>
        </p:nvSpPr>
        <p:spPr>
          <a:xfrm>
            <a:off x="8247888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85" name="S08_ContextLink4"/>
          <p:cNvSpPr/>
          <p:nvPr/>
        </p:nvSpPr>
        <p:spPr>
          <a:xfrm>
            <a:off x="9729216" y="3602736"/>
            <a:ext cx="1289304" cy="960120"/>
          </a:xfrm>
          <a:prstGeom prst="line">
            <a:avLst/>
          </a:prstGeom>
          <a:noFill/>
          <a:ln w="1524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86" name="S08_ContextDoc4"/>
          <p:cNvSpPr/>
          <p:nvPr/>
        </p:nvSpPr>
        <p:spPr>
          <a:xfrm>
            <a:off x="10625328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7" name="S08_ContextDocText4"/>
          <p:cNvSpPr/>
          <p:nvPr/>
        </p:nvSpPr>
        <p:spPr>
          <a:xfrm>
            <a:off x="10698480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правила</a:t>
            </a:r>
            <a:endParaRPr lang="en-US" sz="1050" dirty="0"/>
          </a:p>
        </p:txBody>
      </p:sp>
      <p:sp>
        <p:nvSpPr>
          <p:cNvPr id="88" name="S08_ContextMapResult"/>
          <p:cNvSpPr/>
          <p:nvPr/>
        </p:nvSpPr>
        <p:spPr>
          <a:xfrm>
            <a:off x="8531352" y="5175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явный список источников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причина выбора</a:t>
            </a:r>
            <a:endParaRPr lang="en-US" sz="1140" dirty="0"/>
          </a:p>
        </p:txBody>
      </p:sp>
      <p:sp>
        <p:nvSpPr>
          <p:cNvPr id="89" name="S08_IndexValue_Bg"/>
          <p:cNvSpPr/>
          <p:nvPr/>
        </p:nvSpPr>
        <p:spPr>
          <a:xfrm>
            <a:off x="868680" y="5961888"/>
            <a:ext cx="5166360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0" name="S08_IndexValue_Text"/>
          <p:cNvSpPr/>
          <p:nvPr/>
        </p:nvSpPr>
        <p:spPr>
          <a:xfrm>
            <a:off x="868680" y="5966460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Структура: по смыслу и связям · без обязательных ФО</a:t>
            </a:r>
            <a:endParaRPr lang="en-US" sz="1050" dirty="0"/>
          </a:p>
        </p:txBody>
      </p:sp>
      <p:sp>
        <p:nvSpPr>
          <p:cNvPr id="91" name="S08_IndexResponsibility_Bg"/>
          <p:cNvSpPr/>
          <p:nvPr/>
        </p:nvSpPr>
        <p:spPr>
          <a:xfrm>
            <a:off x="6163056" y="5961888"/>
            <a:ext cx="5166360" cy="365760"/>
          </a:xfrm>
          <a:prstGeom prst="roundRect">
            <a:avLst>
              <a:gd name="adj" fmla="val 20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92" name="S08_IndexResponsibility_Text"/>
          <p:cNvSpPr/>
          <p:nvPr/>
        </p:nvSpPr>
        <p:spPr>
          <a:xfrm>
            <a:off x="6163056" y="5966460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Ответственность: _sdd согласован и актуален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9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850" dirty="0"/>
          </a:p>
        </p:txBody>
      </p:sp>
      <p:sp>
        <p:nvSpPr>
          <p:cNvPr id="4" name="S09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начинается с подключения — далее единый цикл изменения</a:t>
            </a:r>
            <a:endParaRPr lang="en-US" sz="2850" dirty="0"/>
          </a:p>
        </p:txBody>
      </p:sp>
      <p:sp>
        <p:nvSpPr>
          <p:cNvPr id="5" name="S09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этому моменту мастер-спецификация уже существует в Markdown и Git.</a:t>
            </a:r>
            <a:endParaRPr lang="en-US" sz="1320" dirty="0"/>
          </a:p>
        </p:txBody>
      </p:sp>
      <p:sp>
        <p:nvSpPr>
          <p:cNvPr id="6" name="S09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9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30" dirty="0"/>
          </a:p>
        </p:txBody>
      </p:sp>
      <p:sp>
        <p:nvSpPr>
          <p:cNvPr id="8" name="S09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9_WorkflowLane1"/>
          <p:cNvSpPr/>
          <p:nvPr/>
        </p:nvSpPr>
        <p:spPr>
          <a:xfrm>
            <a:off x="658368" y="1444752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9_WorkflowLaneAccent1"/>
          <p:cNvSpPr/>
          <p:nvPr/>
        </p:nvSpPr>
        <p:spPr>
          <a:xfrm>
            <a:off x="658368" y="1444752"/>
            <a:ext cx="82296" cy="8138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9_WorkflowLaneLabel1"/>
          <p:cNvSpPr/>
          <p:nvPr/>
        </p:nvSpPr>
        <p:spPr>
          <a:xfrm>
            <a:off x="932688" y="15453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СТАРТ OPENSPEC</a:t>
            </a:r>
            <a:endParaRPr lang="en-US" sz="820" dirty="0"/>
          </a:p>
        </p:txBody>
      </p:sp>
      <p:sp>
        <p:nvSpPr>
          <p:cNvPr id="13" name="S09_WorkflowLane1Step1_Bg"/>
          <p:cNvSpPr/>
          <p:nvPr/>
        </p:nvSpPr>
        <p:spPr>
          <a:xfrm>
            <a:off x="2423160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09_WorkflowLane1Step1_Text"/>
          <p:cNvSpPr/>
          <p:nvPr/>
        </p:nvSpPr>
        <p:spPr>
          <a:xfrm>
            <a:off x="2423160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Документы в Git</a:t>
            </a:r>
            <a:endParaRPr lang="en-US" sz="940" dirty="0"/>
          </a:p>
        </p:txBody>
      </p:sp>
      <p:sp>
        <p:nvSpPr>
          <p:cNvPr id="15" name="S09_WorkflowLane1Arrow1"/>
          <p:cNvSpPr/>
          <p:nvPr/>
        </p:nvSpPr>
        <p:spPr>
          <a:xfrm>
            <a:off x="3685032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09_WorkflowLane1Step2_Bg"/>
          <p:cNvSpPr/>
          <p:nvPr/>
        </p:nvSpPr>
        <p:spPr>
          <a:xfrm>
            <a:off x="3950208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09_WorkflowLane1Step2_Text"/>
          <p:cNvSpPr/>
          <p:nvPr/>
        </p:nvSpPr>
        <p:spPr>
          <a:xfrm>
            <a:off x="3950208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940" dirty="0"/>
          </a:p>
        </p:txBody>
      </p:sp>
      <p:sp>
        <p:nvSpPr>
          <p:cNvPr id="18" name="S09_WorkflowLane1Arrow2"/>
          <p:cNvSpPr/>
          <p:nvPr/>
        </p:nvSpPr>
        <p:spPr>
          <a:xfrm>
            <a:off x="5212080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09_WorkflowLane1Step3_Bg"/>
          <p:cNvSpPr/>
          <p:nvPr/>
        </p:nvSpPr>
        <p:spPr>
          <a:xfrm>
            <a:off x="5477256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09_WorkflowLane1Step3_Text"/>
          <p:cNvSpPr/>
          <p:nvPr/>
        </p:nvSpPr>
        <p:spPr>
          <a:xfrm>
            <a:off x="5477256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создан</a:t>
            </a:r>
            <a:endParaRPr lang="en-US" sz="940" dirty="0"/>
          </a:p>
        </p:txBody>
      </p:sp>
      <p:sp>
        <p:nvSpPr>
          <p:cNvPr id="21" name="S09_WorkflowLane1Arrow3"/>
          <p:cNvSpPr/>
          <p:nvPr/>
        </p:nvSpPr>
        <p:spPr>
          <a:xfrm>
            <a:off x="6739128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2" name="S09_WorkflowLane1Step4_Bg"/>
          <p:cNvSpPr/>
          <p:nvPr/>
        </p:nvSpPr>
        <p:spPr>
          <a:xfrm>
            <a:off x="7004304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S09_WorkflowLane1Step4_Text"/>
          <p:cNvSpPr/>
          <p:nvPr/>
        </p:nvSpPr>
        <p:spPr>
          <a:xfrm>
            <a:off x="7004304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подключена</a:t>
            </a:r>
            <a:endParaRPr lang="en-US" sz="940" dirty="0"/>
          </a:p>
        </p:txBody>
      </p:sp>
      <p:sp>
        <p:nvSpPr>
          <p:cNvPr id="24" name="S09_WorkflowLane2"/>
          <p:cNvSpPr/>
          <p:nvPr/>
        </p:nvSpPr>
        <p:spPr>
          <a:xfrm>
            <a:off x="658368" y="2468880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5" name="S09_WorkflowLaneAccent2"/>
          <p:cNvSpPr/>
          <p:nvPr/>
        </p:nvSpPr>
        <p:spPr>
          <a:xfrm>
            <a:off x="658368" y="2468880"/>
            <a:ext cx="82296" cy="8138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S09_WorkflowLaneLabel2"/>
          <p:cNvSpPr/>
          <p:nvPr/>
        </p:nvSpPr>
        <p:spPr>
          <a:xfrm>
            <a:off x="932688" y="2569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ОСНОВНОЙ ПУТЬ</a:t>
            </a:r>
            <a:endParaRPr lang="en-US" sz="820" dirty="0"/>
          </a:p>
        </p:txBody>
      </p:sp>
      <p:sp>
        <p:nvSpPr>
          <p:cNvPr id="27" name="S09_WorkflowLane2Step1_Bg"/>
          <p:cNvSpPr/>
          <p:nvPr/>
        </p:nvSpPr>
        <p:spPr>
          <a:xfrm>
            <a:off x="2423160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8" name="S09_WorkflowLane2Step1_Text"/>
          <p:cNvSpPr/>
          <p:nvPr/>
        </p:nvSpPr>
        <p:spPr>
          <a:xfrm>
            <a:off x="2423160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Новое требование</a:t>
            </a:r>
            <a:endParaRPr lang="en-US" sz="940" dirty="0"/>
          </a:p>
        </p:txBody>
      </p:sp>
      <p:sp>
        <p:nvSpPr>
          <p:cNvPr id="29" name="S09_WorkflowLane2Arrow1"/>
          <p:cNvSpPr/>
          <p:nvPr/>
        </p:nvSpPr>
        <p:spPr>
          <a:xfrm>
            <a:off x="4050792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0" name="S09_WorkflowLane2Step2_Bg"/>
          <p:cNvSpPr/>
          <p:nvPr/>
        </p:nvSpPr>
        <p:spPr>
          <a:xfrm>
            <a:off x="4489704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1" name="S09_WorkflowLane2Step2_Text"/>
          <p:cNvSpPr/>
          <p:nvPr/>
        </p:nvSpPr>
        <p:spPr>
          <a:xfrm>
            <a:off x="4489704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32" name="S09_WorkflowLane2Arrow2"/>
          <p:cNvSpPr/>
          <p:nvPr/>
        </p:nvSpPr>
        <p:spPr>
          <a:xfrm>
            <a:off x="6117336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3" name="S09_WorkflowLane2Step3_Bg"/>
          <p:cNvSpPr/>
          <p:nvPr/>
        </p:nvSpPr>
        <p:spPr>
          <a:xfrm>
            <a:off x="6556248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4" name="S09_WorkflowLane2Step3_Text"/>
          <p:cNvSpPr/>
          <p:nvPr/>
        </p:nvSpPr>
        <p:spPr>
          <a:xfrm>
            <a:off x="6556248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940" dirty="0"/>
          </a:p>
        </p:txBody>
      </p:sp>
      <p:sp>
        <p:nvSpPr>
          <p:cNvPr id="35" name="S09_WorkflowConverge2"/>
          <p:cNvSpPr/>
          <p:nvPr/>
        </p:nvSpPr>
        <p:spPr>
          <a:xfrm flipV="1">
            <a:off x="8476488" y="2807208"/>
            <a:ext cx="429768" cy="73152"/>
          </a:xfrm>
          <a:prstGeom prst="line">
            <a:avLst/>
          </a:prstGeom>
          <a:noFill/>
          <a:ln w="1587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9_WorkflowLane3"/>
          <p:cNvSpPr/>
          <p:nvPr/>
        </p:nvSpPr>
        <p:spPr>
          <a:xfrm>
            <a:off x="658368" y="3493008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7" name="S09_WorkflowLaneAccent3"/>
          <p:cNvSpPr/>
          <p:nvPr/>
        </p:nvSpPr>
        <p:spPr>
          <a:xfrm>
            <a:off x="658368" y="3493008"/>
            <a:ext cx="82296" cy="8138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9_WorkflowLaneLabel3"/>
          <p:cNvSpPr/>
          <p:nvPr/>
        </p:nvSpPr>
        <p:spPr>
          <a:xfrm>
            <a:off x="932688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ВХОД</a:t>
            </a:r>
            <a:endParaRPr lang="en-US" sz="820" dirty="0"/>
          </a:p>
        </p:txBody>
      </p:sp>
      <p:sp>
        <p:nvSpPr>
          <p:cNvPr id="39" name="S09_WorkflowLane3Step1_Bg"/>
          <p:cNvSpPr/>
          <p:nvPr/>
        </p:nvSpPr>
        <p:spPr>
          <a:xfrm>
            <a:off x="2423160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0" name="S09_WorkflowLane3Step1_Text"/>
          <p:cNvSpPr/>
          <p:nvPr/>
        </p:nvSpPr>
        <p:spPr>
          <a:xfrm>
            <a:off x="2423160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Изменённые документы</a:t>
            </a:r>
            <a:endParaRPr lang="en-US" sz="940" dirty="0"/>
          </a:p>
        </p:txBody>
      </p:sp>
      <p:sp>
        <p:nvSpPr>
          <p:cNvPr id="41" name="S09_WorkflowLane3Arrow1"/>
          <p:cNvSpPr/>
          <p:nvPr/>
        </p:nvSpPr>
        <p:spPr>
          <a:xfrm>
            <a:off x="4050792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2" name="S09_WorkflowLane3Step2_Bg"/>
          <p:cNvSpPr/>
          <p:nvPr/>
        </p:nvSpPr>
        <p:spPr>
          <a:xfrm>
            <a:off x="4489704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3" name="S09_WorkflowLane3Step2_Text"/>
          <p:cNvSpPr/>
          <p:nvPr/>
        </p:nvSpPr>
        <p:spPr>
          <a:xfrm>
            <a:off x="4489704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940" dirty="0"/>
          </a:p>
        </p:txBody>
      </p:sp>
      <p:sp>
        <p:nvSpPr>
          <p:cNvPr id="44" name="S09_WorkflowLane3Arrow2"/>
          <p:cNvSpPr/>
          <p:nvPr/>
        </p:nvSpPr>
        <p:spPr>
          <a:xfrm>
            <a:off x="6117336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5" name="S09_WorkflowLane3Step3_Bg"/>
          <p:cNvSpPr/>
          <p:nvPr/>
        </p:nvSpPr>
        <p:spPr>
          <a:xfrm>
            <a:off x="6556248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6" name="S09_WorkflowLane3Step3_Text"/>
          <p:cNvSpPr/>
          <p:nvPr/>
        </p:nvSpPr>
        <p:spPr>
          <a:xfrm>
            <a:off x="6556248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источники</a:t>
            </a:r>
            <a:endParaRPr lang="en-US" sz="940" dirty="0"/>
          </a:p>
        </p:txBody>
      </p:sp>
      <p:sp>
        <p:nvSpPr>
          <p:cNvPr id="47" name="S09_WorkflowConverge3"/>
          <p:cNvSpPr/>
          <p:nvPr/>
        </p:nvSpPr>
        <p:spPr>
          <a:xfrm flipV="1">
            <a:off x="8476488" y="2807208"/>
            <a:ext cx="429768" cy="109728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8" name="S09_UnifiedChangeCard"/>
          <p:cNvSpPr/>
          <p:nvPr/>
        </p:nvSpPr>
        <p:spPr>
          <a:xfrm>
            <a:off x="8979408" y="1993392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22304A">
                <a:alpha val="1.1999999999999999e+44"/>
              </a:srgbClr>
            </a:outerShdw>
          </a:effectLst>
        </p:spPr>
      </p:sp>
      <p:sp>
        <p:nvSpPr>
          <p:cNvPr id="49" name="S09_UnifiedChangeLabel_Bg"/>
          <p:cNvSpPr/>
          <p:nvPr/>
        </p:nvSpPr>
        <p:spPr>
          <a:xfrm>
            <a:off x="9491472" y="22677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0" name="S09_UnifiedChangeLabel_Text"/>
          <p:cNvSpPr/>
          <p:nvPr/>
        </p:nvSpPr>
        <p:spPr>
          <a:xfrm>
            <a:off x="9491472" y="2272284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ДЕЛЬТА</a:t>
            </a:r>
            <a:endParaRPr lang="en-US" sz="1020" dirty="0"/>
          </a:p>
        </p:txBody>
      </p:sp>
      <p:sp>
        <p:nvSpPr>
          <p:cNvPr id="51" name="S09_UnifiedChangeTitle"/>
          <p:cNvSpPr/>
          <p:nvPr/>
        </p:nvSpPr>
        <p:spPr>
          <a:xfrm>
            <a:off x="940003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900" dirty="0"/>
          </a:p>
        </p:txBody>
      </p:sp>
      <p:sp>
        <p:nvSpPr>
          <p:cNvPr id="52" name="S09_UnifiedChangeSubtitle"/>
          <p:cNvSpPr/>
          <p:nvPr/>
        </p:nvSpPr>
        <p:spPr>
          <a:xfrm>
            <a:off x="9290304" y="31821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 · режим · основания</a:t>
            </a:r>
            <a:endParaRPr lang="en-US" sz="950" dirty="0"/>
          </a:p>
        </p:txBody>
      </p:sp>
      <p:sp>
        <p:nvSpPr>
          <p:cNvPr id="53" name="S09_SharedLifecycleLabel"/>
          <p:cNvSpPr/>
          <p:nvPr/>
        </p:nvSpPr>
        <p:spPr>
          <a:xfrm>
            <a:off x="658368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ОБЩИЙ ЦИКЛ</a:t>
            </a:r>
            <a:endParaRPr lang="en-US" sz="850" dirty="0"/>
          </a:p>
        </p:txBody>
      </p:sp>
      <p:sp>
        <p:nvSpPr>
          <p:cNvPr id="54" name="S09_CommonLifecycleCard1"/>
          <p:cNvSpPr/>
          <p:nvPr/>
        </p:nvSpPr>
        <p:spPr>
          <a:xfrm>
            <a:off x="1298448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5" name="S09_CommonLifecycleText1"/>
          <p:cNvSpPr/>
          <p:nvPr/>
        </p:nvSpPr>
        <p:spPr>
          <a:xfrm>
            <a:off x="1371600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согласование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180" dirty="0"/>
          </a:p>
        </p:txBody>
      </p:sp>
      <p:sp>
        <p:nvSpPr>
          <p:cNvPr id="56" name="S09_CommonLifecycleArrow1"/>
          <p:cNvSpPr/>
          <p:nvPr/>
        </p:nvSpPr>
        <p:spPr>
          <a:xfrm>
            <a:off x="2926080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7" name="S09_CommonLifecycleCard2"/>
          <p:cNvSpPr/>
          <p:nvPr/>
        </p:nvSpPr>
        <p:spPr>
          <a:xfrm>
            <a:off x="3374136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8" name="S09_CommonLifecycleText2"/>
          <p:cNvSpPr/>
          <p:nvPr/>
        </p:nvSpPr>
        <p:spPr>
          <a:xfrm>
            <a:off x="3447288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проектирование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180" dirty="0"/>
          </a:p>
        </p:txBody>
      </p:sp>
      <p:sp>
        <p:nvSpPr>
          <p:cNvPr id="59" name="S09_CommonLifecycleArrow2"/>
          <p:cNvSpPr/>
          <p:nvPr/>
        </p:nvSpPr>
        <p:spPr>
          <a:xfrm>
            <a:off x="5001768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0" name="S09_CommonLifecycleCard3"/>
          <p:cNvSpPr/>
          <p:nvPr/>
        </p:nvSpPr>
        <p:spPr>
          <a:xfrm>
            <a:off x="5449824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1" name="S09_CommonLifecycleText3"/>
          <p:cNvSpPr/>
          <p:nvPr/>
        </p:nvSpPr>
        <p:spPr>
          <a:xfrm>
            <a:off x="5522976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180" dirty="0"/>
          </a:p>
        </p:txBody>
      </p:sp>
      <p:sp>
        <p:nvSpPr>
          <p:cNvPr id="62" name="S09_CommonLifecycleArrow3"/>
          <p:cNvSpPr/>
          <p:nvPr/>
        </p:nvSpPr>
        <p:spPr>
          <a:xfrm>
            <a:off x="7077456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3" name="S09_CommonLifecycleCard4"/>
          <p:cNvSpPr/>
          <p:nvPr/>
        </p:nvSpPr>
        <p:spPr>
          <a:xfrm>
            <a:off x="7525512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4" name="S09_CommonLifecycleText4"/>
          <p:cNvSpPr/>
          <p:nvPr/>
        </p:nvSpPr>
        <p:spPr>
          <a:xfrm>
            <a:off x="7598664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применение / проверка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180" dirty="0"/>
          </a:p>
        </p:txBody>
      </p:sp>
      <p:sp>
        <p:nvSpPr>
          <p:cNvPr id="65" name="S09_CommonLifecycleArrow4"/>
          <p:cNvSpPr/>
          <p:nvPr/>
        </p:nvSpPr>
        <p:spPr>
          <a:xfrm>
            <a:off x="9153144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6" name="S09_CommonLifecycleCard5"/>
          <p:cNvSpPr/>
          <p:nvPr/>
        </p:nvSpPr>
        <p:spPr>
          <a:xfrm>
            <a:off x="9601200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7" name="S09_CommonLifecycleText5"/>
          <p:cNvSpPr/>
          <p:nvPr/>
        </p:nvSpPr>
        <p:spPr>
          <a:xfrm>
            <a:off x="9674352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архивирование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180" dirty="0"/>
          </a:p>
        </p:txBody>
      </p:sp>
      <p:sp>
        <p:nvSpPr>
          <p:cNvPr id="68" name="S09_ModeHint_Bg"/>
          <p:cNvSpPr/>
          <p:nvPr/>
        </p:nvSpPr>
        <p:spPr>
          <a:xfrm>
            <a:off x="1993392" y="5879592"/>
            <a:ext cx="8202168" cy="384048"/>
          </a:xfrm>
          <a:prstGeom prst="roundRect">
            <a:avLst>
              <a:gd name="adj" fmla="val 19048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9" name="S09_ModeHint_Text"/>
          <p:cNvSpPr/>
          <p:nvPr/>
        </p:nvSpPr>
        <p:spPr>
          <a:xfrm>
            <a:off x="1993392" y="5884164"/>
            <a:ext cx="8202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apply: одна дельта → несколько документов мастер-спецификации → актуальный _sdd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0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И ЗРЕЛОСТЬ</a:t>
            </a:r>
            <a:endParaRPr lang="en-US" sz="850" dirty="0"/>
          </a:p>
        </p:txBody>
      </p:sp>
      <p:sp>
        <p:nvSpPr>
          <p:cNvPr id="4" name="S10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слой: управляемый контекст и дисциплина актуальности</a:t>
            </a:r>
            <a:endParaRPr lang="en-US" sz="2850" dirty="0"/>
          </a:p>
        </p:txBody>
      </p:sp>
      <p:sp>
        <p:nvSpPr>
          <p:cNvPr id="5" name="S10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помогает собирать контекст задачи — и должен оставаться согласованным с документами.</a:t>
            </a:r>
            <a:endParaRPr lang="en-US" sz="1320" dirty="0"/>
          </a:p>
        </p:txBody>
      </p:sp>
      <p:sp>
        <p:nvSpPr>
          <p:cNvPr id="6" name="S10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0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30" dirty="0"/>
          </a:p>
        </p:txBody>
      </p:sp>
      <p:sp>
        <p:nvSpPr>
          <p:cNvPr id="8" name="S10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0_BenefitCard1"/>
          <p:cNvSpPr/>
          <p:nvPr/>
        </p:nvSpPr>
        <p:spPr>
          <a:xfrm>
            <a:off x="658368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10_BenefitIcon1_Bg"/>
          <p:cNvSpPr/>
          <p:nvPr/>
        </p:nvSpPr>
        <p:spPr>
          <a:xfrm>
            <a:off x="877824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10_BenefitIcon1_Text"/>
          <p:cNvSpPr/>
          <p:nvPr/>
        </p:nvSpPr>
        <p:spPr>
          <a:xfrm>
            <a:off x="877824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↳</a:t>
            </a:r>
            <a:endParaRPr lang="en-US" sz="1320" dirty="0"/>
          </a:p>
        </p:txBody>
      </p:sp>
      <p:sp>
        <p:nvSpPr>
          <p:cNvPr id="13" name="S10_BenefitTitle1"/>
          <p:cNvSpPr/>
          <p:nvPr/>
        </p:nvSpPr>
        <p:spPr>
          <a:xfrm>
            <a:off x="1600200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карта документов</a:t>
            </a:r>
            <a:endParaRPr lang="en-US" sz="1450" dirty="0"/>
          </a:p>
        </p:txBody>
      </p:sp>
      <p:sp>
        <p:nvSpPr>
          <p:cNvPr id="14" name="S10_BenefitText1"/>
          <p:cNvSpPr/>
          <p:nvPr/>
        </p:nvSpPr>
        <p:spPr>
          <a:xfrm>
            <a:off x="877824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docs-hub понятна человеку и ИИ-помощнику</a:t>
            </a:r>
            <a:endParaRPr lang="en-US" sz="1120" dirty="0"/>
          </a:p>
        </p:txBody>
      </p:sp>
      <p:sp>
        <p:nvSpPr>
          <p:cNvPr id="15" name="S10_BenefitCard2"/>
          <p:cNvSpPr/>
          <p:nvPr/>
        </p:nvSpPr>
        <p:spPr>
          <a:xfrm>
            <a:off x="4005072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10_BenefitIcon2_Bg"/>
          <p:cNvSpPr/>
          <p:nvPr/>
        </p:nvSpPr>
        <p:spPr>
          <a:xfrm>
            <a:off x="4224528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10_BenefitIcon2_Text"/>
          <p:cNvSpPr/>
          <p:nvPr/>
        </p:nvSpPr>
        <p:spPr>
          <a:xfrm>
            <a:off x="4224528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{}</a:t>
            </a:r>
            <a:endParaRPr lang="en-US" sz="1320" dirty="0"/>
          </a:p>
        </p:txBody>
      </p:sp>
      <p:sp>
        <p:nvSpPr>
          <p:cNvPr id="18" name="S10_BenefitTitle2"/>
          <p:cNvSpPr/>
          <p:nvPr/>
        </p:nvSpPr>
        <p:spPr>
          <a:xfrm>
            <a:off x="4946904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Разные форматы вместе</a:t>
            </a:r>
            <a:endParaRPr lang="en-US" sz="1450" dirty="0"/>
          </a:p>
        </p:txBody>
      </p:sp>
      <p:sp>
        <p:nvSpPr>
          <p:cNvPr id="19" name="S10_BenefitText2"/>
          <p:cNvSpPr/>
          <p:nvPr/>
        </p:nvSpPr>
        <p:spPr>
          <a:xfrm>
            <a:off x="4224528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MD, OpenAPI, YAML, DBML и диаграммы входят в общий контекст</a:t>
            </a:r>
            <a:endParaRPr lang="en-US" sz="1120" dirty="0"/>
          </a:p>
        </p:txBody>
      </p:sp>
      <p:sp>
        <p:nvSpPr>
          <p:cNvPr id="20" name="S10_BenefitCard3"/>
          <p:cNvSpPr/>
          <p:nvPr/>
        </p:nvSpPr>
        <p:spPr>
          <a:xfrm>
            <a:off x="658368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10_BenefitIcon3_Bg"/>
          <p:cNvSpPr/>
          <p:nvPr/>
        </p:nvSpPr>
        <p:spPr>
          <a:xfrm>
            <a:off x="877824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10_BenefitIcon3_Text"/>
          <p:cNvSpPr/>
          <p:nvPr/>
        </p:nvSpPr>
        <p:spPr>
          <a:xfrm>
            <a:off x="877824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</a:t>
            </a:r>
            <a:endParaRPr lang="en-US" sz="1320" dirty="0"/>
          </a:p>
        </p:txBody>
      </p:sp>
      <p:sp>
        <p:nvSpPr>
          <p:cNvPr id="23" name="S10_BenefitTitle3"/>
          <p:cNvSpPr/>
          <p:nvPr/>
        </p:nvSpPr>
        <p:spPr>
          <a:xfrm>
            <a:off x="1600200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Понятные источники</a:t>
            </a:r>
            <a:endParaRPr lang="en-US" sz="1450" dirty="0"/>
          </a:p>
        </p:txBody>
      </p:sp>
      <p:sp>
        <p:nvSpPr>
          <p:cNvPr id="24" name="S10_BenefitText3"/>
          <p:cNvSpPr/>
          <p:nvPr/>
        </p:nvSpPr>
        <p:spPr>
          <a:xfrm>
            <a:off x="877824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видно, какие материалы повлияли на изменение</a:t>
            </a:r>
            <a:endParaRPr lang="en-US" sz="1120" dirty="0"/>
          </a:p>
        </p:txBody>
      </p:sp>
      <p:sp>
        <p:nvSpPr>
          <p:cNvPr id="25" name="S10_BenefitCard4"/>
          <p:cNvSpPr/>
          <p:nvPr/>
        </p:nvSpPr>
        <p:spPr>
          <a:xfrm>
            <a:off x="4005072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10_BenefitIcon4_Bg"/>
          <p:cNvSpPr/>
          <p:nvPr/>
        </p:nvSpPr>
        <p:spPr>
          <a:xfrm>
            <a:off x="4224528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7" name="S10_BenefitIcon4_Text"/>
          <p:cNvSpPr/>
          <p:nvPr/>
        </p:nvSpPr>
        <p:spPr>
          <a:xfrm>
            <a:off x="4224528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⇄</a:t>
            </a:r>
            <a:endParaRPr lang="en-US" sz="1320" dirty="0"/>
          </a:p>
        </p:txBody>
      </p:sp>
      <p:sp>
        <p:nvSpPr>
          <p:cNvPr id="28" name="S10_BenefitTitle4"/>
          <p:cNvSpPr/>
          <p:nvPr/>
        </p:nvSpPr>
        <p:spPr>
          <a:xfrm>
            <a:off x="4946904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Два пути изменения</a:t>
            </a:r>
            <a:endParaRPr lang="en-US" sz="1450" dirty="0"/>
          </a:p>
        </p:txBody>
      </p:sp>
      <p:sp>
        <p:nvSpPr>
          <p:cNvPr id="29" name="S10_BenefitText4"/>
          <p:cNvSpPr/>
          <p:nvPr/>
        </p:nvSpPr>
        <p:spPr>
          <a:xfrm>
            <a:off x="422452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через диалог или уже изменённую ветку аналитика</a:t>
            </a:r>
            <a:endParaRPr lang="en-US" sz="1120" dirty="0"/>
          </a:p>
        </p:txBody>
      </p:sp>
      <p:sp>
        <p:nvSpPr>
          <p:cNvPr id="30" name="S10_TradeoffsCard"/>
          <p:cNvSpPr/>
          <p:nvPr/>
        </p:nvSpPr>
        <p:spPr>
          <a:xfrm>
            <a:off x="7333488" y="1472184"/>
            <a:ext cx="4169664" cy="3118104"/>
          </a:xfrm>
          <a:prstGeom prst="roundRect">
            <a:avLst>
              <a:gd name="adj" fmla="val 2346"/>
            </a:avLst>
          </a:prstGeom>
          <a:solidFill>
            <a:srgbClr val="FFF3D9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31" name="S10_TradeoffsLabel_Bg"/>
          <p:cNvSpPr/>
          <p:nvPr/>
        </p:nvSpPr>
        <p:spPr>
          <a:xfrm>
            <a:off x="7626096" y="173736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10_TradeoffsLabel_Text"/>
          <p:cNvSpPr/>
          <p:nvPr/>
        </p:nvSpPr>
        <p:spPr>
          <a:xfrm>
            <a:off x="7626096" y="174193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5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ОСОЗНАННАЯ ЦЕНА</a:t>
            </a:r>
            <a:endParaRPr lang="en-US" sz="980" dirty="0"/>
          </a:p>
        </p:txBody>
      </p:sp>
      <p:sp>
        <p:nvSpPr>
          <p:cNvPr id="33" name="S10_Tradeoff1_Dot"/>
          <p:cNvSpPr/>
          <p:nvPr/>
        </p:nvSpPr>
        <p:spPr>
          <a:xfrm>
            <a:off x="7635240" y="24505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10_Tradeoff1_Text"/>
          <p:cNvSpPr/>
          <p:nvPr/>
        </p:nvSpPr>
        <p:spPr>
          <a:xfrm>
            <a:off x="7818120" y="23317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появляется отдельный навигационный слой</a:t>
            </a:r>
            <a:endParaRPr lang="en-US" sz="1230" dirty="0"/>
          </a:p>
        </p:txBody>
      </p:sp>
      <p:sp>
        <p:nvSpPr>
          <p:cNvPr id="35" name="S10_Tradeoff2_Dot"/>
          <p:cNvSpPr/>
          <p:nvPr/>
        </p:nvSpPr>
        <p:spPr>
          <a:xfrm>
            <a:off x="7635240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S10_Tradeoff2_Text"/>
          <p:cNvSpPr/>
          <p:nvPr/>
        </p:nvSpPr>
        <p:spPr>
          <a:xfrm>
            <a:off x="7818120" y="2825496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обновляется вместе с мастер-спецификацией</a:t>
            </a:r>
            <a:endParaRPr lang="en-US" sz="1200" dirty="0"/>
          </a:p>
        </p:txBody>
      </p:sp>
      <p:sp>
        <p:nvSpPr>
          <p:cNvPr id="37" name="S10_Tradeoff3_Dot"/>
          <p:cNvSpPr/>
          <p:nvPr/>
        </p:nvSpPr>
        <p:spPr>
          <a:xfrm>
            <a:off x="7635240" y="3438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10_Tradeoff3_Text"/>
          <p:cNvSpPr/>
          <p:nvPr/>
        </p:nvSpPr>
        <p:spPr>
          <a:xfrm>
            <a:off x="7818120" y="331927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структуры требует проверки связей</a:t>
            </a:r>
            <a:endParaRPr lang="en-US" sz="1230" dirty="0"/>
          </a:p>
        </p:txBody>
      </p:sp>
      <p:sp>
        <p:nvSpPr>
          <p:cNvPr id="39" name="S10_Tradeoff4_Dot"/>
          <p:cNvSpPr/>
          <p:nvPr/>
        </p:nvSpPr>
        <p:spPr>
          <a:xfrm>
            <a:off x="7635240" y="39319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10_Tradeoff4_Text"/>
          <p:cNvSpPr/>
          <p:nvPr/>
        </p:nvSpPr>
        <p:spPr>
          <a:xfrm>
            <a:off x="7818120" y="3813048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устаревшая карта снижает качество контекста</a:t>
            </a:r>
            <a:endParaRPr lang="en-US" sz="1230" dirty="0"/>
          </a:p>
        </p:txBody>
      </p:sp>
      <p:sp>
        <p:nvSpPr>
          <p:cNvPr id="41" name="S10_RoadmapCard"/>
          <p:cNvSpPr/>
          <p:nvPr/>
        </p:nvSpPr>
        <p:spPr>
          <a:xfrm>
            <a:off x="658368" y="4928616"/>
            <a:ext cx="10844784" cy="1115568"/>
          </a:xfrm>
          <a:prstGeom prst="roundRect">
            <a:avLst>
              <a:gd name="adj" fmla="val 65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22304A">
                <a:alpha val="1.2e+49"/>
              </a:srgbClr>
            </a:outerShdw>
          </a:effectLst>
        </p:spPr>
      </p:sp>
      <p:sp>
        <p:nvSpPr>
          <p:cNvPr id="42" name="S10_RoadmapLabel"/>
          <p:cNvSpPr/>
          <p:nvPr/>
        </p:nvSpPr>
        <p:spPr>
          <a:xfrm>
            <a:off x="896112" y="5157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РАЗВИТИЕ</a:t>
            </a:r>
            <a:endParaRPr lang="en-US" sz="840" dirty="0"/>
          </a:p>
        </p:txBody>
      </p:sp>
      <p:sp>
        <p:nvSpPr>
          <p:cNvPr id="43" name="S10_RoadmapNode1"/>
          <p:cNvSpPr/>
          <p:nvPr/>
        </p:nvSpPr>
        <p:spPr>
          <a:xfrm>
            <a:off x="1828800" y="5239512"/>
            <a:ext cx="246888" cy="2468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S10_RoadmapTitle1"/>
          <p:cNvSpPr/>
          <p:nvPr/>
        </p:nvSpPr>
        <p:spPr>
          <a:xfrm>
            <a:off x="218541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30" dirty="0"/>
          </a:p>
        </p:txBody>
      </p:sp>
      <p:sp>
        <p:nvSpPr>
          <p:cNvPr id="45" name="S10_RoadmapText1"/>
          <p:cNvSpPr/>
          <p:nvPr/>
        </p:nvSpPr>
        <p:spPr>
          <a:xfrm>
            <a:off x="2185416" y="53766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файловая навигация</a:t>
            </a:r>
            <a:endParaRPr lang="en-US" sz="1120" dirty="0"/>
          </a:p>
        </p:txBody>
      </p:sp>
      <p:sp>
        <p:nvSpPr>
          <p:cNvPr id="46" name="S10_RoadmapArrow1"/>
          <p:cNvSpPr/>
          <p:nvPr/>
        </p:nvSpPr>
        <p:spPr>
          <a:xfrm>
            <a:off x="4133088" y="5367528"/>
            <a:ext cx="384048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47" name="S10_RoadmapNode2"/>
          <p:cNvSpPr/>
          <p:nvPr/>
        </p:nvSpPr>
        <p:spPr>
          <a:xfrm>
            <a:off x="4663440" y="5239512"/>
            <a:ext cx="246888" cy="2468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10_RoadmapTitle2"/>
          <p:cNvSpPr/>
          <p:nvPr/>
        </p:nvSpPr>
        <p:spPr>
          <a:xfrm>
            <a:off x="502005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Следом</a:t>
            </a:r>
            <a:endParaRPr lang="en-US" sz="1030" dirty="0"/>
          </a:p>
        </p:txBody>
      </p:sp>
      <p:sp>
        <p:nvSpPr>
          <p:cNvPr id="49" name="S10_RoadmapText2"/>
          <p:cNvSpPr/>
          <p:nvPr/>
        </p:nvSpPr>
        <p:spPr>
          <a:xfrm>
            <a:off x="5020056" y="5376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согласованность + точные связи</a:t>
            </a:r>
            <a:endParaRPr lang="en-US" sz="1120" dirty="0"/>
          </a:p>
        </p:txBody>
      </p:sp>
      <p:sp>
        <p:nvSpPr>
          <p:cNvPr id="50" name="S10_RoadmapArrow2"/>
          <p:cNvSpPr/>
          <p:nvPr/>
        </p:nvSpPr>
        <p:spPr>
          <a:xfrm>
            <a:off x="7178040" y="5367528"/>
            <a:ext cx="374904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51" name="S10_RoadmapNode3"/>
          <p:cNvSpPr/>
          <p:nvPr/>
        </p:nvSpPr>
        <p:spPr>
          <a:xfrm>
            <a:off x="7699248" y="5239512"/>
            <a:ext cx="246888" cy="24688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2" name="S10_RoadmapTitle3"/>
          <p:cNvSpPr/>
          <p:nvPr/>
        </p:nvSpPr>
        <p:spPr>
          <a:xfrm>
            <a:off x="8055864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Потенциал</a:t>
            </a:r>
            <a:endParaRPr lang="en-US" sz="1030" dirty="0"/>
          </a:p>
        </p:txBody>
      </p:sp>
      <p:sp>
        <p:nvSpPr>
          <p:cNvPr id="53" name="S10_RoadmapText3"/>
          <p:cNvSpPr/>
          <p:nvPr/>
        </p:nvSpPr>
        <p:spPr>
          <a:xfrm>
            <a:off x="8055864" y="5376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точный связанный контекст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1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S11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Пошагово развиваем OpenSpec на реальных задачах</a:t>
            </a:r>
            <a:endParaRPr lang="en-US" sz="2850" dirty="0"/>
          </a:p>
        </p:txBody>
      </p:sp>
      <p:sp>
        <p:nvSpPr>
          <p:cNvPr id="5" name="S11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подготовленной базы знаний в docs-hub — к управляемым изменениям мастер-спецификации.</a:t>
            </a:r>
            <a:endParaRPr lang="en-US" sz="1320" dirty="0"/>
          </a:p>
        </p:txBody>
      </p:sp>
      <p:sp>
        <p:nvSpPr>
          <p:cNvPr id="6" name="S1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830" dirty="0"/>
          </a:p>
        </p:txBody>
      </p:sp>
      <p:sp>
        <p:nvSpPr>
          <p:cNvPr id="8" name="S1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1_RolloutCard1"/>
          <p:cNvSpPr/>
          <p:nvPr/>
        </p:nvSpPr>
        <p:spPr>
          <a:xfrm>
            <a:off x="658368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1_RolloutLabel1_Bg"/>
          <p:cNvSpPr/>
          <p:nvPr/>
        </p:nvSpPr>
        <p:spPr>
          <a:xfrm>
            <a:off x="932688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11_RolloutLabel1_Text"/>
          <p:cNvSpPr/>
          <p:nvPr/>
        </p:nvSpPr>
        <p:spPr>
          <a:xfrm>
            <a:off x="932688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СДЕЛАНО</a:t>
            </a:r>
            <a:endParaRPr lang="en-US" sz="1050" dirty="0"/>
          </a:p>
        </p:txBody>
      </p:sp>
      <p:sp>
        <p:nvSpPr>
          <p:cNvPr id="13" name="S11_RolloutTitle1"/>
          <p:cNvSpPr/>
          <p:nvPr/>
        </p:nvSpPr>
        <p:spPr>
          <a:xfrm>
            <a:off x="932688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Подготовлена MD-база</a:t>
            </a:r>
            <a:endParaRPr lang="en-US" sz="1800" dirty="0"/>
          </a:p>
        </p:txBody>
      </p:sp>
      <p:sp>
        <p:nvSpPr>
          <p:cNvPr id="14" name="S11_RolloutBullet1A_Dot"/>
          <p:cNvSpPr/>
          <p:nvPr/>
        </p:nvSpPr>
        <p:spPr>
          <a:xfrm>
            <a:off x="94183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11_RolloutBullet1A_Text"/>
          <p:cNvSpPr/>
          <p:nvPr/>
        </p:nvSpPr>
        <p:spPr>
          <a:xfrm>
            <a:off x="1124712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созданы процесс конвертации и docs-hub</a:t>
            </a:r>
            <a:endParaRPr lang="en-US" sz="1230" dirty="0"/>
          </a:p>
        </p:txBody>
      </p:sp>
      <p:sp>
        <p:nvSpPr>
          <p:cNvPr id="16" name="S11_RolloutBullet1B_Dot"/>
          <p:cNvSpPr/>
          <p:nvPr/>
        </p:nvSpPr>
        <p:spPr>
          <a:xfrm>
            <a:off x="941832" y="36393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11_RolloutBullet1B_Text"/>
          <p:cNvSpPr/>
          <p:nvPr/>
        </p:nvSpPr>
        <p:spPr>
          <a:xfrm>
            <a:off x="1124712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переведён сервис, справочники и библиотеки</a:t>
            </a:r>
            <a:endParaRPr lang="en-US" sz="1230" dirty="0"/>
          </a:p>
        </p:txBody>
      </p:sp>
      <p:sp>
        <p:nvSpPr>
          <p:cNvPr id="18" name="S11_RolloutCard2"/>
          <p:cNvSpPr/>
          <p:nvPr/>
        </p:nvSpPr>
        <p:spPr>
          <a:xfrm>
            <a:off x="4334256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S11_RolloutLabel2_Bg"/>
          <p:cNvSpPr/>
          <p:nvPr/>
        </p:nvSpPr>
        <p:spPr>
          <a:xfrm>
            <a:off x="4608576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S11_RolloutLabel2_Text"/>
          <p:cNvSpPr/>
          <p:nvPr/>
        </p:nvSpPr>
        <p:spPr>
          <a:xfrm>
            <a:off x="4608576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21" name="S11_RolloutTitle2"/>
          <p:cNvSpPr/>
          <p:nvPr/>
        </p:nvSpPr>
        <p:spPr>
          <a:xfrm>
            <a:off x="4608576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Внедряем OpenSpec</a:t>
            </a:r>
            <a:endParaRPr lang="en-US" sz="1800" dirty="0"/>
          </a:p>
        </p:txBody>
      </p:sp>
      <p:sp>
        <p:nvSpPr>
          <p:cNvPr id="22" name="S11_RolloutBullet2A_Dot"/>
          <p:cNvSpPr/>
          <p:nvPr/>
        </p:nvSpPr>
        <p:spPr>
          <a:xfrm>
            <a:off x="4617720" y="309067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S11_RolloutBullet2A_Text"/>
          <p:cNvSpPr/>
          <p:nvPr/>
        </p:nvSpPr>
        <p:spPr>
          <a:xfrm>
            <a:off x="4800600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подключаем документы через init-master-spec</a:t>
            </a:r>
            <a:endParaRPr lang="en-US" sz="1230" dirty="0"/>
          </a:p>
        </p:txBody>
      </p:sp>
      <p:sp>
        <p:nvSpPr>
          <p:cNvPr id="24" name="S11_RolloutBullet2B_Dot"/>
          <p:cNvSpPr/>
          <p:nvPr/>
        </p:nvSpPr>
        <p:spPr>
          <a:xfrm>
            <a:off x="4617720" y="363931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S11_RolloutBullet2B_Text"/>
          <p:cNvSpPr/>
          <p:nvPr/>
        </p:nvSpPr>
        <p:spPr>
          <a:xfrm>
            <a:off x="4800600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 / apply для папки и актуальный _sdd</a:t>
            </a:r>
            <a:endParaRPr lang="en-US" sz="1230" dirty="0"/>
          </a:p>
        </p:txBody>
      </p:sp>
      <p:sp>
        <p:nvSpPr>
          <p:cNvPr id="26" name="S11_RolloutCard3"/>
          <p:cNvSpPr/>
          <p:nvPr/>
        </p:nvSpPr>
        <p:spPr>
          <a:xfrm>
            <a:off x="8010144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27" name="S11_RolloutLabel3_Bg"/>
          <p:cNvSpPr/>
          <p:nvPr/>
        </p:nvSpPr>
        <p:spPr>
          <a:xfrm>
            <a:off x="8284464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8" name="S11_RolloutLabel3_Text"/>
          <p:cNvSpPr/>
          <p:nvPr/>
        </p:nvSpPr>
        <p:spPr>
          <a:xfrm>
            <a:off x="8284464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ДАЛЬШЕ</a:t>
            </a:r>
            <a:endParaRPr lang="en-US" sz="1050" dirty="0"/>
          </a:p>
        </p:txBody>
      </p:sp>
      <p:sp>
        <p:nvSpPr>
          <p:cNvPr id="29" name="S11_RolloutTitle3"/>
          <p:cNvSpPr/>
          <p:nvPr/>
        </p:nvSpPr>
        <p:spPr>
          <a:xfrm>
            <a:off x="8284464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Снижаем стоимость управления</a:t>
            </a:r>
            <a:endParaRPr lang="en-US" sz="1800" dirty="0"/>
          </a:p>
        </p:txBody>
      </p:sp>
      <p:sp>
        <p:nvSpPr>
          <p:cNvPr id="30" name="S11_RolloutBullet3A_Dot"/>
          <p:cNvSpPr/>
          <p:nvPr/>
        </p:nvSpPr>
        <p:spPr>
          <a:xfrm>
            <a:off x="8293608" y="309067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1" name="S11_RolloutBullet3A_Text"/>
          <p:cNvSpPr/>
          <p:nvPr/>
        </p:nvSpPr>
        <p:spPr>
          <a:xfrm>
            <a:off x="8476488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упрощаем поддержку согласованности _sdd</a:t>
            </a:r>
            <a:endParaRPr lang="en-US" sz="1230" dirty="0"/>
          </a:p>
        </p:txBody>
      </p:sp>
      <p:sp>
        <p:nvSpPr>
          <p:cNvPr id="32" name="S11_RolloutBullet3B_Dot"/>
          <p:cNvSpPr/>
          <p:nvPr/>
        </p:nvSpPr>
        <p:spPr>
          <a:xfrm>
            <a:off x="8293608" y="363931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3" name="S11_RolloutBullet3B_Text"/>
          <p:cNvSpPr/>
          <p:nvPr/>
        </p:nvSpPr>
        <p:spPr>
          <a:xfrm>
            <a:off x="8476488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точнее отбираем и связываем контекст</a:t>
            </a:r>
            <a:endParaRPr lang="en-US" sz="1230" dirty="0"/>
          </a:p>
        </p:txBody>
      </p:sp>
      <p:sp>
        <p:nvSpPr>
          <p:cNvPr id="34" name="S11_FinalPositionCard"/>
          <p:cNvSpPr/>
          <p:nvPr/>
        </p:nvSpPr>
        <p:spPr>
          <a:xfrm>
            <a:off x="658368" y="4681728"/>
            <a:ext cx="10844784" cy="1252728"/>
          </a:xfrm>
          <a:prstGeom prst="roundRect">
            <a:avLst>
              <a:gd name="adj" fmla="val 583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22304A">
                <a:alpha val="1.2e+54"/>
              </a:srgbClr>
            </a:outerShdw>
          </a:effectLst>
        </p:spPr>
      </p:sp>
      <p:sp>
        <p:nvSpPr>
          <p:cNvPr id="35" name="S11_FinalPositionTitle"/>
          <p:cNvSpPr/>
          <p:nvPr/>
        </p:nvSpPr>
        <p:spPr>
          <a:xfrm>
            <a:off x="96012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Расширяем OpenSpec под систему документов.</a:t>
            </a:r>
            <a:endParaRPr lang="en-US" sz="1820" dirty="0"/>
          </a:p>
        </p:txBody>
      </p:sp>
      <p:sp>
        <p:nvSpPr>
          <p:cNvPr id="36" name="S11_FinalPositionText"/>
          <p:cNvSpPr/>
          <p:nvPr/>
        </p:nvSpPr>
        <p:spPr>
          <a:xfrm>
            <a:off x="960120" y="539496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изменение + спецификация в папке + _sdd + apply по нескольким файлам.</a:t>
            </a:r>
            <a:endParaRPr lang="en-US" sz="1250" dirty="0"/>
          </a:p>
        </p:txBody>
      </p:sp>
      <p:sp>
        <p:nvSpPr>
          <p:cNvPr id="37" name="S11_FinalPositionPill1_Bg"/>
          <p:cNvSpPr/>
          <p:nvPr/>
        </p:nvSpPr>
        <p:spPr>
          <a:xfrm>
            <a:off x="6510528" y="4965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S11_FinalPositionPill1_Text"/>
          <p:cNvSpPr/>
          <p:nvPr/>
        </p:nvSpPr>
        <p:spPr>
          <a:xfrm>
            <a:off x="6510528" y="496976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новые возможности</a:t>
            </a:r>
            <a:endParaRPr lang="en-US" sz="980" dirty="0"/>
          </a:p>
        </p:txBody>
      </p:sp>
      <p:sp>
        <p:nvSpPr>
          <p:cNvPr id="39" name="S11_FinalPositionPill2_Bg"/>
          <p:cNvSpPr/>
          <p:nvPr/>
        </p:nvSpPr>
        <p:spPr>
          <a:xfrm>
            <a:off x="8101584" y="4965192"/>
            <a:ext cx="1755648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11_FinalPositionPill2_Text"/>
          <p:cNvSpPr/>
          <p:nvPr/>
        </p:nvSpPr>
        <p:spPr>
          <a:xfrm>
            <a:off x="8101584" y="4969764"/>
            <a:ext cx="1755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новая ответственность</a:t>
            </a:r>
            <a:endParaRPr lang="en-US" sz="950" dirty="0"/>
          </a:p>
        </p:txBody>
      </p:sp>
      <p:sp>
        <p:nvSpPr>
          <p:cNvPr id="41" name="S11_FinalPositionPill3_Bg"/>
          <p:cNvSpPr/>
          <p:nvPr/>
        </p:nvSpPr>
        <p:spPr>
          <a:xfrm>
            <a:off x="9985248" y="4965192"/>
            <a:ext cx="1207008" cy="365760"/>
          </a:xfrm>
          <a:prstGeom prst="roundRect">
            <a:avLst>
              <a:gd name="adj" fmla="val 20000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2" name="S11_FinalPositionPill3_Text"/>
          <p:cNvSpPr/>
          <p:nvPr/>
        </p:nvSpPr>
        <p:spPr>
          <a:xfrm>
            <a:off x="9985248" y="49697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реальные задачи</a:t>
            </a:r>
            <a:endParaRPr lang="en-US" sz="980" dirty="0"/>
          </a:p>
        </p:txBody>
      </p:sp>
      <p:sp>
        <p:nvSpPr>
          <p:cNvPr id="43" name="S11_FinalPositionNext"/>
          <p:cNvSpPr/>
          <p:nvPr/>
        </p:nvSpPr>
        <p:spPr>
          <a:xfrm>
            <a:off x="6547104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Больше управляемости — вместе с дисциплиной актуальности.</a:t>
            </a:r>
            <a:endParaRPr lang="en-US" sz="1100" dirty="0"/>
          </a:p>
        </p:txBody>
      </p:sp>
      <p:sp>
        <p:nvSpPr>
          <p:cNvPr id="44" name="S11_FinalNoMandate"/>
          <p:cNvSpPr/>
          <p:nvPr/>
        </p:nvSpPr>
        <p:spPr>
          <a:xfrm>
            <a:off x="1874520" y="61447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для папки документов — рабочая эволюция идеи для большой системы документации.</a:t>
            </a:r>
            <a:endParaRPr lang="en-US" sz="12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МАРШРУТ</a:t>
            </a:r>
            <a:endParaRPr lang="en-US" sz="850" dirty="0"/>
          </a:p>
        </p:txBody>
      </p:sp>
      <p:sp>
        <p:nvSpPr>
          <p:cNvPr id="4" name="S1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 — рабочий дополнительный инструмент</a:t>
            </a:r>
            <a:endParaRPr lang="en-US" sz="2850" dirty="0"/>
          </a:p>
        </p:txBody>
      </p:sp>
      <p:sp>
        <p:nvSpPr>
          <p:cNvPr id="5" name="S1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основной путь: полезен, когда целевое состояние мастер-спецификации уже оформлено в ветке.</a:t>
            </a:r>
            <a:endParaRPr lang="en-US" sz="1320" dirty="0"/>
          </a:p>
        </p:txBody>
      </p:sp>
      <p:sp>
        <p:nvSpPr>
          <p:cNvPr id="6" name="S1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830" dirty="0"/>
          </a:p>
        </p:txBody>
      </p:sp>
      <p:sp>
        <p:nvSpPr>
          <p:cNvPr id="8" name="S1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2_DiffBaseCard"/>
          <p:cNvSpPr/>
          <p:nvPr/>
        </p:nvSpPr>
        <p:spPr>
          <a:xfrm>
            <a:off x="658368" y="1444752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2_DiffBaseText"/>
          <p:cNvSpPr/>
          <p:nvPr/>
        </p:nvSpPr>
        <p:spPr>
          <a:xfrm>
            <a:off x="777240" y="15544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Базовая мастер-спецификация</a:t>
            </a:r>
            <a:endParaRPr lang="en-US" sz="1080" dirty="0"/>
          </a:p>
        </p:txBody>
      </p:sp>
      <p:sp>
        <p:nvSpPr>
          <p:cNvPr id="12" name="S12_DiffAnalystCard"/>
          <p:cNvSpPr/>
          <p:nvPr/>
        </p:nvSpPr>
        <p:spPr>
          <a:xfrm>
            <a:off x="658368" y="1956816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12_DiffAnalystText"/>
          <p:cNvSpPr/>
          <p:nvPr/>
        </p:nvSpPr>
        <p:spPr>
          <a:xfrm>
            <a:off x="777240" y="2066544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1080" dirty="0"/>
          </a:p>
        </p:txBody>
      </p:sp>
      <p:sp>
        <p:nvSpPr>
          <p:cNvPr id="14" name="S12_DiffBaseArrow"/>
          <p:cNvSpPr/>
          <p:nvPr/>
        </p:nvSpPr>
        <p:spPr>
          <a:xfrm>
            <a:off x="2688336" y="1655064"/>
            <a:ext cx="438912" cy="237744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5" name="S12_DiffAnalystArrow"/>
          <p:cNvSpPr/>
          <p:nvPr/>
        </p:nvSpPr>
        <p:spPr>
          <a:xfrm flipV="1">
            <a:off x="2688336" y="1892808"/>
            <a:ext cx="438912" cy="274320"/>
          </a:xfrm>
          <a:prstGeom prst="line">
            <a:avLst/>
          </a:prstGeom>
          <a:noFill/>
          <a:ln w="1778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12_DiffTool_Bg"/>
          <p:cNvSpPr/>
          <p:nvPr/>
        </p:nvSpPr>
        <p:spPr>
          <a:xfrm>
            <a:off x="3182112" y="1609344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7" name="S12_DiffTool_Text"/>
          <p:cNvSpPr/>
          <p:nvPr/>
        </p:nvSpPr>
        <p:spPr>
          <a:xfrm>
            <a:off x="3182112" y="1613916"/>
            <a:ext cx="1965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1200" dirty="0"/>
          </a:p>
        </p:txBody>
      </p:sp>
      <p:sp>
        <p:nvSpPr>
          <p:cNvPr id="18" name="S12_DiffToolArrow"/>
          <p:cNvSpPr/>
          <p:nvPr/>
        </p:nvSpPr>
        <p:spPr>
          <a:xfrm>
            <a:off x="5202936" y="1892808"/>
            <a:ext cx="512064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12_DiffChange_Bg"/>
          <p:cNvSpPr/>
          <p:nvPr/>
        </p:nvSpPr>
        <p:spPr>
          <a:xfrm>
            <a:off x="5788152" y="1609344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12_DiffChange_Text"/>
          <p:cNvSpPr/>
          <p:nvPr/>
        </p:nvSpPr>
        <p:spPr>
          <a:xfrm>
            <a:off x="5788152" y="1613916"/>
            <a:ext cx="2011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источники</a:t>
            </a:r>
            <a:endParaRPr lang="en-US" sz="1140" dirty="0"/>
          </a:p>
        </p:txBody>
      </p:sp>
      <p:sp>
        <p:nvSpPr>
          <p:cNvPr id="21" name="S12_DiffChangeArrow"/>
          <p:cNvSpPr/>
          <p:nvPr/>
        </p:nvSpPr>
        <p:spPr>
          <a:xfrm>
            <a:off x="7854696" y="1892808"/>
            <a:ext cx="502920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12_DiffLifecycle_Bg"/>
          <p:cNvSpPr/>
          <p:nvPr/>
        </p:nvSpPr>
        <p:spPr>
          <a:xfrm>
            <a:off x="8430768" y="1609344"/>
            <a:ext cx="2889504" cy="566928"/>
          </a:xfrm>
          <a:prstGeom prst="roundRect">
            <a:avLst>
              <a:gd name="adj" fmla="val 1290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23" name="S12_DiffLifecycle_Text"/>
          <p:cNvSpPr/>
          <p:nvPr/>
        </p:nvSpPr>
        <p:spPr>
          <a:xfrm>
            <a:off x="8430768" y="1613916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согласование → проектирование → реализация</a:t>
            </a:r>
            <a:endParaRPr lang="en-US" sz="1060" dirty="0"/>
          </a:p>
        </p:txBody>
      </p:sp>
      <p:sp>
        <p:nvSpPr>
          <p:cNvPr id="24" name="S12_DiffSimpleCard"/>
          <p:cNvSpPr/>
          <p:nvPr/>
        </p:nvSpPr>
        <p:spPr>
          <a:xfrm>
            <a:off x="658368" y="2743200"/>
            <a:ext cx="523036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22304A">
                <a:alpha val="1.2e+59"/>
              </a:srgbClr>
            </a:outerShdw>
          </a:effectLst>
        </p:spPr>
      </p:sp>
      <p:sp>
        <p:nvSpPr>
          <p:cNvPr id="25" name="S12_DiffSimpleLabel_Bg"/>
          <p:cNvSpPr/>
          <p:nvPr/>
        </p:nvSpPr>
        <p:spPr>
          <a:xfrm>
            <a:off x="941832" y="301752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6" name="S12_DiffSimpleLabel_Text"/>
          <p:cNvSpPr/>
          <p:nvPr/>
        </p:nvSpPr>
        <p:spPr>
          <a:xfrm>
            <a:off x="941832" y="3022092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ПРОСТЫЕ СЛУЧАИ</a:t>
            </a:r>
            <a:endParaRPr lang="en-US" sz="1020" dirty="0"/>
          </a:p>
        </p:txBody>
      </p:sp>
      <p:sp>
        <p:nvSpPr>
          <p:cNvPr id="27" name="S12_DiffSimpleTitle"/>
          <p:cNvSpPr/>
          <p:nvPr/>
        </p:nvSpPr>
        <p:spPr>
          <a:xfrm>
            <a:off x="950976" y="359359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Сократить повторное описание</a:t>
            </a:r>
            <a:endParaRPr lang="en-US" sz="1720" dirty="0"/>
          </a:p>
        </p:txBody>
      </p:sp>
      <p:sp>
        <p:nvSpPr>
          <p:cNvPr id="28" name="S12_DiffSimple1_Dot"/>
          <p:cNvSpPr/>
          <p:nvPr/>
        </p:nvSpPr>
        <p:spPr>
          <a:xfrm>
            <a:off x="960120" y="4206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S12_DiffSimple1_Text"/>
          <p:cNvSpPr/>
          <p:nvPr/>
        </p:nvSpPr>
        <p:spPr>
          <a:xfrm>
            <a:off x="11430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точечная правка уже внесена в документы</a:t>
            </a:r>
            <a:endParaRPr lang="en-US" sz="1230" dirty="0"/>
          </a:p>
        </p:txBody>
      </p:sp>
      <p:sp>
        <p:nvSpPr>
          <p:cNvPr id="30" name="S12_DiffSimple2_Dot"/>
          <p:cNvSpPr/>
          <p:nvPr/>
        </p:nvSpPr>
        <p:spPr>
          <a:xfrm>
            <a:off x="960120" y="46542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S12_DiffSimple2_Text"/>
          <p:cNvSpPr/>
          <p:nvPr/>
        </p:nvSpPr>
        <p:spPr>
          <a:xfrm>
            <a:off x="11430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серия однотипных изменений в нескольких файлах</a:t>
            </a:r>
            <a:endParaRPr lang="en-US" sz="1230" dirty="0"/>
          </a:p>
        </p:txBody>
      </p:sp>
      <p:sp>
        <p:nvSpPr>
          <p:cNvPr id="32" name="S12_DiffSimple3_Dot"/>
          <p:cNvSpPr/>
          <p:nvPr/>
        </p:nvSpPr>
        <p:spPr>
          <a:xfrm>
            <a:off x="960120" y="51023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S12_DiffSimple3_Text"/>
          <p:cNvSpPr/>
          <p:nvPr/>
        </p:nvSpPr>
        <p:spPr>
          <a:xfrm>
            <a:off x="11430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change.md по уже готовой дельте</a:t>
            </a:r>
            <a:endParaRPr lang="en-US" sz="1230" dirty="0"/>
          </a:p>
        </p:txBody>
      </p:sp>
      <p:sp>
        <p:nvSpPr>
          <p:cNvPr id="34" name="S12_DiffComplexCard"/>
          <p:cNvSpPr/>
          <p:nvPr/>
        </p:nvSpPr>
        <p:spPr>
          <a:xfrm>
            <a:off x="6144768" y="2743200"/>
            <a:ext cx="5358384" cy="2523744"/>
          </a:xfrm>
          <a:prstGeom prst="roundRect">
            <a:avLst>
              <a:gd name="adj" fmla="val 2899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22304A">
                <a:alpha val="1.2000000000000001e+64"/>
              </a:srgbClr>
            </a:outerShdw>
          </a:effectLst>
        </p:spPr>
      </p:sp>
      <p:sp>
        <p:nvSpPr>
          <p:cNvPr id="35" name="S12_DiffComplexLabel_Bg"/>
          <p:cNvSpPr/>
          <p:nvPr/>
        </p:nvSpPr>
        <p:spPr>
          <a:xfrm>
            <a:off x="6428232" y="301752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S12_DiffComplexLabel_Text"/>
          <p:cNvSpPr/>
          <p:nvPr/>
        </p:nvSpPr>
        <p:spPr>
          <a:xfrm>
            <a:off x="6428232" y="302209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СЛОЖНЫЕ СЛУЧАИ</a:t>
            </a:r>
            <a:endParaRPr lang="en-US" sz="1020" dirty="0"/>
          </a:p>
        </p:txBody>
      </p:sp>
      <p:sp>
        <p:nvSpPr>
          <p:cNvPr id="37" name="S12_DiffComplexTitle"/>
          <p:cNvSpPr/>
          <p:nvPr/>
        </p:nvSpPr>
        <p:spPr>
          <a:xfrm>
            <a:off x="6437376" y="359359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Собрать целевое состояние</a:t>
            </a:r>
            <a:endParaRPr lang="en-US" sz="1720" dirty="0"/>
          </a:p>
        </p:txBody>
      </p:sp>
      <p:sp>
        <p:nvSpPr>
          <p:cNvPr id="38" name="S12_DiffComplex1_Dot"/>
          <p:cNvSpPr/>
          <p:nvPr/>
        </p:nvSpPr>
        <p:spPr>
          <a:xfrm>
            <a:off x="6446520" y="4206240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9" name="S12_DiffComplex1_Text"/>
          <p:cNvSpPr/>
          <p:nvPr/>
        </p:nvSpPr>
        <p:spPr>
          <a:xfrm>
            <a:off x="66294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сквозное изменение затрагивает связанные части системы</a:t>
            </a:r>
            <a:endParaRPr lang="en-US" sz="1230" dirty="0"/>
          </a:p>
        </p:txBody>
      </p:sp>
      <p:sp>
        <p:nvSpPr>
          <p:cNvPr id="40" name="S12_DiffComplex2_Dot"/>
          <p:cNvSpPr/>
          <p:nvPr/>
        </p:nvSpPr>
        <p:spPr>
          <a:xfrm>
            <a:off x="6446520" y="46542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1" name="S12_DiffComplex2_Text"/>
          <p:cNvSpPr/>
          <p:nvPr/>
        </p:nvSpPr>
        <p:spPr>
          <a:xfrm>
            <a:off x="66294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крупная миграция или перестройка мастер-спецификации</a:t>
            </a:r>
            <a:endParaRPr lang="en-US" sz="1230" dirty="0"/>
          </a:p>
        </p:txBody>
      </p:sp>
      <p:sp>
        <p:nvSpPr>
          <p:cNvPr id="42" name="S12_DiffComplex3_Dot"/>
          <p:cNvSpPr/>
          <p:nvPr/>
        </p:nvSpPr>
        <p:spPr>
          <a:xfrm>
            <a:off x="6446520" y="510235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3" name="S12_DiffComplex3_Text"/>
          <p:cNvSpPr/>
          <p:nvPr/>
        </p:nvSpPr>
        <p:spPr>
          <a:xfrm>
            <a:off x="66294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 аналитической ветки с единым контекстом</a:t>
            </a:r>
            <a:endParaRPr lang="en-US" sz="1230" dirty="0"/>
          </a:p>
        </p:txBody>
      </p:sp>
      <p:sp>
        <p:nvSpPr>
          <p:cNvPr id="44" name="S12_DiffBoundaryCard"/>
          <p:cNvSpPr/>
          <p:nvPr/>
        </p:nvSpPr>
        <p:spPr>
          <a:xfrm>
            <a:off x="658368" y="5596128"/>
            <a:ext cx="10844784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S12_DiffBoundaryText"/>
          <p:cNvSpPr/>
          <p:nvPr/>
        </p:nvSpPr>
        <p:spPr>
          <a:xfrm>
            <a:off x="960120" y="57515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заменяет propose: разница версий показывает «что изменилось», а смысл и мотивация требуют аналитической проверки.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 для крупного действующего сервиса</dc:title>
  <dc:subject>Эволюционное развитие OpenSpec для большой системы документации</dc:subject>
  <dc:creator>Команда НСиР</dc:creator>
  <cp:lastModifiedBy>Команда НСиР</cp:lastModifiedBy>
  <cp:revision>1</cp:revision>
  <dcterms:created xsi:type="dcterms:W3CDTF">2026-07-09T23:58:20Z</dcterms:created>
  <dcterms:modified xsi:type="dcterms:W3CDTF">2026-07-09T23:58:20Z</dcterms:modified>
</cp:coreProperties>
</file>
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рамка доклада: это рассказ о нашем пути, а не сравнительный тест реализаций OpenSpec. Парадигма и SDD lifecycle сохранены. Точка расширения — представление master specification как folder-based spec, потому что source of truth команды уже является системой документов. Knowledge graph — направление развития, а не готовая функция.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попытка начать документировать систему с нуля. За 3+ года сформировался analyst-first процесс по 10 сервисам и библиотекам. Высокая актуальность документации к коду — исходное ограничение и одновременно актив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масштаб без попытки доказать, что каждый сервис одинаков. Цифры из текущей master specification: 80+ процессов, 15+ интеграций, 50+ справочников, 30+ UI-форм, 80+ алгоритмов UI. Пилот invest-dkz — около 100 MD-документов и 18 workflow-документов.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Рассказать путь последовательно. Сначала существовала зрелая аналитика в Confluence. Затем команда решила, что для SDD и агентных workflow документации нужны Markdown, Git, diff и review. Для этого создан отдельный docs-hub. Сейчас один сервис переведен полностью, вместе со справочниками и общими библиотеками; функциональность остальных сервисов переносится постепенно.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для снятия ощущения fork или новой методологии. Change-first, review/approve, design, tasks, implement, verify/apply и archive остались теми же. В нашей реализации master specification идентифицируется корневой папкой сервиса — folder-based spec — а не конкретным отдельным файлом. Skills работают поверх этой папки через навигационный слой.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проговорить: функциональная область — не тип документа. В каждой ФО есть своя часть workflow, модели данных, API и интеграций. Поэтому реальный change может соединять элементы сразу нескольких функциональных областей. Границы ФО помогают организовать знания, но не ограничивают границы изменения.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нашей реализации master specification адресуется корневой папкой документов целиком. Навигационный слой помогает понять структуру сервиса, найти материалы нужной области и собрать контекст для изменения. Supporting skills адаптированы к этому контракту; lifecycle и change-артефакты не меняются. Дальше этот процесс можно улучшать через более точные связи и кристаллизацию контекста.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1 подключает существующую документацию через init-master-spec. Путь 2 сохраняет обычный propose. Путь 3 создаёт change.md из уже изменённой ветки аналитика. После реализации apply работает на уровне всей folder-based specification: определяет несколько связанных документов, распределяет по ним изменения или проверяет уже внесённую дельту, затем актуализируется навигационный слой.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текущий результат спокойно: появился единый способ ориентироваться в docs-hub, собирать материалы разных форматов и фиксировать источники change. При этом процесс не считаем завершённым. Его можно развивать через более точные связи между документами и функциональными областями, улучшение отбора и кристаллизацию компактного контекста вокруг конкретной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позиция команды: это не обязательный стандарт и не утверждение, что другие структуры не работают. Мы адаптировали OpenSpec к уже существующей системе знаний, полностью перевели один сервис и постепенно переносим остальные области. Подход продолжаем проверять на реальных изменениях, улучшая навигацию, связи и формирование контекста.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Позиционировать выборочно, без призыва использовать для каждого change. Сейчас аналитики предпочитают основной propose-путь — это нормально. change-from-diff полезен, когда дельта уже существует в Git: в простых случаях он сокращает повторное описание, в сложных помогает собрать распределённое целевое состояние, связанный контекст и вопросы в единый change.md. Результат обязательно проверяется аналитиком.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0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4" name="S0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5" name="S0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7" name="S01_HeroCircle1"/>
          <p:cNvSpPr/>
          <p:nvPr/>
        </p:nvSpPr>
        <p:spPr>
          <a:xfrm>
            <a:off x="8366760" y="-411480"/>
            <a:ext cx="4297680" cy="4297680"/>
          </a:xfrm>
          <a:prstGeom prst="ellipse">
            <a:avLst/>
          </a:prstGeom>
          <a:solidFill>
            <a:srgbClr val="EAF0FF">
              <a:alpha val="90000"/>
            </a:srgbClr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8" name="S01_HeroCircle2"/>
          <p:cNvSpPr/>
          <p:nvPr/>
        </p:nvSpPr>
        <p:spPr>
          <a:xfrm>
            <a:off x="9281160" y="320040"/>
            <a:ext cx="3108960" cy="3108960"/>
          </a:xfrm>
          <a:prstGeom prst="ellipse">
            <a:avLst/>
          </a:prstGeom>
          <a:solidFill>
            <a:srgbClr val="E5F8F6">
              <a:alpha val="95000"/>
            </a:srgbClr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" name="S01_HeroPill_Bg"/>
          <p:cNvSpPr/>
          <p:nvPr/>
        </p:nvSpPr>
        <p:spPr>
          <a:xfrm>
            <a:off x="658368" y="566928"/>
            <a:ext cx="234086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01_HeroPill_Text"/>
          <p:cNvSpPr/>
          <p:nvPr/>
        </p:nvSpPr>
        <p:spPr>
          <a:xfrm>
            <a:off x="658368" y="571500"/>
            <a:ext cx="2340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· OPENSPEC · BROWNFIELD</a:t>
            </a:r>
            <a:endParaRPr lang="en-US" sz="1020" dirty="0"/>
          </a:p>
        </p:txBody>
      </p:sp>
      <p:sp>
        <p:nvSpPr>
          <p:cNvPr id="11" name="S01_HeroTitle"/>
          <p:cNvSpPr/>
          <p:nvPr/>
        </p:nvSpPr>
        <p:spPr>
          <a:xfrm>
            <a:off x="658368" y="117043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 масштабе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большого brownfield-сервиса</a:t>
            </a:r>
            <a:endParaRPr lang="en-US" sz="3150" dirty="0"/>
          </a:p>
        </p:txBody>
      </p:sp>
      <p:sp>
        <p:nvSpPr>
          <p:cNvPr id="12" name="S01_HeroSubtitle"/>
          <p:cNvSpPr/>
          <p:nvPr/>
        </p:nvSpPr>
        <p:spPr>
          <a:xfrm>
            <a:off x="676656" y="2907792"/>
            <a:ext cx="6629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Путь от Confluence к folder-based master specification в Git</a:t>
            </a:r>
            <a:endParaRPr lang="en-US" sz="1750" dirty="0"/>
          </a:p>
        </p:txBody>
      </p:sp>
      <p:sp>
        <p:nvSpPr>
          <p:cNvPr id="13" name="S01_HeroStatementCard"/>
          <p:cNvSpPr/>
          <p:nvPr/>
        </p:nvSpPr>
        <p:spPr>
          <a:xfrm>
            <a:off x="658368" y="3703320"/>
            <a:ext cx="6748272" cy="1170432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9050" dist="50800" dir="2700000">
              <a:srgbClr val="22304A">
                <a:alpha val="12000"/>
              </a:srgbClr>
            </a:outerShdw>
          </a:effectLst>
        </p:spPr>
      </p:sp>
      <p:sp>
        <p:nvSpPr>
          <p:cNvPr id="14" name="S01_HeroStatementAccent"/>
          <p:cNvSpPr/>
          <p:nvPr/>
        </p:nvSpPr>
        <p:spPr>
          <a:xfrm>
            <a:off x="658368" y="37033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S01_HeroStatement"/>
          <p:cNvSpPr/>
          <p:nvPr/>
        </p:nvSpPr>
        <p:spPr>
          <a:xfrm>
            <a:off x="987552" y="3904488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Тот же OpenSpec lifecycle.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= folder.</a:t>
            </a:r>
            <a:endParaRPr lang="en-US" sz="2100" dirty="0"/>
          </a:p>
        </p:txBody>
      </p:sp>
      <p:sp>
        <p:nvSpPr>
          <p:cNvPr id="16" name="S01_HeroVisualCard"/>
          <p:cNvSpPr/>
          <p:nvPr/>
        </p:nvSpPr>
        <p:spPr>
          <a:xfrm>
            <a:off x="7973568" y="1234440"/>
            <a:ext cx="3401568" cy="41605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22304A">
                <a:alpha val="1200000000"/>
              </a:srgbClr>
            </a:outerShdw>
          </a:effectLst>
        </p:spPr>
      </p:sp>
      <p:sp>
        <p:nvSpPr>
          <p:cNvPr id="17" name="S01_HeroFolder_Body"/>
          <p:cNvSpPr/>
          <p:nvPr/>
        </p:nvSpPr>
        <p:spPr>
          <a:xfrm>
            <a:off x="8302752" y="1762597"/>
            <a:ext cx="713232" cy="413675"/>
          </a:xfrm>
          <a:prstGeom prst="roundRect">
            <a:avLst>
              <a:gd name="adj" fmla="val 88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S01_HeroFolder_Tab"/>
          <p:cNvSpPr/>
          <p:nvPr/>
        </p:nvSpPr>
        <p:spPr>
          <a:xfrm>
            <a:off x="8375904" y="1645920"/>
            <a:ext cx="328087" cy="201534"/>
          </a:xfrm>
          <a:prstGeom prst="roundRect">
            <a:avLst>
              <a:gd name="adj" fmla="val 1361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1_HeroFolderLabel"/>
          <p:cNvSpPr/>
          <p:nvPr/>
        </p:nvSpPr>
        <p:spPr>
          <a:xfrm>
            <a:off x="9180576" y="1673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00" dirty="0"/>
          </a:p>
        </p:txBody>
      </p:sp>
      <p:sp>
        <p:nvSpPr>
          <p:cNvPr id="20" name="S01_HeroFile1_Page"/>
          <p:cNvSpPr/>
          <p:nvPr/>
        </p:nvSpPr>
        <p:spPr>
          <a:xfrm>
            <a:off x="8339328" y="2395728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01_HeroFile1_Line1"/>
          <p:cNvSpPr/>
          <p:nvPr/>
        </p:nvSpPr>
        <p:spPr>
          <a:xfrm>
            <a:off x="8416138" y="2555748"/>
            <a:ext cx="230429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2" name="S01_HeroFile1_Line2"/>
          <p:cNvSpPr/>
          <p:nvPr/>
        </p:nvSpPr>
        <p:spPr>
          <a:xfrm>
            <a:off x="8416138" y="2647188"/>
            <a:ext cx="199705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3" name="S01_HeroFile1_Line3"/>
          <p:cNvSpPr/>
          <p:nvPr/>
        </p:nvSpPr>
        <p:spPr>
          <a:xfrm>
            <a:off x="8416138" y="2738628"/>
            <a:ext cx="161300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4" name="S01_HeroFileLabel1"/>
          <p:cNvSpPr/>
          <p:nvPr/>
        </p:nvSpPr>
        <p:spPr>
          <a:xfrm>
            <a:off x="8915400" y="24963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50" dirty="0"/>
          </a:p>
        </p:txBody>
      </p:sp>
      <p:sp>
        <p:nvSpPr>
          <p:cNvPr id="25" name="S01_HeroFile2_Page"/>
          <p:cNvSpPr/>
          <p:nvPr/>
        </p:nvSpPr>
        <p:spPr>
          <a:xfrm>
            <a:off x="8339328" y="301752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01_HeroFile2_Line1"/>
          <p:cNvSpPr/>
          <p:nvPr/>
        </p:nvSpPr>
        <p:spPr>
          <a:xfrm>
            <a:off x="8416138" y="3177540"/>
            <a:ext cx="230429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7" name="S01_HeroFile2_Line2"/>
          <p:cNvSpPr/>
          <p:nvPr/>
        </p:nvSpPr>
        <p:spPr>
          <a:xfrm>
            <a:off x="8416138" y="3268980"/>
            <a:ext cx="199705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8" name="S01_HeroFile2_Line3"/>
          <p:cNvSpPr/>
          <p:nvPr/>
        </p:nvSpPr>
        <p:spPr>
          <a:xfrm>
            <a:off x="8416138" y="3360420"/>
            <a:ext cx="161300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9" name="S01_HeroFileLabel2"/>
          <p:cNvSpPr/>
          <p:nvPr/>
        </p:nvSpPr>
        <p:spPr>
          <a:xfrm>
            <a:off x="8915400" y="3118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 · data/</a:t>
            </a:r>
            <a:endParaRPr lang="en-US" sz="1150" dirty="0"/>
          </a:p>
        </p:txBody>
      </p:sp>
      <p:sp>
        <p:nvSpPr>
          <p:cNvPr id="30" name="S01_HeroFile3_Page"/>
          <p:cNvSpPr/>
          <p:nvPr/>
        </p:nvSpPr>
        <p:spPr>
          <a:xfrm>
            <a:off x="8339328" y="363931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1_HeroFile3_Line1"/>
          <p:cNvSpPr/>
          <p:nvPr/>
        </p:nvSpPr>
        <p:spPr>
          <a:xfrm>
            <a:off x="8416138" y="3799332"/>
            <a:ext cx="230429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2" name="S01_HeroFile3_Line2"/>
          <p:cNvSpPr/>
          <p:nvPr/>
        </p:nvSpPr>
        <p:spPr>
          <a:xfrm>
            <a:off x="8416138" y="3890772"/>
            <a:ext cx="199705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3" name="S01_HeroFile3_Line3"/>
          <p:cNvSpPr/>
          <p:nvPr/>
        </p:nvSpPr>
        <p:spPr>
          <a:xfrm>
            <a:off x="8416138" y="3982212"/>
            <a:ext cx="161300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4" name="S01_HeroFileLabel3"/>
          <p:cNvSpPr/>
          <p:nvPr/>
        </p:nvSpPr>
        <p:spPr>
          <a:xfrm>
            <a:off x="8915400" y="37398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DBML</a:t>
            </a:r>
            <a:endParaRPr lang="en-US" sz="1150" dirty="0"/>
          </a:p>
        </p:txBody>
      </p:sp>
      <p:sp>
        <p:nvSpPr>
          <p:cNvPr id="35" name="S01_HeroIndexLink"/>
          <p:cNvSpPr/>
          <p:nvPr/>
        </p:nvSpPr>
        <p:spPr>
          <a:xfrm>
            <a:off x="8659368" y="4370832"/>
            <a:ext cx="1856232" cy="914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1_HeroIndexPill_Bg"/>
          <p:cNvSpPr/>
          <p:nvPr/>
        </p:nvSpPr>
        <p:spPr>
          <a:xfrm>
            <a:off x="8339328" y="4599432"/>
            <a:ext cx="2395728" cy="438912"/>
          </a:xfrm>
          <a:prstGeom prst="roundRect">
            <a:avLst>
              <a:gd name="adj" fmla="val 16667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37" name="S01_HeroIndexPill_Text"/>
          <p:cNvSpPr/>
          <p:nvPr/>
        </p:nvSpPr>
        <p:spPr>
          <a:xfrm>
            <a:off x="8339328" y="4604004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карта связей</a:t>
            </a:r>
            <a:endParaRPr lang="en-US" sz="1150" dirty="0"/>
          </a:p>
        </p:txBody>
      </p:sp>
      <p:sp>
        <p:nvSpPr>
          <p:cNvPr id="38" name="S01_HeroBottomPill1_Bg"/>
          <p:cNvSpPr/>
          <p:nvPr/>
        </p:nvSpPr>
        <p:spPr>
          <a:xfrm>
            <a:off x="658368" y="5285232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1_HeroBottomPill1_Text"/>
          <p:cNvSpPr/>
          <p:nvPr/>
        </p:nvSpPr>
        <p:spPr>
          <a:xfrm>
            <a:off x="658368" y="52898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тот же change-first процесс</a:t>
            </a:r>
            <a:endParaRPr lang="en-US" sz="1060" dirty="0"/>
          </a:p>
        </p:txBody>
      </p:sp>
      <p:sp>
        <p:nvSpPr>
          <p:cNvPr id="40" name="S01_HeroBottomPill2_Bg"/>
          <p:cNvSpPr/>
          <p:nvPr/>
        </p:nvSpPr>
        <p:spPr>
          <a:xfrm>
            <a:off x="2944368" y="5285232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1_HeroBottomPill2_Text"/>
          <p:cNvSpPr/>
          <p:nvPr/>
        </p:nvSpPr>
        <p:spPr>
          <a:xfrm>
            <a:off x="2944368" y="528980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все master specs в docs-hub</a:t>
            </a:r>
            <a:endParaRPr lang="en-US" sz="1060" dirty="0"/>
          </a:p>
        </p:txBody>
      </p:sp>
      <p:sp>
        <p:nvSpPr>
          <p:cNvPr id="42" name="S01_HeroBottomPill3_Bg"/>
          <p:cNvSpPr/>
          <p:nvPr/>
        </p:nvSpPr>
        <p:spPr>
          <a:xfrm>
            <a:off x="5449824" y="5285232"/>
            <a:ext cx="195681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1_HeroBottomPill3_Text"/>
          <p:cNvSpPr/>
          <p:nvPr/>
        </p:nvSpPr>
        <p:spPr>
          <a:xfrm>
            <a:off x="5449824" y="528980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постепенное внедрение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КОНТЕКСТ</a:t>
            </a:r>
            <a:endParaRPr lang="en-US" sz="850" dirty="0"/>
          </a:p>
        </p:txBody>
      </p:sp>
      <p:sp>
        <p:nvSpPr>
          <p:cNvPr id="4" name="S0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Документация уже является частью delivery-процесса</a:t>
            </a:r>
            <a:endParaRPr lang="en-US" sz="2850" dirty="0"/>
          </a:p>
        </p:txBody>
      </p:sp>
      <p:sp>
        <p:nvSpPr>
          <p:cNvPr id="5" name="S0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меняется описание поведения — затем код.</a:t>
            </a:r>
            <a:endParaRPr lang="en-US" sz="1320" dirty="0"/>
          </a:p>
        </p:txBody>
      </p:sp>
      <p:sp>
        <p:nvSpPr>
          <p:cNvPr id="6" name="S0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8" name="S0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2_MetricYears_Card"/>
          <p:cNvSpPr/>
          <p:nvPr/>
        </p:nvSpPr>
        <p:spPr>
          <a:xfrm>
            <a:off x="658368" y="1444752"/>
            <a:ext cx="23774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2_MetricYears_Accent"/>
          <p:cNvSpPr/>
          <p:nvPr/>
        </p:nvSpPr>
        <p:spPr>
          <a:xfrm>
            <a:off x="658368" y="1444752"/>
            <a:ext cx="73152" cy="9418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2_MetricYears_Number"/>
          <p:cNvSpPr/>
          <p:nvPr/>
        </p:nvSpPr>
        <p:spPr>
          <a:xfrm>
            <a:off x="877824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400" dirty="0"/>
          </a:p>
        </p:txBody>
      </p:sp>
      <p:sp>
        <p:nvSpPr>
          <p:cNvPr id="13" name="S02_MetricYears_Label"/>
          <p:cNvSpPr/>
          <p:nvPr/>
        </p:nvSpPr>
        <p:spPr>
          <a:xfrm>
            <a:off x="1828800" y="158191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года развития проекта</a:t>
            </a:r>
            <a:endParaRPr lang="en-US" sz="1250" dirty="0"/>
          </a:p>
        </p:txBody>
      </p:sp>
      <p:sp>
        <p:nvSpPr>
          <p:cNvPr id="14" name="S02_MetricServices_Card"/>
          <p:cNvSpPr/>
          <p:nvPr/>
        </p:nvSpPr>
        <p:spPr>
          <a:xfrm>
            <a:off x="3200400" y="1444752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2_MetricServices_Accent"/>
          <p:cNvSpPr/>
          <p:nvPr/>
        </p:nvSpPr>
        <p:spPr>
          <a:xfrm>
            <a:off x="3200400" y="1444752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S02_MetricServices_Number"/>
          <p:cNvSpPr/>
          <p:nvPr/>
        </p:nvSpPr>
        <p:spPr>
          <a:xfrm>
            <a:off x="3419856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S02_MetricServices_Label"/>
          <p:cNvSpPr/>
          <p:nvPr/>
        </p:nvSpPr>
        <p:spPr>
          <a:xfrm>
            <a:off x="4370832" y="1581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сервисов и библиотек</a:t>
            </a:r>
            <a:endParaRPr lang="en-US" sz="1250" dirty="0"/>
          </a:p>
        </p:txBody>
      </p:sp>
      <p:sp>
        <p:nvSpPr>
          <p:cNvPr id="18" name="S02_MetricSequence_Card"/>
          <p:cNvSpPr/>
          <p:nvPr/>
        </p:nvSpPr>
        <p:spPr>
          <a:xfrm>
            <a:off x="5907024" y="1444752"/>
            <a:ext cx="30632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2_MetricSequence_Accent"/>
          <p:cNvSpPr/>
          <p:nvPr/>
        </p:nvSpPr>
        <p:spPr>
          <a:xfrm>
            <a:off x="5907024" y="1444752"/>
            <a:ext cx="73152" cy="941832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0" name="S02_MetricSequence_Number"/>
          <p:cNvSpPr/>
          <p:nvPr/>
        </p:nvSpPr>
        <p:spPr>
          <a:xfrm>
            <a:off x="6126480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 → CODE</a:t>
            </a:r>
            <a:endParaRPr lang="en-US" sz="2400" dirty="0"/>
          </a:p>
        </p:txBody>
      </p:sp>
      <p:sp>
        <p:nvSpPr>
          <p:cNvPr id="21" name="S02_MetricSequence_Label"/>
          <p:cNvSpPr/>
          <p:nvPr/>
        </p:nvSpPr>
        <p:spPr>
          <a:xfrm>
            <a:off x="7077456" y="15819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описания предшествует коду</a:t>
            </a:r>
            <a:endParaRPr lang="en-US" sz="1250" dirty="0"/>
          </a:p>
        </p:txBody>
      </p:sp>
      <p:sp>
        <p:nvSpPr>
          <p:cNvPr id="22" name="S02_BugException_Bg"/>
          <p:cNvSpPr/>
          <p:nvPr/>
        </p:nvSpPr>
        <p:spPr>
          <a:xfrm>
            <a:off x="9144000" y="1591056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3" name="S02_BugException_Text"/>
          <p:cNvSpPr/>
          <p:nvPr/>
        </p:nvSpPr>
        <p:spPr>
          <a:xfrm>
            <a:off x="9144000" y="1595628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кроме исправления багов</a:t>
            </a:r>
            <a:endParaRPr lang="en-US" sz="1120" dirty="0"/>
          </a:p>
        </p:txBody>
      </p:sp>
      <p:sp>
        <p:nvSpPr>
          <p:cNvPr id="24" name="S02_CurrentFlow1_Card"/>
          <p:cNvSpPr/>
          <p:nvPr/>
        </p:nvSpPr>
        <p:spPr>
          <a:xfrm>
            <a:off x="658368" y="2889504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5" name="S02_CurrentFlow1_Dot"/>
          <p:cNvSpPr/>
          <p:nvPr/>
        </p:nvSpPr>
        <p:spPr>
          <a:xfrm>
            <a:off x="77724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S02_CurrentFlow1_Title"/>
          <p:cNvSpPr/>
          <p:nvPr/>
        </p:nvSpPr>
        <p:spPr>
          <a:xfrm>
            <a:off x="1078992" y="29809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</a:t>
            </a:r>
            <a:endParaRPr lang="en-US" sz="1250" dirty="0"/>
          </a:p>
        </p:txBody>
      </p:sp>
      <p:sp>
        <p:nvSpPr>
          <p:cNvPr id="27" name="S02_CurrentFlow1_Subtitle"/>
          <p:cNvSpPr/>
          <p:nvPr/>
        </p:nvSpPr>
        <p:spPr>
          <a:xfrm>
            <a:off x="1078992" y="329184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формулирует изменение</a:t>
            </a:r>
            <a:endParaRPr lang="en-US" sz="1050" dirty="0"/>
          </a:p>
        </p:txBody>
      </p:sp>
      <p:sp>
        <p:nvSpPr>
          <p:cNvPr id="28" name="S02_CurrentArrow1"/>
          <p:cNvSpPr/>
          <p:nvPr/>
        </p:nvSpPr>
        <p:spPr>
          <a:xfrm>
            <a:off x="2148840" y="3474720"/>
            <a:ext cx="173736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02_CurrentFlow2_Card"/>
          <p:cNvSpPr/>
          <p:nvPr/>
        </p:nvSpPr>
        <p:spPr>
          <a:xfrm>
            <a:off x="2395728" y="2889504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0" name="S02_CurrentFlow2_Dot"/>
          <p:cNvSpPr/>
          <p:nvPr/>
        </p:nvSpPr>
        <p:spPr>
          <a:xfrm>
            <a:off x="2514600" y="3026664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2_CurrentFlow2_Title"/>
          <p:cNvSpPr/>
          <p:nvPr/>
        </p:nvSpPr>
        <p:spPr>
          <a:xfrm>
            <a:off x="2816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2" name="S02_CurrentFlow2_Subtitle"/>
          <p:cNvSpPr/>
          <p:nvPr/>
        </p:nvSpPr>
        <p:spPr>
          <a:xfrm>
            <a:off x="2816352" y="329184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правка выделена цветом</a:t>
            </a:r>
            <a:endParaRPr lang="en-US" sz="1050" dirty="0"/>
          </a:p>
        </p:txBody>
      </p:sp>
      <p:sp>
        <p:nvSpPr>
          <p:cNvPr id="33" name="S02_CurrentArrow2"/>
          <p:cNvSpPr/>
          <p:nvPr/>
        </p:nvSpPr>
        <p:spPr>
          <a:xfrm>
            <a:off x="4462272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02_CurrentFlow3_Card"/>
          <p:cNvSpPr/>
          <p:nvPr/>
        </p:nvSpPr>
        <p:spPr>
          <a:xfrm>
            <a:off x="4718304" y="2889504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35" name="S02_CurrentFlow3_Dot"/>
          <p:cNvSpPr/>
          <p:nvPr/>
        </p:nvSpPr>
        <p:spPr>
          <a:xfrm>
            <a:off x="4837176" y="3026664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6" name="S02_CurrentFlow3_Title"/>
          <p:cNvSpPr/>
          <p:nvPr/>
        </p:nvSpPr>
        <p:spPr>
          <a:xfrm>
            <a:off x="5138928" y="29809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37" name="S02_CurrentFlow3_Subtitle"/>
          <p:cNvSpPr/>
          <p:nvPr/>
        </p:nvSpPr>
        <p:spPr>
          <a:xfrm>
            <a:off x="5138928" y="329184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согласовано для разработки</a:t>
            </a:r>
            <a:endParaRPr lang="en-US" sz="1050" dirty="0"/>
          </a:p>
        </p:txBody>
      </p:sp>
      <p:sp>
        <p:nvSpPr>
          <p:cNvPr id="38" name="S02_CurrentArrow3"/>
          <p:cNvSpPr/>
          <p:nvPr/>
        </p:nvSpPr>
        <p:spPr>
          <a:xfrm>
            <a:off x="6620256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9" name="S02_CurrentFlow4_Card"/>
          <p:cNvSpPr/>
          <p:nvPr/>
        </p:nvSpPr>
        <p:spPr>
          <a:xfrm>
            <a:off x="6876288" y="2889504"/>
            <a:ext cx="1737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40" name="S02_CurrentFlow4_Dot"/>
          <p:cNvSpPr/>
          <p:nvPr/>
        </p:nvSpPr>
        <p:spPr>
          <a:xfrm>
            <a:off x="699516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S02_CurrentFlow4_Title"/>
          <p:cNvSpPr/>
          <p:nvPr/>
        </p:nvSpPr>
        <p:spPr>
          <a:xfrm>
            <a:off x="7296912" y="29809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2" name="S02_CurrentFlow4_Subtitle"/>
          <p:cNvSpPr/>
          <p:nvPr/>
        </p:nvSpPr>
        <p:spPr>
          <a:xfrm>
            <a:off x="7296912" y="32918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в коде</a:t>
            </a:r>
            <a:endParaRPr lang="en-US" sz="1050" dirty="0"/>
          </a:p>
        </p:txBody>
      </p:sp>
      <p:sp>
        <p:nvSpPr>
          <p:cNvPr id="43" name="S02_CurrentArrow4"/>
          <p:cNvSpPr/>
          <p:nvPr/>
        </p:nvSpPr>
        <p:spPr>
          <a:xfrm>
            <a:off x="8686800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44" name="S02_CurrentFlow5_Card"/>
          <p:cNvSpPr/>
          <p:nvPr/>
        </p:nvSpPr>
        <p:spPr>
          <a:xfrm>
            <a:off x="8942832" y="2889504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45" name="S02_CurrentFlow5_Dot"/>
          <p:cNvSpPr/>
          <p:nvPr/>
        </p:nvSpPr>
        <p:spPr>
          <a:xfrm>
            <a:off x="9061704" y="3026664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2_CurrentFlow5_Title"/>
          <p:cNvSpPr/>
          <p:nvPr/>
        </p:nvSpPr>
        <p:spPr>
          <a:xfrm>
            <a:off x="9363456" y="298094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Актуальная master spec</a:t>
            </a:r>
            <a:endParaRPr lang="en-US" sz="1250" dirty="0"/>
          </a:p>
        </p:txBody>
      </p:sp>
      <p:sp>
        <p:nvSpPr>
          <p:cNvPr id="47" name="S02_CurrentFlow5_Subtitle"/>
          <p:cNvSpPr/>
          <p:nvPr/>
        </p:nvSpPr>
        <p:spPr>
          <a:xfrm>
            <a:off x="9363456" y="3291840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цветовая разметка снята</a:t>
            </a:r>
            <a:endParaRPr lang="en-US" sz="1050" dirty="0"/>
          </a:p>
        </p:txBody>
      </p:sp>
      <p:sp>
        <p:nvSpPr>
          <p:cNvPr id="48" name="S02_DeliveryThesisCard"/>
          <p:cNvSpPr/>
          <p:nvPr/>
        </p:nvSpPr>
        <p:spPr>
          <a:xfrm>
            <a:off x="658368" y="4526280"/>
            <a:ext cx="10844784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9" name="S02_DeliveryThesis"/>
          <p:cNvSpPr/>
          <p:nvPr/>
        </p:nvSpPr>
        <p:spPr>
          <a:xfrm>
            <a:off x="1024128" y="47548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— не отчёт после разработки, а вход в разработку.</a:t>
            </a:r>
            <a:endParaRPr lang="en-US" sz="1950" dirty="0"/>
          </a:p>
        </p:txBody>
      </p:sp>
      <p:sp>
        <p:nvSpPr>
          <p:cNvPr id="50" name="S02_DeliverySoT_Bg"/>
          <p:cNvSpPr/>
          <p:nvPr/>
        </p:nvSpPr>
        <p:spPr>
          <a:xfrm>
            <a:off x="8595360" y="4754880"/>
            <a:ext cx="24414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2_DeliverySoT_Text"/>
          <p:cNvSpPr/>
          <p:nvPr/>
        </p:nvSpPr>
        <p:spPr>
          <a:xfrm>
            <a:off x="8595360" y="4759452"/>
            <a:ext cx="2441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of truth уже существует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3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 ЗНАНИЯ</a:t>
            </a:r>
            <a:endParaRPr lang="en-US" sz="850" dirty="0"/>
          </a:p>
        </p:txBody>
      </p:sp>
      <p:sp>
        <p:nvSpPr>
          <p:cNvPr id="4" name="S03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— это система документов</a:t>
            </a:r>
            <a:endParaRPr lang="en-US" sz="2850" dirty="0"/>
          </a:p>
        </p:txBody>
      </p:sp>
      <p:sp>
        <p:nvSpPr>
          <p:cNvPr id="5" name="S03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связывает процессы, данные, UI и интеграции.</a:t>
            </a:r>
            <a:endParaRPr lang="en-US" sz="1320" dirty="0"/>
          </a:p>
        </p:txBody>
      </p:sp>
      <p:sp>
        <p:nvSpPr>
          <p:cNvPr id="6" name="S03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3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8" name="S03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3_BranchProcess"/>
          <p:cNvSpPr/>
          <p:nvPr/>
        </p:nvSpPr>
        <p:spPr>
          <a:xfrm flipH="1" flipV="1">
            <a:off x="3630168" y="2112264"/>
            <a:ext cx="1014984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1" name="S03_BranchIntegration"/>
          <p:cNvSpPr/>
          <p:nvPr/>
        </p:nvSpPr>
        <p:spPr>
          <a:xfrm flipV="1">
            <a:off x="7552944" y="2112264"/>
            <a:ext cx="1005840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2" name="S03_BranchDictionary"/>
          <p:cNvSpPr/>
          <p:nvPr/>
        </p:nvSpPr>
        <p:spPr>
          <a:xfrm flipH="1">
            <a:off x="3630168" y="3694176"/>
            <a:ext cx="1014984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3" name="S03_BranchUI"/>
          <p:cNvSpPr/>
          <p:nvPr/>
        </p:nvSpPr>
        <p:spPr>
          <a:xfrm>
            <a:off x="7552944" y="3694176"/>
            <a:ext cx="1005840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4" name="S03_BranchAlgorithms"/>
          <p:cNvSpPr/>
          <p:nvPr/>
        </p:nvSpPr>
        <p:spPr>
          <a:xfrm>
            <a:off x="6099048" y="4151376"/>
            <a:ext cx="914" cy="676656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5" name="S03_MasterSpecCenter"/>
          <p:cNvSpPr/>
          <p:nvPr/>
        </p:nvSpPr>
        <p:spPr>
          <a:xfrm>
            <a:off x="4645152" y="2304288"/>
            <a:ext cx="2907792" cy="1847088"/>
          </a:xfrm>
          <a:prstGeom prst="roundRect">
            <a:avLst>
              <a:gd name="adj" fmla="val 396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22304A">
                <a:alpha val="120000000000000"/>
              </a:srgbClr>
            </a:outerShdw>
          </a:effectLst>
        </p:spPr>
      </p:sp>
      <p:sp>
        <p:nvSpPr>
          <p:cNvPr id="16" name="S03_MasterSpecService_Bg"/>
          <p:cNvSpPr/>
          <p:nvPr/>
        </p:nvSpPr>
        <p:spPr>
          <a:xfrm>
            <a:off x="5175504" y="256032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3_MasterSpecService_Text"/>
          <p:cNvSpPr/>
          <p:nvPr/>
        </p:nvSpPr>
        <p:spPr>
          <a:xfrm>
            <a:off x="5175504" y="2564892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</a:t>
            </a:r>
            <a:endParaRPr lang="en-US" sz="1050" dirty="0"/>
          </a:p>
        </p:txBody>
      </p:sp>
      <p:sp>
        <p:nvSpPr>
          <p:cNvPr id="18" name="S03_MasterSpecCenterText"/>
          <p:cNvSpPr/>
          <p:nvPr/>
        </p:nvSpPr>
        <p:spPr>
          <a:xfrm>
            <a:off x="4992624" y="3063240"/>
            <a:ext cx="22128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SPECIFICATION</a:t>
            </a:r>
            <a:endParaRPr lang="en-US" sz="2000" dirty="0"/>
          </a:p>
        </p:txBody>
      </p:sp>
      <p:sp>
        <p:nvSpPr>
          <p:cNvPr id="19" name="S03_BranchCard1"/>
          <p:cNvSpPr/>
          <p:nvPr/>
        </p:nvSpPr>
        <p:spPr>
          <a:xfrm>
            <a:off x="658368" y="162763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S03_BranchMetric1"/>
          <p:cNvSpPr/>
          <p:nvPr/>
        </p:nvSpPr>
        <p:spPr>
          <a:xfrm>
            <a:off x="859536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21" name="S03_BranchTitle1"/>
          <p:cNvSpPr/>
          <p:nvPr/>
        </p:nvSpPr>
        <p:spPr>
          <a:xfrm>
            <a:off x="1609344" y="1783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бизнес-процессов</a:t>
            </a:r>
            <a:endParaRPr lang="en-US" sz="1350" dirty="0"/>
          </a:p>
        </p:txBody>
      </p:sp>
      <p:sp>
        <p:nvSpPr>
          <p:cNvPr id="22" name="S03_BranchSubtitle1"/>
          <p:cNvSpPr/>
          <p:nvPr/>
        </p:nvSpPr>
        <p:spPr>
          <a:xfrm>
            <a:off x="1609344" y="21305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шагов в каждом</a:t>
            </a:r>
            <a:endParaRPr lang="en-US" sz="1050" dirty="0"/>
          </a:p>
        </p:txBody>
      </p:sp>
      <p:sp>
        <p:nvSpPr>
          <p:cNvPr id="23" name="S03_BranchCard2"/>
          <p:cNvSpPr/>
          <p:nvPr/>
        </p:nvSpPr>
        <p:spPr>
          <a:xfrm>
            <a:off x="8558784" y="162763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4" name="S03_BranchMetric2"/>
          <p:cNvSpPr/>
          <p:nvPr/>
        </p:nvSpPr>
        <p:spPr>
          <a:xfrm>
            <a:off x="8759952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S03_BranchTitle2"/>
          <p:cNvSpPr/>
          <p:nvPr/>
        </p:nvSpPr>
        <p:spPr>
          <a:xfrm>
            <a:off x="9509760" y="1783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интеграций</a:t>
            </a:r>
            <a:endParaRPr lang="en-US" sz="1350" dirty="0"/>
          </a:p>
        </p:txBody>
      </p:sp>
      <p:sp>
        <p:nvSpPr>
          <p:cNvPr id="26" name="S03_BranchSubtitle2"/>
          <p:cNvSpPr/>
          <p:nvPr/>
        </p:nvSpPr>
        <p:spPr>
          <a:xfrm>
            <a:off x="9509760" y="213055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 + контракты</a:t>
            </a:r>
            <a:endParaRPr lang="en-US" sz="1050" dirty="0"/>
          </a:p>
        </p:txBody>
      </p:sp>
      <p:sp>
        <p:nvSpPr>
          <p:cNvPr id="27" name="S03_BranchCard3"/>
          <p:cNvSpPr/>
          <p:nvPr/>
        </p:nvSpPr>
        <p:spPr>
          <a:xfrm>
            <a:off x="658368" y="382219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28" name="S03_BranchMetric3"/>
          <p:cNvSpPr/>
          <p:nvPr/>
        </p:nvSpPr>
        <p:spPr>
          <a:xfrm>
            <a:off x="859536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50+</a:t>
            </a:r>
            <a:endParaRPr lang="en-US" sz="2200" dirty="0"/>
          </a:p>
        </p:txBody>
      </p:sp>
      <p:sp>
        <p:nvSpPr>
          <p:cNvPr id="29" name="S03_BranchTitle3"/>
          <p:cNvSpPr/>
          <p:nvPr/>
        </p:nvSpPr>
        <p:spPr>
          <a:xfrm>
            <a:off x="1609344" y="397764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справочников</a:t>
            </a:r>
            <a:endParaRPr lang="en-US" sz="1350" dirty="0"/>
          </a:p>
        </p:txBody>
      </p:sp>
      <p:sp>
        <p:nvSpPr>
          <p:cNvPr id="30" name="S03_BranchSubtitle3"/>
          <p:cNvSpPr/>
          <p:nvPr/>
        </p:nvSpPr>
        <p:spPr>
          <a:xfrm>
            <a:off x="1609344" y="432511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— отдельная сущность</a:t>
            </a:r>
            <a:endParaRPr lang="en-US" sz="1050" dirty="0"/>
          </a:p>
        </p:txBody>
      </p:sp>
      <p:sp>
        <p:nvSpPr>
          <p:cNvPr id="31" name="S03_BranchCard4"/>
          <p:cNvSpPr/>
          <p:nvPr/>
        </p:nvSpPr>
        <p:spPr>
          <a:xfrm>
            <a:off x="8558784" y="382219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2" name="S03_BranchMetric4"/>
          <p:cNvSpPr/>
          <p:nvPr/>
        </p:nvSpPr>
        <p:spPr>
          <a:xfrm>
            <a:off x="8759952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200" dirty="0"/>
          </a:p>
        </p:txBody>
      </p:sp>
      <p:sp>
        <p:nvSpPr>
          <p:cNvPr id="33" name="S03_BranchTitle4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форм UI</a:t>
            </a:r>
            <a:endParaRPr lang="en-US" sz="1350" dirty="0"/>
          </a:p>
        </p:txBody>
      </p:sp>
      <p:sp>
        <p:nvSpPr>
          <p:cNvPr id="34" name="S03_BranchSubtitle4"/>
          <p:cNvSpPr/>
          <p:nvPr/>
        </p:nvSpPr>
        <p:spPr>
          <a:xfrm>
            <a:off x="9509760" y="432511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и действия</a:t>
            </a:r>
            <a:endParaRPr lang="en-US" sz="1050" dirty="0"/>
          </a:p>
        </p:txBody>
      </p:sp>
      <p:sp>
        <p:nvSpPr>
          <p:cNvPr id="35" name="S03_BranchCard5"/>
          <p:cNvSpPr/>
          <p:nvPr/>
        </p:nvSpPr>
        <p:spPr>
          <a:xfrm>
            <a:off x="4389120" y="482803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36" name="S03_BranchMetric5"/>
          <p:cNvSpPr/>
          <p:nvPr/>
        </p:nvSpPr>
        <p:spPr>
          <a:xfrm>
            <a:off x="4590288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37" name="S03_BranchTitle5"/>
          <p:cNvSpPr/>
          <p:nvPr/>
        </p:nvSpPr>
        <p:spPr>
          <a:xfrm>
            <a:off x="5340096" y="49834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алгоритмов действий UI</a:t>
            </a:r>
            <a:endParaRPr lang="en-US" sz="1350" dirty="0"/>
          </a:p>
        </p:txBody>
      </p:sp>
      <p:sp>
        <p:nvSpPr>
          <p:cNvPr id="38" name="S03_PilotPill_Bg"/>
          <p:cNvSpPr/>
          <p:nvPr/>
        </p:nvSpPr>
        <p:spPr>
          <a:xfrm>
            <a:off x="658368" y="589788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_PilotPill_Text"/>
          <p:cNvSpPr/>
          <p:nvPr/>
        </p:nvSpPr>
        <p:spPr>
          <a:xfrm>
            <a:off x="658368" y="5902452"/>
            <a:ext cx="4681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invest-dkz · ≈100 MD-документов · 18 workflow</a:t>
            </a:r>
            <a:endParaRPr lang="en-US" sz="1080" dirty="0"/>
          </a:p>
        </p:txBody>
      </p:sp>
      <p:sp>
        <p:nvSpPr>
          <p:cNvPr id="40" name="S03_FormatsPill_Bg"/>
          <p:cNvSpPr/>
          <p:nvPr/>
        </p:nvSpPr>
        <p:spPr>
          <a:xfrm>
            <a:off x="5532120" y="5897880"/>
            <a:ext cx="597103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_FormatsPill_Text"/>
          <p:cNvSpPr/>
          <p:nvPr/>
        </p:nvSpPr>
        <p:spPr>
          <a:xfrm>
            <a:off x="5532120" y="5902452"/>
            <a:ext cx="5971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 · настройки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4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ПОДГОТОВКА ОСНОВЫ</a:t>
            </a:r>
            <a:endParaRPr lang="en-US" sz="850" dirty="0"/>
          </a:p>
        </p:txBody>
      </p:sp>
      <p:sp>
        <p:nvSpPr>
          <p:cNvPr id="4" name="S04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Сначала создали основу для автоматизации: MD + Git</a:t>
            </a:r>
            <a:endParaRPr lang="en-US" sz="2850" dirty="0"/>
          </a:p>
        </p:txBody>
      </p:sp>
      <p:sp>
        <p:nvSpPr>
          <p:cNvPr id="5" name="S04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docs-hub — отдельный репозиторий, где будут жить master specifications всех сервисов.</a:t>
            </a:r>
            <a:endParaRPr lang="en-US" sz="1320" dirty="0"/>
          </a:p>
        </p:txBody>
      </p:sp>
      <p:sp>
        <p:nvSpPr>
          <p:cNvPr id="6" name="S04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4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30" dirty="0"/>
          </a:p>
        </p:txBody>
      </p:sp>
      <p:sp>
        <p:nvSpPr>
          <p:cNvPr id="8" name="S04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4_DocsJourney1_Card"/>
          <p:cNvSpPr/>
          <p:nvPr/>
        </p:nvSpPr>
        <p:spPr>
          <a:xfrm>
            <a:off x="65836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1" name="S04_DocsJourney1_Dot"/>
          <p:cNvSpPr/>
          <p:nvPr/>
        </p:nvSpPr>
        <p:spPr>
          <a:xfrm>
            <a:off x="777240" y="1764792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4_DocsJourney1_Title"/>
          <p:cNvSpPr/>
          <p:nvPr/>
        </p:nvSpPr>
        <p:spPr>
          <a:xfrm>
            <a:off x="107899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13" name="S04_DocsJourney1_Subtitle"/>
          <p:cNvSpPr/>
          <p:nvPr/>
        </p:nvSpPr>
        <p:spPr>
          <a:xfrm>
            <a:off x="107899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зрелая структурированная аналитика</a:t>
            </a:r>
            <a:endParaRPr lang="en-US" sz="1050" dirty="0"/>
          </a:p>
        </p:txBody>
      </p:sp>
      <p:sp>
        <p:nvSpPr>
          <p:cNvPr id="14" name="S04_DocsJourneyArrow1"/>
          <p:cNvSpPr/>
          <p:nvPr/>
        </p:nvSpPr>
        <p:spPr>
          <a:xfrm>
            <a:off x="263347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S04_DocsJourney2_Card"/>
          <p:cNvSpPr/>
          <p:nvPr/>
        </p:nvSpPr>
        <p:spPr>
          <a:xfrm>
            <a:off x="289864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16" name="S04_DocsJourney2_Dot"/>
          <p:cNvSpPr/>
          <p:nvPr/>
        </p:nvSpPr>
        <p:spPr>
          <a:xfrm>
            <a:off x="3017520" y="1764792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7" name="S04_DocsJourney2_Title"/>
          <p:cNvSpPr/>
          <p:nvPr/>
        </p:nvSpPr>
        <p:spPr>
          <a:xfrm>
            <a:off x="331927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+ Git</a:t>
            </a:r>
            <a:endParaRPr lang="en-US" sz="1250" dirty="0"/>
          </a:p>
        </p:txBody>
      </p:sp>
      <p:sp>
        <p:nvSpPr>
          <p:cNvPr id="18" name="S04_DocsJourney2_Subtitle"/>
          <p:cNvSpPr/>
          <p:nvPr/>
        </p:nvSpPr>
        <p:spPr>
          <a:xfrm>
            <a:off x="331927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версионирование · diff · review</a:t>
            </a:r>
            <a:endParaRPr lang="en-US" sz="1050" dirty="0"/>
          </a:p>
        </p:txBody>
      </p:sp>
      <p:sp>
        <p:nvSpPr>
          <p:cNvPr id="19" name="S04_DocsJourneyArrow2"/>
          <p:cNvSpPr/>
          <p:nvPr/>
        </p:nvSpPr>
        <p:spPr>
          <a:xfrm>
            <a:off x="487375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0" name="S04_DocsJourney3_Card"/>
          <p:cNvSpPr/>
          <p:nvPr/>
        </p:nvSpPr>
        <p:spPr>
          <a:xfrm>
            <a:off x="513892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1" name="S04_DocsJourney3_Dot"/>
          <p:cNvSpPr/>
          <p:nvPr/>
        </p:nvSpPr>
        <p:spPr>
          <a:xfrm>
            <a:off x="5257800" y="1764792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2" name="S04_DocsJourney3_Title"/>
          <p:cNvSpPr/>
          <p:nvPr/>
        </p:nvSpPr>
        <p:spPr>
          <a:xfrm>
            <a:off x="555955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docs-hub</a:t>
            </a:r>
            <a:endParaRPr lang="en-US" sz="1250" dirty="0"/>
          </a:p>
        </p:txBody>
      </p:sp>
      <p:sp>
        <p:nvSpPr>
          <p:cNvPr id="23" name="S04_DocsJourney3_Subtitle"/>
          <p:cNvSpPr/>
          <p:nvPr/>
        </p:nvSpPr>
        <p:spPr>
          <a:xfrm>
            <a:off x="555955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отдельный репозиторий документации</a:t>
            </a:r>
            <a:endParaRPr lang="en-US" sz="1050" dirty="0"/>
          </a:p>
        </p:txBody>
      </p:sp>
      <p:sp>
        <p:nvSpPr>
          <p:cNvPr id="24" name="S04_DocsJourneyArrow3"/>
          <p:cNvSpPr/>
          <p:nvPr/>
        </p:nvSpPr>
        <p:spPr>
          <a:xfrm>
            <a:off x="711403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4_DocsJourney4_Card"/>
          <p:cNvSpPr/>
          <p:nvPr/>
        </p:nvSpPr>
        <p:spPr>
          <a:xfrm>
            <a:off x="7379208" y="162763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26" name="S04_DocsJourney4_Dot"/>
          <p:cNvSpPr/>
          <p:nvPr/>
        </p:nvSpPr>
        <p:spPr>
          <a:xfrm>
            <a:off x="7498080" y="1764792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7" name="S04_DocsJourney4_Title"/>
          <p:cNvSpPr/>
          <p:nvPr/>
        </p:nvSpPr>
        <p:spPr>
          <a:xfrm>
            <a:off x="7799832" y="17190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specs</a:t>
            </a:r>
            <a:endParaRPr lang="en-US" sz="1250" dirty="0"/>
          </a:p>
        </p:txBody>
      </p:sp>
      <p:sp>
        <p:nvSpPr>
          <p:cNvPr id="28" name="S04_DocsJourney4_Subtitle"/>
          <p:cNvSpPr/>
          <p:nvPr/>
        </p:nvSpPr>
        <p:spPr>
          <a:xfrm>
            <a:off x="7799832" y="202996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папки сервисов и библиотек</a:t>
            </a:r>
            <a:endParaRPr lang="en-US" sz="1050" dirty="0"/>
          </a:p>
        </p:txBody>
      </p:sp>
      <p:sp>
        <p:nvSpPr>
          <p:cNvPr id="29" name="S04_DocsJourneyArrow4"/>
          <p:cNvSpPr/>
          <p:nvPr/>
        </p:nvSpPr>
        <p:spPr>
          <a:xfrm>
            <a:off x="9354312" y="2167128"/>
            <a:ext cx="210312" cy="914"/>
          </a:xfrm>
          <a:prstGeom prst="line">
            <a:avLst/>
          </a:prstGeom>
          <a:noFill/>
          <a:ln w="18415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S04_DocsJourney5_Card"/>
          <p:cNvSpPr/>
          <p:nvPr/>
        </p:nvSpPr>
        <p:spPr>
          <a:xfrm>
            <a:off x="9619488" y="1627632"/>
            <a:ext cx="18836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31" name="S04_DocsJourney5_Dot"/>
          <p:cNvSpPr/>
          <p:nvPr/>
        </p:nvSpPr>
        <p:spPr>
          <a:xfrm>
            <a:off x="9738360" y="1764792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2" name="S04_DocsJourney5_Title"/>
          <p:cNvSpPr/>
          <p:nvPr/>
        </p:nvSpPr>
        <p:spPr>
          <a:xfrm>
            <a:off x="10040112" y="17190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workflow</a:t>
            </a:r>
            <a:endParaRPr lang="en-US" sz="1250" dirty="0"/>
          </a:p>
        </p:txBody>
      </p:sp>
      <p:sp>
        <p:nvSpPr>
          <p:cNvPr id="33" name="S04_DocsJourney5_Subtitle"/>
          <p:cNvSpPr/>
          <p:nvPr/>
        </p:nvSpPr>
        <p:spPr>
          <a:xfrm>
            <a:off x="10040112" y="2029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с изменениями в Git</a:t>
            </a:r>
            <a:endParaRPr lang="en-US" sz="1050" dirty="0"/>
          </a:p>
        </p:txBody>
      </p:sp>
      <p:sp>
        <p:nvSpPr>
          <p:cNvPr id="34" name="S04_MigrationDoneCard"/>
          <p:cNvSpPr/>
          <p:nvPr/>
        </p:nvSpPr>
        <p:spPr>
          <a:xfrm>
            <a:off x="658368" y="3127248"/>
            <a:ext cx="67848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22304A">
                <a:alpha val="12000000000000000000"/>
              </a:srgbClr>
            </a:outerShdw>
          </a:effectLst>
        </p:spPr>
      </p:sp>
      <p:sp>
        <p:nvSpPr>
          <p:cNvPr id="35" name="S04_MigrationDoneLabel_Bg"/>
          <p:cNvSpPr/>
          <p:nvPr/>
        </p:nvSpPr>
        <p:spPr>
          <a:xfrm>
            <a:off x="932688" y="3401568"/>
            <a:ext cx="1243584" cy="384048"/>
          </a:xfrm>
          <a:prstGeom prst="roundRect">
            <a:avLst>
              <a:gd name="adj" fmla="val 19048"/>
            </a:avLst>
          </a:prstGeom>
          <a:solidFill>
            <a:srgbClr val="E8F7F0"/>
          </a:solidFill>
          <a:ln w="12700">
            <a:solidFill>
              <a:srgbClr val="E8F7F0">
                <a:alpha val="0"/>
              </a:srgbClr>
            </a:solidFill>
            <a:prstDash val="solid"/>
          </a:ln>
        </p:spPr>
      </p:sp>
      <p:sp>
        <p:nvSpPr>
          <p:cNvPr id="36" name="S04_MigrationDoneLabel_Text"/>
          <p:cNvSpPr/>
          <p:nvPr/>
        </p:nvSpPr>
        <p:spPr>
          <a:xfrm>
            <a:off x="932688" y="3406140"/>
            <a:ext cx="12435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УЖЕ СДЕЛАНО</a:t>
            </a:r>
            <a:endParaRPr lang="en-US" sz="1050" dirty="0"/>
          </a:p>
        </p:txBody>
      </p:sp>
      <p:sp>
        <p:nvSpPr>
          <p:cNvPr id="37" name="S04_MigrationDoneTitle"/>
          <p:cNvSpPr/>
          <p:nvPr/>
        </p:nvSpPr>
        <p:spPr>
          <a:xfrm>
            <a:off x="941832" y="3977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сервис переведён полностью</a:t>
            </a:r>
            <a:endParaRPr lang="en-US" sz="1850" dirty="0"/>
          </a:p>
        </p:txBody>
      </p:sp>
      <p:sp>
        <p:nvSpPr>
          <p:cNvPr id="38" name="S04_MigrationDoneMetric"/>
          <p:cNvSpPr/>
          <p:nvPr/>
        </p:nvSpPr>
        <p:spPr>
          <a:xfrm>
            <a:off x="941832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≈100 документов в структурированном MD</a:t>
            </a:r>
            <a:endParaRPr lang="en-US" sz="1260" dirty="0"/>
          </a:p>
        </p:txBody>
      </p:sp>
      <p:sp>
        <p:nvSpPr>
          <p:cNvPr id="39" name="S04_MigrationDoneTag1_Bg"/>
          <p:cNvSpPr/>
          <p:nvPr/>
        </p:nvSpPr>
        <p:spPr>
          <a:xfrm>
            <a:off x="4590288" y="386791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40" name="S04_MigrationDoneTag1_Text"/>
          <p:cNvSpPr/>
          <p:nvPr/>
        </p:nvSpPr>
        <p:spPr>
          <a:xfrm>
            <a:off x="4590288" y="387248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справочники</a:t>
            </a:r>
            <a:endParaRPr lang="en-US" sz="1000" dirty="0"/>
          </a:p>
        </p:txBody>
      </p:sp>
      <p:sp>
        <p:nvSpPr>
          <p:cNvPr id="41" name="S04_MigrationDoneTag2_Bg"/>
          <p:cNvSpPr/>
          <p:nvPr/>
        </p:nvSpPr>
        <p:spPr>
          <a:xfrm>
            <a:off x="5742432" y="3867912"/>
            <a:ext cx="1353312" cy="365760"/>
          </a:xfrm>
          <a:prstGeom prst="roundRect">
            <a:avLst>
              <a:gd name="adj" fmla="val 20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42" name="S04_MigrationDoneTag2_Text"/>
          <p:cNvSpPr/>
          <p:nvPr/>
        </p:nvSpPr>
        <p:spPr>
          <a:xfrm>
            <a:off x="5742432" y="387248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общие библиотеки</a:t>
            </a:r>
            <a:endParaRPr lang="en-US" sz="1000" dirty="0"/>
          </a:p>
        </p:txBody>
      </p:sp>
      <p:sp>
        <p:nvSpPr>
          <p:cNvPr id="43" name="S04_MigrationDoneTag3_Bg"/>
          <p:cNvSpPr/>
          <p:nvPr/>
        </p:nvSpPr>
        <p:spPr>
          <a:xfrm>
            <a:off x="4590288" y="4416552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44" name="S04_MigrationDoneTag3_Text"/>
          <p:cNvSpPr/>
          <p:nvPr/>
        </p:nvSpPr>
        <p:spPr>
          <a:xfrm>
            <a:off x="4590288" y="442112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5" name="S04_MigrationDoneTag4_Bg"/>
          <p:cNvSpPr/>
          <p:nvPr/>
        </p:nvSpPr>
        <p:spPr>
          <a:xfrm>
            <a:off x="5742432" y="4416552"/>
            <a:ext cx="1353312" cy="365760"/>
          </a:xfrm>
          <a:prstGeom prst="roundRect">
            <a:avLst>
              <a:gd name="adj" fmla="val 20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46" name="S04_MigrationDoneTag4_Text"/>
          <p:cNvSpPr/>
          <p:nvPr/>
        </p:nvSpPr>
        <p:spPr>
          <a:xfrm>
            <a:off x="5742432" y="442112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OpenAPI · DBML</a:t>
            </a:r>
            <a:endParaRPr lang="en-US" sz="1000" dirty="0"/>
          </a:p>
        </p:txBody>
      </p:sp>
      <p:sp>
        <p:nvSpPr>
          <p:cNvPr id="47" name="S04_MigrationNowCard"/>
          <p:cNvSpPr/>
          <p:nvPr/>
        </p:nvSpPr>
        <p:spPr>
          <a:xfrm>
            <a:off x="7708392" y="3127248"/>
            <a:ext cx="3794760" cy="2212848"/>
          </a:xfrm>
          <a:prstGeom prst="roundRect">
            <a:avLst>
              <a:gd name="adj" fmla="val 3306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22304A">
                <a:alpha val="1.2e+24"/>
              </a:srgbClr>
            </a:outerShdw>
          </a:effectLst>
        </p:spPr>
      </p:sp>
      <p:sp>
        <p:nvSpPr>
          <p:cNvPr id="48" name="S04_MigrationNowLabel_Bg"/>
          <p:cNvSpPr/>
          <p:nvPr/>
        </p:nvSpPr>
        <p:spPr>
          <a:xfrm>
            <a:off x="7982712" y="3401568"/>
            <a:ext cx="1033272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9" name="S04_MigrationNowLabel_Text"/>
          <p:cNvSpPr/>
          <p:nvPr/>
        </p:nvSpPr>
        <p:spPr>
          <a:xfrm>
            <a:off x="7982712" y="3406140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50" name="S04_MigrationNowTitle"/>
          <p:cNvSpPr/>
          <p:nvPr/>
        </p:nvSpPr>
        <p:spPr>
          <a:xfrm>
            <a:off x="7982712" y="39776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 постепенно</a:t>
            </a:r>
            <a:endParaRPr lang="en-US" sz="1850" dirty="0"/>
          </a:p>
        </p:txBody>
      </p:sp>
      <p:sp>
        <p:nvSpPr>
          <p:cNvPr id="51" name="S04_MigrationNowText"/>
          <p:cNvSpPr/>
          <p:nvPr/>
        </p:nvSpPr>
        <p:spPr>
          <a:xfrm>
            <a:off x="7982712" y="44531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 остальных сервисов добавляется в docs-hub по мере реальных задач.</a:t>
            </a:r>
            <a:endParaRPr lang="en-US" sz="1240" dirty="0"/>
          </a:p>
        </p:txBody>
      </p:sp>
      <p:sp>
        <p:nvSpPr>
          <p:cNvPr id="52" name="S04_DocsHubThesisCard"/>
          <p:cNvSpPr/>
          <p:nvPr/>
        </p:nvSpPr>
        <p:spPr>
          <a:xfrm>
            <a:off x="658368" y="5614416"/>
            <a:ext cx="10844784" cy="484632"/>
          </a:xfrm>
          <a:prstGeom prst="roundRect">
            <a:avLst>
              <a:gd name="adj" fmla="val 150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3" name="S04_DocsHubThesis"/>
          <p:cNvSpPr/>
          <p:nvPr/>
        </p:nvSpPr>
        <p:spPr>
          <a:xfrm>
            <a:off x="960120" y="5742432"/>
            <a:ext cx="10222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и Git — не самоцель: это техническая основа для SDD, автоматизации и воспроизводимого процесса изменений.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5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ОБЩАЯ ОСНОВА</a:t>
            </a:r>
            <a:endParaRPr lang="en-US" sz="850" dirty="0"/>
          </a:p>
        </p:txBody>
      </p:sp>
      <p:sp>
        <p:nvSpPr>
          <p:cNvPr id="4" name="S05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Парадигма OpenSpec не изменилась</a:t>
            </a:r>
            <a:endParaRPr lang="en-US" sz="2850" dirty="0"/>
          </a:p>
        </p:txBody>
      </p:sp>
      <p:sp>
        <p:nvSpPr>
          <p:cNvPr id="5" name="S05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сохранили lifecycle и расширили только представление master specification.</a:t>
            </a:r>
            <a:endParaRPr lang="en-US" sz="1320" dirty="0"/>
          </a:p>
        </p:txBody>
      </p:sp>
      <p:sp>
        <p:nvSpPr>
          <p:cNvPr id="6" name="S05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5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30" dirty="0"/>
          </a:p>
        </p:txBody>
      </p:sp>
      <p:sp>
        <p:nvSpPr>
          <p:cNvPr id="8" name="S05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5_LifecycleCard1"/>
          <p:cNvSpPr/>
          <p:nvPr/>
        </p:nvSpPr>
        <p:spPr>
          <a:xfrm>
            <a:off x="65836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5_LifecycleText1"/>
          <p:cNvSpPr/>
          <p:nvPr/>
        </p:nvSpPr>
        <p:spPr>
          <a:xfrm>
            <a:off x="73152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</a:t>
            </a:r>
            <a:endParaRPr lang="en-US" sz="1230" dirty="0"/>
          </a:p>
        </p:txBody>
      </p:sp>
      <p:sp>
        <p:nvSpPr>
          <p:cNvPr id="12" name="S05_LifecycleArrow1"/>
          <p:cNvSpPr/>
          <p:nvPr/>
        </p:nvSpPr>
        <p:spPr>
          <a:xfrm>
            <a:off x="199339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05_LifecycleCard2"/>
          <p:cNvSpPr/>
          <p:nvPr/>
        </p:nvSpPr>
        <p:spPr>
          <a:xfrm>
            <a:off x="222199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S05_LifecycleText2"/>
          <p:cNvSpPr/>
          <p:nvPr/>
        </p:nvSpPr>
        <p:spPr>
          <a:xfrm>
            <a:off x="229514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1230" dirty="0"/>
          </a:p>
        </p:txBody>
      </p:sp>
      <p:sp>
        <p:nvSpPr>
          <p:cNvPr id="15" name="S05_LifecycleArrow2"/>
          <p:cNvSpPr/>
          <p:nvPr/>
        </p:nvSpPr>
        <p:spPr>
          <a:xfrm>
            <a:off x="3557016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05_LifecycleCard3"/>
          <p:cNvSpPr/>
          <p:nvPr/>
        </p:nvSpPr>
        <p:spPr>
          <a:xfrm>
            <a:off x="3785616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7" name="S05_LifecycleText3"/>
          <p:cNvSpPr/>
          <p:nvPr/>
        </p:nvSpPr>
        <p:spPr>
          <a:xfrm>
            <a:off x="3858768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approve</a:t>
            </a:r>
            <a:endParaRPr lang="en-US" sz="1230" dirty="0"/>
          </a:p>
        </p:txBody>
      </p:sp>
      <p:sp>
        <p:nvSpPr>
          <p:cNvPr id="18" name="S05_LifecycleArrow3"/>
          <p:cNvSpPr/>
          <p:nvPr/>
        </p:nvSpPr>
        <p:spPr>
          <a:xfrm>
            <a:off x="5120640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05_LifecycleCard4"/>
          <p:cNvSpPr/>
          <p:nvPr/>
        </p:nvSpPr>
        <p:spPr>
          <a:xfrm>
            <a:off x="5349240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0" name="S05_LifecycleText4"/>
          <p:cNvSpPr/>
          <p:nvPr/>
        </p:nvSpPr>
        <p:spPr>
          <a:xfrm>
            <a:off x="5422392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230" dirty="0"/>
          </a:p>
        </p:txBody>
      </p:sp>
      <p:sp>
        <p:nvSpPr>
          <p:cNvPr id="21" name="S05_LifecycleArrow4"/>
          <p:cNvSpPr/>
          <p:nvPr/>
        </p:nvSpPr>
        <p:spPr>
          <a:xfrm>
            <a:off x="6684264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05_LifecycleCard5"/>
          <p:cNvSpPr/>
          <p:nvPr/>
        </p:nvSpPr>
        <p:spPr>
          <a:xfrm>
            <a:off x="6912864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3" name="S05_LifecycleText5"/>
          <p:cNvSpPr/>
          <p:nvPr/>
        </p:nvSpPr>
        <p:spPr>
          <a:xfrm>
            <a:off x="6986016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230" dirty="0"/>
          </a:p>
        </p:txBody>
      </p:sp>
      <p:sp>
        <p:nvSpPr>
          <p:cNvPr id="24" name="S05_LifecycleArrow5"/>
          <p:cNvSpPr/>
          <p:nvPr/>
        </p:nvSpPr>
        <p:spPr>
          <a:xfrm>
            <a:off x="8247888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5_LifecycleCard6"/>
          <p:cNvSpPr/>
          <p:nvPr/>
        </p:nvSpPr>
        <p:spPr>
          <a:xfrm>
            <a:off x="847648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6" name="S05_LifecycleText6"/>
          <p:cNvSpPr/>
          <p:nvPr/>
        </p:nvSpPr>
        <p:spPr>
          <a:xfrm>
            <a:off x="854964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verify</a:t>
            </a:r>
            <a:endParaRPr lang="en-US" sz="1230" dirty="0"/>
          </a:p>
        </p:txBody>
      </p:sp>
      <p:sp>
        <p:nvSpPr>
          <p:cNvPr id="27" name="S05_LifecycleArrow6"/>
          <p:cNvSpPr/>
          <p:nvPr/>
        </p:nvSpPr>
        <p:spPr>
          <a:xfrm>
            <a:off x="981151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05_LifecycleCard7"/>
          <p:cNvSpPr/>
          <p:nvPr/>
        </p:nvSpPr>
        <p:spPr>
          <a:xfrm>
            <a:off x="1004011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9" name="S05_LifecycleText7"/>
          <p:cNvSpPr/>
          <p:nvPr/>
        </p:nvSpPr>
        <p:spPr>
          <a:xfrm>
            <a:off x="1011326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230" dirty="0"/>
          </a:p>
        </p:txBody>
      </p:sp>
      <p:sp>
        <p:nvSpPr>
          <p:cNvPr id="30" name="S05_OpenSpecInvariantCard"/>
          <p:cNvSpPr/>
          <p:nvPr/>
        </p:nvSpPr>
        <p:spPr>
          <a:xfrm>
            <a:off x="658368" y="2578608"/>
            <a:ext cx="5138928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22304A">
                <a:alpha val="1.2e+29"/>
              </a:srgbClr>
            </a:outerShdw>
          </a:effectLst>
        </p:spPr>
      </p:sp>
      <p:sp>
        <p:nvSpPr>
          <p:cNvPr id="31" name="S05_OpenSpecInvariantLabel_Bg"/>
          <p:cNvSpPr/>
          <p:nvPr/>
        </p:nvSpPr>
        <p:spPr>
          <a:xfrm>
            <a:off x="932688" y="28346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S05_OpenSpecInvariantLabel_Text"/>
          <p:cNvSpPr/>
          <p:nvPr/>
        </p:nvSpPr>
        <p:spPr>
          <a:xfrm>
            <a:off x="932688" y="283921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 ИЗМЕНЕНИЙ</a:t>
            </a:r>
            <a:endParaRPr lang="en-US" sz="1080" dirty="0"/>
          </a:p>
        </p:txBody>
      </p:sp>
      <p:sp>
        <p:nvSpPr>
          <p:cNvPr id="33" name="S05_OpenSpecInvariantTitle"/>
          <p:cNvSpPr/>
          <p:nvPr/>
        </p:nvSpPr>
        <p:spPr>
          <a:xfrm>
            <a:off x="941832" y="34381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lifecycle</a:t>
            </a:r>
            <a:endParaRPr lang="en-US" sz="1800" dirty="0"/>
          </a:p>
        </p:txBody>
      </p:sp>
      <p:sp>
        <p:nvSpPr>
          <p:cNvPr id="34" name="S05_OpenSpecInvariant1_Dot"/>
          <p:cNvSpPr/>
          <p:nvPr/>
        </p:nvSpPr>
        <p:spPr>
          <a:xfrm>
            <a:off x="950976" y="40325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S05_OpenSpecInvariant1_Text"/>
          <p:cNvSpPr/>
          <p:nvPr/>
        </p:nvSpPr>
        <p:spPr>
          <a:xfrm>
            <a:off x="1133856" y="3913632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change-first: требования до кода</a:t>
            </a:r>
            <a:endParaRPr lang="en-US" sz="1300" dirty="0"/>
          </a:p>
        </p:txBody>
      </p:sp>
      <p:sp>
        <p:nvSpPr>
          <p:cNvPr id="36" name="S05_OpenSpecInvariant2_Dot"/>
          <p:cNvSpPr/>
          <p:nvPr/>
        </p:nvSpPr>
        <p:spPr>
          <a:xfrm>
            <a:off x="950976" y="45262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5_OpenSpecInvariant2_Text"/>
          <p:cNvSpPr/>
          <p:nvPr/>
        </p:nvSpPr>
        <p:spPr>
          <a:xfrm>
            <a:off x="1133856" y="4407408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change.md · design.md · tasks.md</a:t>
            </a:r>
            <a:endParaRPr lang="en-US" sz="1300" dirty="0"/>
          </a:p>
        </p:txBody>
      </p:sp>
      <p:sp>
        <p:nvSpPr>
          <p:cNvPr id="38" name="S05_OpenSpecInvariant3_Dot"/>
          <p:cNvSpPr/>
          <p:nvPr/>
        </p:nvSpPr>
        <p:spPr>
          <a:xfrm>
            <a:off x="950976" y="50200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S05_OpenSpecInvariant3_Text"/>
          <p:cNvSpPr/>
          <p:nvPr/>
        </p:nvSpPr>
        <p:spPr>
          <a:xfrm>
            <a:off x="1133856" y="490118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implement · verify · archive</a:t>
            </a:r>
            <a:endParaRPr lang="en-US" sz="1300" dirty="0"/>
          </a:p>
        </p:txBody>
      </p:sp>
      <p:sp>
        <p:nvSpPr>
          <p:cNvPr id="40" name="S05_FolderBasedContractCard"/>
          <p:cNvSpPr/>
          <p:nvPr/>
        </p:nvSpPr>
        <p:spPr>
          <a:xfrm>
            <a:off x="6062472" y="257860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22304A">
                <a:alpha val="1.2e+34"/>
              </a:srgbClr>
            </a:outerShdw>
          </a:effectLst>
        </p:spPr>
      </p:sp>
      <p:sp>
        <p:nvSpPr>
          <p:cNvPr id="41" name="S05_FolderBasedContractLabel_Bg"/>
          <p:cNvSpPr/>
          <p:nvPr/>
        </p:nvSpPr>
        <p:spPr>
          <a:xfrm>
            <a:off x="6345936" y="2834640"/>
            <a:ext cx="170992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5_FolderBasedContractLabel_Text"/>
          <p:cNvSpPr/>
          <p:nvPr/>
        </p:nvSpPr>
        <p:spPr>
          <a:xfrm>
            <a:off x="6345936" y="2839212"/>
            <a:ext cx="1709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ТОЧКА РАСШИРЕНИЯ</a:t>
            </a:r>
            <a:endParaRPr lang="en-US" sz="1040" dirty="0"/>
          </a:p>
        </p:txBody>
      </p:sp>
      <p:sp>
        <p:nvSpPr>
          <p:cNvPr id="43" name="S05_FolderBasedContractTitle"/>
          <p:cNvSpPr/>
          <p:nvPr/>
        </p:nvSpPr>
        <p:spPr>
          <a:xfrm>
            <a:off x="6364224" y="3438144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= folder</a:t>
            </a:r>
            <a:endParaRPr lang="en-US" sz="1800" dirty="0"/>
          </a:p>
        </p:txBody>
      </p:sp>
      <p:sp>
        <p:nvSpPr>
          <p:cNvPr id="44" name="S05_FolderBasedContractFolder_Body"/>
          <p:cNvSpPr/>
          <p:nvPr/>
        </p:nvSpPr>
        <p:spPr>
          <a:xfrm>
            <a:off x="6382512" y="4074201"/>
            <a:ext cx="585216" cy="342351"/>
          </a:xfrm>
          <a:prstGeom prst="roundRect">
            <a:avLst>
              <a:gd name="adj" fmla="val 10684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5" name="S05_FolderBasedContractFolder_Tab"/>
          <p:cNvSpPr/>
          <p:nvPr/>
        </p:nvSpPr>
        <p:spPr>
          <a:xfrm>
            <a:off x="6455664" y="3977640"/>
            <a:ext cx="269199" cy="166787"/>
          </a:xfrm>
          <a:prstGeom prst="roundRect">
            <a:avLst>
              <a:gd name="adj" fmla="val 1644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5_FolderBasedContractPath"/>
          <p:cNvSpPr/>
          <p:nvPr/>
        </p:nvSpPr>
        <p:spPr>
          <a:xfrm>
            <a:off x="7178040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47" name="S05_FolderBasedContract1_Dot"/>
          <p:cNvSpPr/>
          <p:nvPr/>
        </p:nvSpPr>
        <p:spPr>
          <a:xfrm>
            <a:off x="6391656" y="46542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5_FolderBasedContract1_Text"/>
          <p:cNvSpPr/>
          <p:nvPr/>
        </p:nvSpPr>
        <p:spPr>
          <a:xfrm>
            <a:off x="6574536" y="453542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внутри — любое количество документов и форматов</a:t>
            </a:r>
            <a:endParaRPr lang="en-US" sz="1270" dirty="0"/>
          </a:p>
        </p:txBody>
      </p:sp>
      <p:sp>
        <p:nvSpPr>
          <p:cNvPr id="49" name="S05_FolderBasedContract2_Dot"/>
          <p:cNvSpPr/>
          <p:nvPr/>
        </p:nvSpPr>
        <p:spPr>
          <a:xfrm>
            <a:off x="6391656" y="51114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5_FolderBasedContract2_Text"/>
          <p:cNvSpPr/>
          <p:nvPr/>
        </p:nvSpPr>
        <p:spPr>
          <a:xfrm>
            <a:off x="6574536" y="4992624"/>
            <a:ext cx="42245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создаёт карту чтения и связей</a:t>
            </a:r>
            <a:endParaRPr lang="en-US" sz="1270" dirty="0"/>
          </a:p>
        </p:txBody>
      </p:sp>
      <p:sp>
        <p:nvSpPr>
          <p:cNvPr id="51" name="S05_LifecycleThesis_Bg"/>
          <p:cNvSpPr/>
          <p:nvPr/>
        </p:nvSpPr>
        <p:spPr>
          <a:xfrm>
            <a:off x="1243584" y="5742432"/>
            <a:ext cx="9710928" cy="429768"/>
          </a:xfrm>
          <a:prstGeom prst="roundRect">
            <a:avLst>
              <a:gd name="adj" fmla="val 17021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52" name="S05_LifecycleThesis_Text"/>
          <p:cNvSpPr/>
          <p:nvPr/>
        </p:nvSpPr>
        <p:spPr>
          <a:xfrm>
            <a:off x="1243584" y="5747004"/>
            <a:ext cx="9710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Это всё та же OpenSpec: workflow работает поверх другой формы source of truth.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6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СТРУКТУРА ЗНАНИЙ</a:t>
            </a:r>
            <a:endParaRPr lang="en-US" sz="850" dirty="0"/>
          </a:p>
        </p:txBody>
      </p:sp>
      <p:sp>
        <p:nvSpPr>
          <p:cNvPr id="4" name="S06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Функциональная область — сквозной срез сервиса</a:t>
            </a:r>
            <a:endParaRPr lang="en-US" sz="2850" dirty="0"/>
          </a:p>
        </p:txBody>
      </p:sp>
      <p:sp>
        <p:nvSpPr>
          <p:cNvPr id="5" name="S06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Каждая ФО объединяет связанные части процессов, данных и взаимодействий.</a:t>
            </a:r>
            <a:endParaRPr lang="en-US" sz="1320" dirty="0"/>
          </a:p>
        </p:txBody>
      </p:sp>
      <p:sp>
        <p:nvSpPr>
          <p:cNvPr id="6" name="S06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6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30" dirty="0"/>
          </a:p>
        </p:txBody>
      </p:sp>
      <p:sp>
        <p:nvSpPr>
          <p:cNvPr id="8" name="S06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6_FOHeader1_Bg"/>
          <p:cNvSpPr/>
          <p:nvPr/>
        </p:nvSpPr>
        <p:spPr>
          <a:xfrm>
            <a:off x="23865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S06_FOHeader1_Text"/>
          <p:cNvSpPr/>
          <p:nvPr/>
        </p:nvSpPr>
        <p:spPr>
          <a:xfrm>
            <a:off x="23865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A</a:t>
            </a:r>
            <a:endParaRPr lang="en-US" sz="1220" dirty="0"/>
          </a:p>
        </p:txBody>
      </p:sp>
      <p:sp>
        <p:nvSpPr>
          <p:cNvPr id="12" name="S06_FOColumn1"/>
          <p:cNvSpPr/>
          <p:nvPr/>
        </p:nvSpPr>
        <p:spPr>
          <a:xfrm>
            <a:off x="19933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S06_FOHeader2_Bg"/>
          <p:cNvSpPr/>
          <p:nvPr/>
        </p:nvSpPr>
        <p:spPr>
          <a:xfrm>
            <a:off x="55869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4" name="S06_FOHeader2_Text"/>
          <p:cNvSpPr/>
          <p:nvPr/>
        </p:nvSpPr>
        <p:spPr>
          <a:xfrm>
            <a:off x="55869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B</a:t>
            </a:r>
            <a:endParaRPr lang="en-US" sz="1220" dirty="0"/>
          </a:p>
        </p:txBody>
      </p:sp>
      <p:sp>
        <p:nvSpPr>
          <p:cNvPr id="15" name="S06_FOColumn2"/>
          <p:cNvSpPr/>
          <p:nvPr/>
        </p:nvSpPr>
        <p:spPr>
          <a:xfrm>
            <a:off x="51937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S06_FOHeader3_Bg"/>
          <p:cNvSpPr/>
          <p:nvPr/>
        </p:nvSpPr>
        <p:spPr>
          <a:xfrm>
            <a:off x="8787384" y="14447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6_FOHeader3_Text"/>
          <p:cNvSpPr/>
          <p:nvPr/>
        </p:nvSpPr>
        <p:spPr>
          <a:xfrm>
            <a:off x="8787384" y="144932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C</a:t>
            </a:r>
            <a:endParaRPr lang="en-US" sz="1220" dirty="0"/>
          </a:p>
        </p:txBody>
      </p:sp>
      <p:sp>
        <p:nvSpPr>
          <p:cNvPr id="18" name="S06_FOColumn3"/>
          <p:cNvSpPr/>
          <p:nvPr/>
        </p:nvSpPr>
        <p:spPr>
          <a:xfrm>
            <a:off x="8394192" y="196596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19" name="S06_FOChangeLink1"/>
          <p:cNvSpPr/>
          <p:nvPr/>
        </p:nvSpPr>
        <p:spPr>
          <a:xfrm flipH="1" flipV="1">
            <a:off x="3410712" y="2487168"/>
            <a:ext cx="2688336" cy="2660904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0" name="S06_FOChangeLink2"/>
          <p:cNvSpPr/>
          <p:nvPr/>
        </p:nvSpPr>
        <p:spPr>
          <a:xfrm flipV="1">
            <a:off x="6099048" y="3374136"/>
            <a:ext cx="512064" cy="177393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1" name="S06_FOChangeLink3"/>
          <p:cNvSpPr/>
          <p:nvPr/>
        </p:nvSpPr>
        <p:spPr>
          <a:xfrm flipV="1">
            <a:off x="6099048" y="4261104"/>
            <a:ext cx="3712464" cy="886968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2" name="S06_FOLayerLabel1"/>
          <p:cNvSpPr/>
          <p:nvPr/>
        </p:nvSpPr>
        <p:spPr>
          <a:xfrm>
            <a:off x="658368" y="2176272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06_FOLayerText1"/>
          <p:cNvSpPr/>
          <p:nvPr/>
        </p:nvSpPr>
        <p:spPr>
          <a:xfrm>
            <a:off x="731520" y="229514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4" name="S06_FOCell1_1"/>
          <p:cNvSpPr/>
          <p:nvPr/>
        </p:nvSpPr>
        <p:spPr>
          <a:xfrm>
            <a:off x="22128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5" name="S06_FOCellDot1_1"/>
          <p:cNvSpPr/>
          <p:nvPr/>
        </p:nvSpPr>
        <p:spPr>
          <a:xfrm>
            <a:off x="2423160" y="2386584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06_FOCellText1_1"/>
          <p:cNvSpPr/>
          <p:nvPr/>
        </p:nvSpPr>
        <p:spPr>
          <a:xfrm>
            <a:off x="27432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27" name="S06_FOCell2_1"/>
          <p:cNvSpPr/>
          <p:nvPr/>
        </p:nvSpPr>
        <p:spPr>
          <a:xfrm>
            <a:off x="54132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S06_FOCellDot2_1"/>
          <p:cNvSpPr/>
          <p:nvPr/>
        </p:nvSpPr>
        <p:spPr>
          <a:xfrm>
            <a:off x="5623560" y="2386584"/>
            <a:ext cx="182880" cy="1828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S06_FOCellText2_1"/>
          <p:cNvSpPr/>
          <p:nvPr/>
        </p:nvSpPr>
        <p:spPr>
          <a:xfrm>
            <a:off x="59436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30" name="S06_FOCell3_1"/>
          <p:cNvSpPr/>
          <p:nvPr/>
        </p:nvSpPr>
        <p:spPr>
          <a:xfrm>
            <a:off x="8613648" y="2176272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6_FOCellDot3_1"/>
          <p:cNvSpPr/>
          <p:nvPr/>
        </p:nvSpPr>
        <p:spPr>
          <a:xfrm>
            <a:off x="8823960" y="2386584"/>
            <a:ext cx="182880" cy="18288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2" name="S06_FOCellText3_1"/>
          <p:cNvSpPr/>
          <p:nvPr/>
        </p:nvSpPr>
        <p:spPr>
          <a:xfrm>
            <a:off x="9144000" y="23317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сценарии и шаги</a:t>
            </a:r>
            <a:endParaRPr lang="en-US" sz="1110" dirty="0"/>
          </a:p>
        </p:txBody>
      </p:sp>
      <p:sp>
        <p:nvSpPr>
          <p:cNvPr id="33" name="S06_FOLayerLabel2"/>
          <p:cNvSpPr/>
          <p:nvPr/>
        </p:nvSpPr>
        <p:spPr>
          <a:xfrm>
            <a:off x="658368" y="3063240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06_FOLayerText2"/>
          <p:cNvSpPr/>
          <p:nvPr/>
        </p:nvSpPr>
        <p:spPr>
          <a:xfrm>
            <a:off x="731520" y="31821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35" name="S06_FOCell1_2"/>
          <p:cNvSpPr/>
          <p:nvPr/>
        </p:nvSpPr>
        <p:spPr>
          <a:xfrm>
            <a:off x="22128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S06_FOCellDot1_2"/>
          <p:cNvSpPr/>
          <p:nvPr/>
        </p:nvSpPr>
        <p:spPr>
          <a:xfrm>
            <a:off x="2423160" y="3273552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S06_FOCellText1_2"/>
          <p:cNvSpPr/>
          <p:nvPr/>
        </p:nvSpPr>
        <p:spPr>
          <a:xfrm>
            <a:off x="27432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38" name="S06_FOCell2_2"/>
          <p:cNvSpPr/>
          <p:nvPr/>
        </p:nvSpPr>
        <p:spPr>
          <a:xfrm>
            <a:off x="54132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9" name="S06_FOCellDot2_2"/>
          <p:cNvSpPr/>
          <p:nvPr/>
        </p:nvSpPr>
        <p:spPr>
          <a:xfrm>
            <a:off x="5623560" y="327355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6_FOCellText2_2"/>
          <p:cNvSpPr/>
          <p:nvPr/>
        </p:nvSpPr>
        <p:spPr>
          <a:xfrm>
            <a:off x="59436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41" name="S06_FOCell3_2"/>
          <p:cNvSpPr/>
          <p:nvPr/>
        </p:nvSpPr>
        <p:spPr>
          <a:xfrm>
            <a:off x="8613648" y="3063240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42" name="S06_FOCellDot3_2"/>
          <p:cNvSpPr/>
          <p:nvPr/>
        </p:nvSpPr>
        <p:spPr>
          <a:xfrm>
            <a:off x="8823960" y="3273552"/>
            <a:ext cx="182880" cy="18288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3" name="S06_FOCellText3_2"/>
          <p:cNvSpPr/>
          <p:nvPr/>
        </p:nvSpPr>
        <p:spPr>
          <a:xfrm>
            <a:off x="9144000" y="32186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сущности и правила</a:t>
            </a:r>
            <a:endParaRPr lang="en-US" sz="1110" dirty="0"/>
          </a:p>
        </p:txBody>
      </p:sp>
      <p:sp>
        <p:nvSpPr>
          <p:cNvPr id="44" name="S06_FOLayerLabel3"/>
          <p:cNvSpPr/>
          <p:nvPr/>
        </p:nvSpPr>
        <p:spPr>
          <a:xfrm>
            <a:off x="658368" y="3950208"/>
            <a:ext cx="1097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5" name="S06_FOLayerText3"/>
          <p:cNvSpPr/>
          <p:nvPr/>
        </p:nvSpPr>
        <p:spPr>
          <a:xfrm>
            <a:off x="731520" y="40690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/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880" dirty="0"/>
          </a:p>
        </p:txBody>
      </p:sp>
      <p:sp>
        <p:nvSpPr>
          <p:cNvPr id="46" name="S06_FOCell1_3"/>
          <p:cNvSpPr/>
          <p:nvPr/>
        </p:nvSpPr>
        <p:spPr>
          <a:xfrm>
            <a:off x="22128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7" name="S06_FOCellDot1_3"/>
          <p:cNvSpPr/>
          <p:nvPr/>
        </p:nvSpPr>
        <p:spPr>
          <a:xfrm>
            <a:off x="2423160" y="4160520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8" name="S06_FOCellText1_3"/>
          <p:cNvSpPr/>
          <p:nvPr/>
        </p:nvSpPr>
        <p:spPr>
          <a:xfrm>
            <a:off x="27432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49" name="S06_FOCell2_3"/>
          <p:cNvSpPr/>
          <p:nvPr/>
        </p:nvSpPr>
        <p:spPr>
          <a:xfrm>
            <a:off x="54132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0" name="S06_FOCellDot2_3"/>
          <p:cNvSpPr/>
          <p:nvPr/>
        </p:nvSpPr>
        <p:spPr>
          <a:xfrm>
            <a:off x="5623560" y="4160520"/>
            <a:ext cx="182880" cy="1828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1" name="S06_FOCellText2_3"/>
          <p:cNvSpPr/>
          <p:nvPr/>
        </p:nvSpPr>
        <p:spPr>
          <a:xfrm>
            <a:off x="59436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52" name="S06_FOCell3_3"/>
          <p:cNvSpPr/>
          <p:nvPr/>
        </p:nvSpPr>
        <p:spPr>
          <a:xfrm>
            <a:off x="8613648" y="3950208"/>
            <a:ext cx="239572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53" name="S06_FOCellDot3_3"/>
          <p:cNvSpPr/>
          <p:nvPr/>
        </p:nvSpPr>
        <p:spPr>
          <a:xfrm>
            <a:off x="8823960" y="416052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4" name="S06_FOCellText3_3"/>
          <p:cNvSpPr/>
          <p:nvPr/>
        </p:nvSpPr>
        <p:spPr>
          <a:xfrm>
            <a:off x="9144000" y="41056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· события · связи</a:t>
            </a:r>
            <a:endParaRPr lang="en-US" sz="1110" dirty="0"/>
          </a:p>
        </p:txBody>
      </p:sp>
      <p:sp>
        <p:nvSpPr>
          <p:cNvPr id="55" name="S06_FOChangePill_Bg"/>
          <p:cNvSpPr/>
          <p:nvPr/>
        </p:nvSpPr>
        <p:spPr>
          <a:xfrm>
            <a:off x="3886200" y="5056632"/>
            <a:ext cx="4425696" cy="457200"/>
          </a:xfrm>
          <a:prstGeom prst="roundRect">
            <a:avLst>
              <a:gd name="adj" fmla="val 16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56" name="S06_FOChangePill_Text"/>
          <p:cNvSpPr/>
          <p:nvPr/>
        </p:nvSpPr>
        <p:spPr>
          <a:xfrm>
            <a:off x="3886200" y="5061204"/>
            <a:ext cx="4425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· пересекает несколько ФО</a:t>
            </a:r>
            <a:endParaRPr lang="en-US" sz="1220" dirty="0"/>
          </a:p>
        </p:txBody>
      </p:sp>
      <p:sp>
        <p:nvSpPr>
          <p:cNvPr id="57" name="S06_FOThesis"/>
          <p:cNvSpPr/>
          <p:nvPr/>
        </p:nvSpPr>
        <p:spPr>
          <a:xfrm>
            <a:off x="2313432" y="592531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Границы ФО организуют знания, но не ограничивают границы изменения.</a:t>
            </a:r>
            <a:endParaRPr lang="en-US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7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АРХИТЕКТУРА РАСШИРЕНИЯ</a:t>
            </a:r>
            <a:endParaRPr lang="en-US" sz="850" dirty="0"/>
          </a:p>
        </p:txBody>
      </p:sp>
      <p:sp>
        <p:nvSpPr>
          <p:cNvPr id="4" name="S07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Folder-based spec: папка как единая master specification</a:t>
            </a:r>
            <a:endParaRPr lang="en-US" sz="2850" dirty="0"/>
          </a:p>
        </p:txBody>
      </p:sp>
      <p:sp>
        <p:nvSpPr>
          <p:cNvPr id="5" name="S07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Документы остаются source of truth; _sdd создаёт карту чтения и связей.</a:t>
            </a:r>
            <a:endParaRPr lang="en-US" sz="1320" dirty="0"/>
          </a:p>
        </p:txBody>
      </p:sp>
      <p:sp>
        <p:nvSpPr>
          <p:cNvPr id="6" name="S07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7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30" dirty="0"/>
          </a:p>
        </p:txBody>
      </p:sp>
      <p:sp>
        <p:nvSpPr>
          <p:cNvPr id="8" name="S07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7_FolderTreeCard"/>
          <p:cNvSpPr/>
          <p:nvPr/>
        </p:nvSpPr>
        <p:spPr>
          <a:xfrm>
            <a:off x="658368" y="1444752"/>
            <a:ext cx="3456432" cy="450799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22304A">
                <a:alpha val="1.1999999999999999e+39"/>
              </a:srgbClr>
            </a:outerShdw>
          </a:effectLst>
        </p:spPr>
      </p:sp>
      <p:sp>
        <p:nvSpPr>
          <p:cNvPr id="11" name="S07_FolderTreeLabel_Bg"/>
          <p:cNvSpPr/>
          <p:nvPr/>
        </p:nvSpPr>
        <p:spPr>
          <a:xfrm>
            <a:off x="914400" y="1700784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7_FolderTreeLabel_Text"/>
          <p:cNvSpPr/>
          <p:nvPr/>
        </p:nvSpPr>
        <p:spPr>
          <a:xfrm>
            <a:off x="914400" y="1705356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</a:t>
            </a:r>
            <a:endParaRPr lang="en-US" sz="1040" dirty="0"/>
          </a:p>
        </p:txBody>
      </p:sp>
      <p:sp>
        <p:nvSpPr>
          <p:cNvPr id="13" name="S07_FolderTreeRoot_Body"/>
          <p:cNvSpPr/>
          <p:nvPr/>
        </p:nvSpPr>
        <p:spPr>
          <a:xfrm>
            <a:off x="932688" y="2418222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S07_FolderTreeRoot_Tab"/>
          <p:cNvSpPr/>
          <p:nvPr/>
        </p:nvSpPr>
        <p:spPr>
          <a:xfrm>
            <a:off x="1005840" y="2331720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7_FolderTreeRootText"/>
          <p:cNvSpPr/>
          <p:nvPr/>
        </p:nvSpPr>
        <p:spPr>
          <a:xfrm>
            <a:off x="164592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16" name="S07_FolderTreeSpine"/>
          <p:cNvSpPr/>
          <p:nvPr/>
        </p:nvSpPr>
        <p:spPr>
          <a:xfrm>
            <a:off x="1197864" y="2724912"/>
            <a:ext cx="914" cy="2633472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7" name="S07_FolderTreeBranch1"/>
          <p:cNvSpPr/>
          <p:nvPr/>
        </p:nvSpPr>
        <p:spPr>
          <a:xfrm>
            <a:off x="1197864" y="3063240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8" name="S07_FolderTreeFolder1_Body"/>
          <p:cNvSpPr/>
          <p:nvPr/>
        </p:nvSpPr>
        <p:spPr>
          <a:xfrm>
            <a:off x="1581912" y="2966131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7_FolderTreeFolder1_Tab"/>
          <p:cNvSpPr/>
          <p:nvPr/>
        </p:nvSpPr>
        <p:spPr>
          <a:xfrm>
            <a:off x="1655064" y="2907792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07_FolderTreeText1"/>
          <p:cNvSpPr/>
          <p:nvPr/>
        </p:nvSpPr>
        <p:spPr>
          <a:xfrm>
            <a:off x="2066544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30" dirty="0"/>
          </a:p>
        </p:txBody>
      </p:sp>
      <p:sp>
        <p:nvSpPr>
          <p:cNvPr id="21" name="S07_FolderTreeBranch2"/>
          <p:cNvSpPr/>
          <p:nvPr/>
        </p:nvSpPr>
        <p:spPr>
          <a:xfrm>
            <a:off x="1197864" y="3547872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2" name="S07_FolderTreeFolder2_Body"/>
          <p:cNvSpPr/>
          <p:nvPr/>
        </p:nvSpPr>
        <p:spPr>
          <a:xfrm>
            <a:off x="1581912" y="3450763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3" name="S07_FolderTreeFolder2_Tab"/>
          <p:cNvSpPr/>
          <p:nvPr/>
        </p:nvSpPr>
        <p:spPr>
          <a:xfrm>
            <a:off x="1655064" y="3392424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4" name="S07_FolderTreeText2"/>
          <p:cNvSpPr/>
          <p:nvPr/>
        </p:nvSpPr>
        <p:spPr>
          <a:xfrm>
            <a:off x="206654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integrations/</a:t>
            </a:r>
            <a:endParaRPr lang="en-US" sz="1130" dirty="0"/>
          </a:p>
        </p:txBody>
      </p:sp>
      <p:sp>
        <p:nvSpPr>
          <p:cNvPr id="25" name="S07_FolderTreeBranch3"/>
          <p:cNvSpPr/>
          <p:nvPr/>
        </p:nvSpPr>
        <p:spPr>
          <a:xfrm>
            <a:off x="1197864" y="4032504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6" name="S07_FolderTreeFolder3_Body"/>
          <p:cNvSpPr/>
          <p:nvPr/>
        </p:nvSpPr>
        <p:spPr>
          <a:xfrm>
            <a:off x="1581912" y="3935395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7_FolderTreeFolder3_Tab"/>
          <p:cNvSpPr/>
          <p:nvPr/>
        </p:nvSpPr>
        <p:spPr>
          <a:xfrm>
            <a:off x="1655064" y="3877056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8" name="S07_FolderTreeText3"/>
          <p:cNvSpPr/>
          <p:nvPr/>
        </p:nvSpPr>
        <p:spPr>
          <a:xfrm>
            <a:off x="2066544" y="389534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</a:t>
            </a:r>
            <a:endParaRPr lang="en-US" sz="1130" dirty="0"/>
          </a:p>
        </p:txBody>
      </p:sp>
      <p:sp>
        <p:nvSpPr>
          <p:cNvPr id="29" name="S07_FolderTreeBranch4"/>
          <p:cNvSpPr/>
          <p:nvPr/>
        </p:nvSpPr>
        <p:spPr>
          <a:xfrm>
            <a:off x="1197864" y="4517136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0" name="S07_FolderTreeFolder4_Body"/>
          <p:cNvSpPr/>
          <p:nvPr/>
        </p:nvSpPr>
        <p:spPr>
          <a:xfrm>
            <a:off x="1581912" y="4420027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7_FolderTreeFolder4_Tab"/>
          <p:cNvSpPr/>
          <p:nvPr/>
        </p:nvSpPr>
        <p:spPr>
          <a:xfrm>
            <a:off x="1655064" y="4361688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2" name="S07_FolderTreeText4"/>
          <p:cNvSpPr/>
          <p:nvPr/>
        </p:nvSpPr>
        <p:spPr>
          <a:xfrm>
            <a:off x="2066544" y="437997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· dbml/</a:t>
            </a:r>
            <a:endParaRPr lang="en-US" sz="1130" dirty="0"/>
          </a:p>
        </p:txBody>
      </p:sp>
      <p:sp>
        <p:nvSpPr>
          <p:cNvPr id="33" name="S07_FolderTreeBranch5"/>
          <p:cNvSpPr/>
          <p:nvPr/>
        </p:nvSpPr>
        <p:spPr>
          <a:xfrm>
            <a:off x="1197864" y="5001768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4" name="S07_FolderTreeFolder5_Body"/>
          <p:cNvSpPr/>
          <p:nvPr/>
        </p:nvSpPr>
        <p:spPr>
          <a:xfrm>
            <a:off x="1581912" y="4904659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5" name="S07_FolderTreeFolder5_Tab"/>
          <p:cNvSpPr/>
          <p:nvPr/>
        </p:nvSpPr>
        <p:spPr>
          <a:xfrm>
            <a:off x="1655064" y="4846320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6" name="S07_FolderTreeText5"/>
          <p:cNvSpPr/>
          <p:nvPr/>
        </p:nvSpPr>
        <p:spPr>
          <a:xfrm>
            <a:off x="2066544" y="486460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diagrams/ · settings/</a:t>
            </a:r>
            <a:endParaRPr lang="en-US" sz="1130" dirty="0"/>
          </a:p>
        </p:txBody>
      </p:sp>
      <p:sp>
        <p:nvSpPr>
          <p:cNvPr id="37" name="S07_FolderFormats_Bg"/>
          <p:cNvSpPr/>
          <p:nvPr/>
        </p:nvSpPr>
        <p:spPr>
          <a:xfrm>
            <a:off x="941832" y="546811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7_FolderFormats_Text"/>
          <p:cNvSpPr/>
          <p:nvPr/>
        </p:nvSpPr>
        <p:spPr>
          <a:xfrm>
            <a:off x="941832" y="54726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diagrams</a:t>
            </a:r>
            <a:endParaRPr lang="en-US" sz="940" dirty="0"/>
          </a:p>
        </p:txBody>
      </p:sp>
      <p:sp>
        <p:nvSpPr>
          <p:cNvPr id="39" name="S07_FolderToIndex"/>
          <p:cNvSpPr/>
          <p:nvPr/>
        </p:nvSpPr>
        <p:spPr>
          <a:xfrm>
            <a:off x="4114800" y="3675888"/>
            <a:ext cx="292608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0" name="S07_IndexLayerCard"/>
          <p:cNvSpPr/>
          <p:nvPr/>
        </p:nvSpPr>
        <p:spPr>
          <a:xfrm>
            <a:off x="4462272" y="1444752"/>
            <a:ext cx="3072384" cy="4507992"/>
          </a:xfrm>
          <a:prstGeom prst="roundRect">
            <a:avLst>
              <a:gd name="adj" fmla="val 238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22304A">
                <a:alpha val="1.1999999999999999e+44"/>
              </a:srgbClr>
            </a:outerShdw>
          </a:effectLst>
        </p:spPr>
      </p:sp>
      <p:sp>
        <p:nvSpPr>
          <p:cNvPr id="41" name="S07_IndexLayerLabel_Bg"/>
          <p:cNvSpPr/>
          <p:nvPr/>
        </p:nvSpPr>
        <p:spPr>
          <a:xfrm>
            <a:off x="4736592" y="170078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7_IndexLayerLabel_Text"/>
          <p:cNvSpPr/>
          <p:nvPr/>
        </p:nvSpPr>
        <p:spPr>
          <a:xfrm>
            <a:off x="4736592" y="170535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120" dirty="0"/>
          </a:p>
        </p:txBody>
      </p:sp>
      <p:sp>
        <p:nvSpPr>
          <p:cNvPr id="43" name="S07_IndexLayerKicker"/>
          <p:cNvSpPr/>
          <p:nvPr/>
        </p:nvSpPr>
        <p:spPr>
          <a:xfrm>
            <a:off x="5925312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8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</a:t>
            </a:r>
            <a:endParaRPr lang="en-US" sz="830" dirty="0"/>
          </a:p>
        </p:txBody>
      </p:sp>
      <p:sp>
        <p:nvSpPr>
          <p:cNvPr id="44" name="S07_IndexFileCard1"/>
          <p:cNvSpPr/>
          <p:nvPr/>
        </p:nvSpPr>
        <p:spPr>
          <a:xfrm>
            <a:off x="4718304" y="23774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5" name="S07_IndexFileAccent1"/>
          <p:cNvSpPr/>
          <p:nvPr/>
        </p:nvSpPr>
        <p:spPr>
          <a:xfrm>
            <a:off x="4718304" y="2377440"/>
            <a:ext cx="64008" cy="5669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6" name="S07_IndexFileTitle1"/>
          <p:cNvSpPr/>
          <p:nvPr/>
        </p:nvSpPr>
        <p:spPr>
          <a:xfrm>
            <a:off x="49377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manifest.yaml</a:t>
            </a:r>
            <a:endParaRPr lang="en-US" sz="1170" dirty="0"/>
          </a:p>
        </p:txBody>
      </p:sp>
      <p:sp>
        <p:nvSpPr>
          <p:cNvPr id="47" name="S07_IndexFileSubtitle1"/>
          <p:cNvSpPr/>
          <p:nvPr/>
        </p:nvSpPr>
        <p:spPr>
          <a:xfrm>
            <a:off x="4937760" y="26974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 · типы · hash · связи</a:t>
            </a:r>
            <a:endParaRPr lang="en-US" sz="890" dirty="0"/>
          </a:p>
        </p:txBody>
      </p:sp>
      <p:sp>
        <p:nvSpPr>
          <p:cNvPr id="48" name="S07_IndexFileCard2"/>
          <p:cNvSpPr/>
          <p:nvPr/>
        </p:nvSpPr>
        <p:spPr>
          <a:xfrm>
            <a:off x="4718304" y="313639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9" name="S07_IndexFileAccent2"/>
          <p:cNvSpPr/>
          <p:nvPr/>
        </p:nvSpPr>
        <p:spPr>
          <a:xfrm>
            <a:off x="4718304" y="3136392"/>
            <a:ext cx="64008" cy="5669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7_IndexFileTitle2"/>
          <p:cNvSpPr/>
          <p:nvPr/>
        </p:nvSpPr>
        <p:spPr>
          <a:xfrm>
            <a:off x="4937760" y="3227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navigation.md</a:t>
            </a:r>
            <a:endParaRPr lang="en-US" sz="1170" dirty="0"/>
          </a:p>
        </p:txBody>
      </p:sp>
      <p:sp>
        <p:nvSpPr>
          <p:cNvPr id="51" name="S07_IndexFileSubtitle2"/>
          <p:cNvSpPr/>
          <p:nvPr/>
        </p:nvSpPr>
        <p:spPr>
          <a:xfrm>
            <a:off x="4937760" y="34564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читать первым</a:t>
            </a:r>
            <a:endParaRPr lang="en-US" sz="890" dirty="0"/>
          </a:p>
        </p:txBody>
      </p:sp>
      <p:sp>
        <p:nvSpPr>
          <p:cNvPr id="52" name="S07_IndexFileCard3"/>
          <p:cNvSpPr/>
          <p:nvPr/>
        </p:nvSpPr>
        <p:spPr>
          <a:xfrm>
            <a:off x="4718304" y="389534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3" name="S07_IndexFileAccent3"/>
          <p:cNvSpPr/>
          <p:nvPr/>
        </p:nvSpPr>
        <p:spPr>
          <a:xfrm>
            <a:off x="4718304" y="3895344"/>
            <a:ext cx="64008" cy="566928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4" name="S07_IndexFileTitle3"/>
          <p:cNvSpPr/>
          <p:nvPr/>
        </p:nvSpPr>
        <p:spPr>
          <a:xfrm>
            <a:off x="493776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coverage.md</a:t>
            </a:r>
            <a:endParaRPr lang="en-US" sz="1170" dirty="0"/>
          </a:p>
        </p:txBody>
      </p:sp>
      <p:sp>
        <p:nvSpPr>
          <p:cNvPr id="55" name="S07_IndexFileSubtitle3"/>
          <p:cNvSpPr/>
          <p:nvPr/>
        </p:nvSpPr>
        <p:spPr>
          <a:xfrm>
            <a:off x="4937760" y="421538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описано / где пробел</a:t>
            </a:r>
            <a:endParaRPr lang="en-US" sz="890" dirty="0"/>
          </a:p>
        </p:txBody>
      </p:sp>
      <p:sp>
        <p:nvSpPr>
          <p:cNvPr id="56" name="S07_IndexFileCard4"/>
          <p:cNvSpPr/>
          <p:nvPr/>
        </p:nvSpPr>
        <p:spPr>
          <a:xfrm>
            <a:off x="4718304" y="46542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7" name="S07_IndexFileAccent4"/>
          <p:cNvSpPr/>
          <p:nvPr/>
        </p:nvSpPr>
        <p:spPr>
          <a:xfrm>
            <a:off x="4718304" y="4654296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8" name="S07_IndexFileTitle4"/>
          <p:cNvSpPr/>
          <p:nvPr/>
        </p:nvSpPr>
        <p:spPr>
          <a:xfrm>
            <a:off x="4937760" y="4745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stale-files.md</a:t>
            </a:r>
            <a:endParaRPr lang="en-US" sz="1170" dirty="0"/>
          </a:p>
        </p:txBody>
      </p:sp>
      <p:sp>
        <p:nvSpPr>
          <p:cNvPr id="59" name="S07_IndexFileSubtitle4"/>
          <p:cNvSpPr/>
          <p:nvPr/>
        </p:nvSpPr>
        <p:spPr>
          <a:xfrm>
            <a:off x="4937760" y="4974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· modified · deleted</a:t>
            </a:r>
            <a:endParaRPr lang="en-US" sz="890" dirty="0"/>
          </a:p>
        </p:txBody>
      </p:sp>
      <p:sp>
        <p:nvSpPr>
          <p:cNvPr id="60" name="S07_IndexToContext"/>
          <p:cNvSpPr/>
          <p:nvPr/>
        </p:nvSpPr>
        <p:spPr>
          <a:xfrm>
            <a:off x="7534656" y="3675888"/>
            <a:ext cx="283464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61" name="S07_ContextMapCard"/>
          <p:cNvSpPr/>
          <p:nvPr/>
        </p:nvSpPr>
        <p:spPr>
          <a:xfrm>
            <a:off x="7882128" y="1444752"/>
            <a:ext cx="3621024" cy="450799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22304A">
                <a:alpha val="1.2e+49"/>
              </a:srgbClr>
            </a:outerShdw>
          </a:effectLst>
        </p:spPr>
      </p:sp>
      <p:sp>
        <p:nvSpPr>
          <p:cNvPr id="62" name="S07_ContextSelectorLabel_Bg"/>
          <p:cNvSpPr/>
          <p:nvPr/>
        </p:nvSpPr>
        <p:spPr>
          <a:xfrm>
            <a:off x="8174736" y="1700784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3" name="S07_ContextSelectorLabel_Text"/>
          <p:cNvSpPr/>
          <p:nvPr/>
        </p:nvSpPr>
        <p:spPr>
          <a:xfrm>
            <a:off x="8174736" y="1705356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 SELECTOR</a:t>
            </a:r>
            <a:endParaRPr lang="en-US" sz="1040" dirty="0"/>
          </a:p>
        </p:txBody>
      </p:sp>
      <p:sp>
        <p:nvSpPr>
          <p:cNvPr id="64" name="S07_SelectorEntity_Bg"/>
          <p:cNvSpPr/>
          <p:nvPr/>
        </p:nvSpPr>
        <p:spPr>
          <a:xfrm>
            <a:off x="8183880" y="23134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65" name="S07_SelectorEntity_Text"/>
          <p:cNvSpPr/>
          <p:nvPr/>
        </p:nvSpPr>
        <p:spPr>
          <a:xfrm>
            <a:off x="8183880" y="2318004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entity</a:t>
            </a:r>
            <a:endParaRPr lang="en-US" sz="920" dirty="0"/>
          </a:p>
        </p:txBody>
      </p:sp>
      <p:sp>
        <p:nvSpPr>
          <p:cNvPr id="66" name="S07_SelectorEndpoint_Bg"/>
          <p:cNvSpPr/>
          <p:nvPr/>
        </p:nvSpPr>
        <p:spPr>
          <a:xfrm>
            <a:off x="8924544" y="2313432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7" name="S07_SelectorEndpoint_Text"/>
          <p:cNvSpPr/>
          <p:nvPr/>
        </p:nvSpPr>
        <p:spPr>
          <a:xfrm>
            <a:off x="8924544" y="23180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endpoint</a:t>
            </a:r>
            <a:endParaRPr lang="en-US" sz="920" dirty="0"/>
          </a:p>
        </p:txBody>
      </p:sp>
      <p:sp>
        <p:nvSpPr>
          <p:cNvPr id="68" name="S07_SelectorEvent_Bg"/>
          <p:cNvSpPr/>
          <p:nvPr/>
        </p:nvSpPr>
        <p:spPr>
          <a:xfrm>
            <a:off x="9765792" y="2313432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69" name="S07_SelectorEvent_Text"/>
          <p:cNvSpPr/>
          <p:nvPr/>
        </p:nvSpPr>
        <p:spPr>
          <a:xfrm>
            <a:off x="9765792" y="231800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</a:t>
            </a:r>
            <a:endParaRPr lang="en-US" sz="920" dirty="0"/>
          </a:p>
        </p:txBody>
      </p:sp>
      <p:sp>
        <p:nvSpPr>
          <p:cNvPr id="70" name="S07_SelectorRelation_Bg"/>
          <p:cNvSpPr/>
          <p:nvPr/>
        </p:nvSpPr>
        <p:spPr>
          <a:xfrm>
            <a:off x="10497312" y="2313432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71" name="S07_SelectorRelation_Text"/>
          <p:cNvSpPr/>
          <p:nvPr/>
        </p:nvSpPr>
        <p:spPr>
          <a:xfrm>
            <a:off x="10497312" y="231800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</a:t>
            </a:r>
            <a:endParaRPr lang="en-US" sz="920" dirty="0"/>
          </a:p>
        </p:txBody>
      </p:sp>
      <p:sp>
        <p:nvSpPr>
          <p:cNvPr id="72" name="S07_ContextChangeCard"/>
          <p:cNvSpPr/>
          <p:nvPr/>
        </p:nvSpPr>
        <p:spPr>
          <a:xfrm>
            <a:off x="9189720" y="3236976"/>
            <a:ext cx="107899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3" name="S07_ContextChangeText"/>
          <p:cNvSpPr/>
          <p:nvPr/>
        </p:nvSpPr>
        <p:spPr>
          <a:xfrm>
            <a:off x="9290304" y="34564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240" dirty="0"/>
          </a:p>
        </p:txBody>
      </p:sp>
      <p:sp>
        <p:nvSpPr>
          <p:cNvPr id="74" name="S07_ContextLink1"/>
          <p:cNvSpPr/>
          <p:nvPr/>
        </p:nvSpPr>
        <p:spPr>
          <a:xfrm flipH="1" flipV="1">
            <a:off x="8567928" y="3218688"/>
            <a:ext cx="1161288" cy="38404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75" name="S07_ContextDoc1"/>
          <p:cNvSpPr/>
          <p:nvPr/>
        </p:nvSpPr>
        <p:spPr>
          <a:xfrm>
            <a:off x="8174736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6" name="S07_ContextDocText1"/>
          <p:cNvSpPr/>
          <p:nvPr/>
        </p:nvSpPr>
        <p:spPr>
          <a:xfrm>
            <a:off x="8247888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50" dirty="0"/>
          </a:p>
        </p:txBody>
      </p:sp>
      <p:sp>
        <p:nvSpPr>
          <p:cNvPr id="77" name="S07_ContextLink2"/>
          <p:cNvSpPr/>
          <p:nvPr/>
        </p:nvSpPr>
        <p:spPr>
          <a:xfrm flipV="1">
            <a:off x="9729216" y="3218688"/>
            <a:ext cx="1289304" cy="384048"/>
          </a:xfrm>
          <a:prstGeom prst="line">
            <a:avLst/>
          </a:prstGeom>
          <a:noFill/>
          <a:ln w="1524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78" name="S07_ContextDoc2"/>
          <p:cNvSpPr/>
          <p:nvPr/>
        </p:nvSpPr>
        <p:spPr>
          <a:xfrm>
            <a:off x="10625328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9" name="S07_ContextDocText2"/>
          <p:cNvSpPr/>
          <p:nvPr/>
        </p:nvSpPr>
        <p:spPr>
          <a:xfrm>
            <a:off x="10698480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50" dirty="0"/>
          </a:p>
        </p:txBody>
      </p:sp>
      <p:sp>
        <p:nvSpPr>
          <p:cNvPr id="80" name="S07_ContextLink3"/>
          <p:cNvSpPr/>
          <p:nvPr/>
        </p:nvSpPr>
        <p:spPr>
          <a:xfrm flipH="1">
            <a:off x="8567928" y="3602736"/>
            <a:ext cx="1161288" cy="9601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1" name="S07_ContextDoc3"/>
          <p:cNvSpPr/>
          <p:nvPr/>
        </p:nvSpPr>
        <p:spPr>
          <a:xfrm>
            <a:off x="8174736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S07_ContextDocText3"/>
          <p:cNvSpPr/>
          <p:nvPr/>
        </p:nvSpPr>
        <p:spPr>
          <a:xfrm>
            <a:off x="8247888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050" dirty="0"/>
          </a:p>
        </p:txBody>
      </p:sp>
      <p:sp>
        <p:nvSpPr>
          <p:cNvPr id="83" name="S07_ContextLink4"/>
          <p:cNvSpPr/>
          <p:nvPr/>
        </p:nvSpPr>
        <p:spPr>
          <a:xfrm>
            <a:off x="9729216" y="3602736"/>
            <a:ext cx="1289304" cy="960120"/>
          </a:xfrm>
          <a:prstGeom prst="line">
            <a:avLst/>
          </a:prstGeom>
          <a:noFill/>
          <a:ln w="1524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84" name="S07_ContextDoc4"/>
          <p:cNvSpPr/>
          <p:nvPr/>
        </p:nvSpPr>
        <p:spPr>
          <a:xfrm>
            <a:off x="10625328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5" name="S07_ContextDocText4"/>
          <p:cNvSpPr/>
          <p:nvPr/>
        </p:nvSpPr>
        <p:spPr>
          <a:xfrm>
            <a:off x="10698480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</a:t>
            </a:r>
            <a:endParaRPr lang="en-US" sz="1050" dirty="0"/>
          </a:p>
        </p:txBody>
      </p:sp>
      <p:sp>
        <p:nvSpPr>
          <p:cNvPr id="86" name="S07_ContextMapResult"/>
          <p:cNvSpPr/>
          <p:nvPr/>
        </p:nvSpPr>
        <p:spPr>
          <a:xfrm>
            <a:off x="8531352" y="5175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явный список источников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причина выбора</a:t>
            </a:r>
            <a:endParaRPr lang="en-US" sz="1140" dirty="0"/>
          </a:p>
        </p:txBody>
      </p:sp>
      <p:sp>
        <p:nvSpPr>
          <p:cNvPr id="87" name="S07_IndexThesis"/>
          <p:cNvSpPr/>
          <p:nvPr/>
        </p:nvSpPr>
        <p:spPr>
          <a:xfrm>
            <a:off x="1856232" y="61081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создаёт основу для навигации, связей и дальнейшей кристаллизации контекста.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8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850" dirty="0"/>
          </a:p>
        </p:txBody>
      </p:sp>
      <p:sp>
        <p:nvSpPr>
          <p:cNvPr id="4" name="S08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входа — один знакомый lifecycle</a:t>
            </a:r>
            <a:endParaRPr lang="en-US" sz="2850" dirty="0"/>
          </a:p>
        </p:txBody>
      </p:sp>
      <p:sp>
        <p:nvSpPr>
          <p:cNvPr id="5" name="S08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входа зависит от того, где уже находится аналитическая дельта.</a:t>
            </a:r>
            <a:endParaRPr lang="en-US" sz="1320" dirty="0"/>
          </a:p>
        </p:txBody>
      </p:sp>
      <p:sp>
        <p:nvSpPr>
          <p:cNvPr id="6" name="S08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8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30" dirty="0"/>
          </a:p>
        </p:txBody>
      </p:sp>
      <p:sp>
        <p:nvSpPr>
          <p:cNvPr id="8" name="S08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8_WorkflowLane1"/>
          <p:cNvSpPr/>
          <p:nvPr/>
        </p:nvSpPr>
        <p:spPr>
          <a:xfrm>
            <a:off x="658368" y="1444752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8_WorkflowLaneAccent1"/>
          <p:cNvSpPr/>
          <p:nvPr/>
        </p:nvSpPr>
        <p:spPr>
          <a:xfrm>
            <a:off x="658368" y="1444752"/>
            <a:ext cx="82296" cy="8138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8_WorkflowLaneLabel1"/>
          <p:cNvSpPr/>
          <p:nvPr/>
        </p:nvSpPr>
        <p:spPr>
          <a:xfrm>
            <a:off x="932688" y="15453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 СЕРВИСА</a:t>
            </a:r>
            <a:endParaRPr lang="en-US" sz="820" dirty="0"/>
          </a:p>
        </p:txBody>
      </p:sp>
      <p:sp>
        <p:nvSpPr>
          <p:cNvPr id="13" name="S08_WorkflowLane1Step1_Bg"/>
          <p:cNvSpPr/>
          <p:nvPr/>
        </p:nvSpPr>
        <p:spPr>
          <a:xfrm>
            <a:off x="2423160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08_WorkflowLane1Step1_Text"/>
          <p:cNvSpPr/>
          <p:nvPr/>
        </p:nvSpPr>
        <p:spPr>
          <a:xfrm>
            <a:off x="2423160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Документы в Git</a:t>
            </a:r>
            <a:endParaRPr lang="en-US" sz="940" dirty="0"/>
          </a:p>
        </p:txBody>
      </p:sp>
      <p:sp>
        <p:nvSpPr>
          <p:cNvPr id="15" name="S08_WorkflowLane1Arrow1"/>
          <p:cNvSpPr/>
          <p:nvPr/>
        </p:nvSpPr>
        <p:spPr>
          <a:xfrm>
            <a:off x="3685032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08_WorkflowLane1Step2_Bg"/>
          <p:cNvSpPr/>
          <p:nvPr/>
        </p:nvSpPr>
        <p:spPr>
          <a:xfrm>
            <a:off x="3950208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08_WorkflowLane1Step2_Text"/>
          <p:cNvSpPr/>
          <p:nvPr/>
        </p:nvSpPr>
        <p:spPr>
          <a:xfrm>
            <a:off x="3950208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940" dirty="0"/>
          </a:p>
        </p:txBody>
      </p:sp>
      <p:sp>
        <p:nvSpPr>
          <p:cNvPr id="18" name="S08_WorkflowLane1Arrow2"/>
          <p:cNvSpPr/>
          <p:nvPr/>
        </p:nvSpPr>
        <p:spPr>
          <a:xfrm>
            <a:off x="5212080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08_WorkflowLane1Step3_Bg"/>
          <p:cNvSpPr/>
          <p:nvPr/>
        </p:nvSpPr>
        <p:spPr>
          <a:xfrm>
            <a:off x="5477256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08_WorkflowLane1Step3_Text"/>
          <p:cNvSpPr/>
          <p:nvPr/>
        </p:nvSpPr>
        <p:spPr>
          <a:xfrm>
            <a:off x="5477256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index</a:t>
            </a:r>
            <a:endParaRPr lang="en-US" sz="940" dirty="0"/>
          </a:p>
        </p:txBody>
      </p:sp>
      <p:sp>
        <p:nvSpPr>
          <p:cNvPr id="21" name="S08_WorkflowLane1Arrow3"/>
          <p:cNvSpPr/>
          <p:nvPr/>
        </p:nvSpPr>
        <p:spPr>
          <a:xfrm>
            <a:off x="6739128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2" name="S08_WorkflowLane1Step4_Bg"/>
          <p:cNvSpPr/>
          <p:nvPr/>
        </p:nvSpPr>
        <p:spPr>
          <a:xfrm>
            <a:off x="7004304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S08_WorkflowLane1Step4_Text"/>
          <p:cNvSpPr/>
          <p:nvPr/>
        </p:nvSpPr>
        <p:spPr>
          <a:xfrm>
            <a:off x="7004304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24" name="S08_WorkflowConverge1"/>
          <p:cNvSpPr/>
          <p:nvPr/>
        </p:nvSpPr>
        <p:spPr>
          <a:xfrm>
            <a:off x="8476488" y="1856232"/>
            <a:ext cx="429768" cy="950976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08_WorkflowLane2"/>
          <p:cNvSpPr/>
          <p:nvPr/>
        </p:nvSpPr>
        <p:spPr>
          <a:xfrm>
            <a:off x="658368" y="2468880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8_WorkflowLaneAccent2"/>
          <p:cNvSpPr/>
          <p:nvPr/>
        </p:nvSpPr>
        <p:spPr>
          <a:xfrm>
            <a:off x="658368" y="2468880"/>
            <a:ext cx="82296" cy="8138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8_WorkflowLaneLabel2"/>
          <p:cNvSpPr/>
          <p:nvPr/>
        </p:nvSpPr>
        <p:spPr>
          <a:xfrm>
            <a:off x="932688" y="2569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ОБЫЧНЫЙ CHANGE</a:t>
            </a:r>
            <a:endParaRPr lang="en-US" sz="820" dirty="0"/>
          </a:p>
        </p:txBody>
      </p:sp>
      <p:sp>
        <p:nvSpPr>
          <p:cNvPr id="28" name="S08_WorkflowLane2Step1_Bg"/>
          <p:cNvSpPr/>
          <p:nvPr/>
        </p:nvSpPr>
        <p:spPr>
          <a:xfrm>
            <a:off x="2423160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9" name="S08_WorkflowLane2Step1_Text"/>
          <p:cNvSpPr/>
          <p:nvPr/>
        </p:nvSpPr>
        <p:spPr>
          <a:xfrm>
            <a:off x="2423160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Новое требование</a:t>
            </a:r>
            <a:endParaRPr lang="en-US" sz="940" dirty="0"/>
          </a:p>
        </p:txBody>
      </p:sp>
      <p:sp>
        <p:nvSpPr>
          <p:cNvPr id="30" name="S08_WorkflowLane2Arrow1"/>
          <p:cNvSpPr/>
          <p:nvPr/>
        </p:nvSpPr>
        <p:spPr>
          <a:xfrm>
            <a:off x="4050792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1" name="S08_WorkflowLane2Step2_Bg"/>
          <p:cNvSpPr/>
          <p:nvPr/>
        </p:nvSpPr>
        <p:spPr>
          <a:xfrm>
            <a:off x="4489704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2" name="S08_WorkflowLane2Step2_Text"/>
          <p:cNvSpPr/>
          <p:nvPr/>
        </p:nvSpPr>
        <p:spPr>
          <a:xfrm>
            <a:off x="4489704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33" name="S08_WorkflowLane2Arrow2"/>
          <p:cNvSpPr/>
          <p:nvPr/>
        </p:nvSpPr>
        <p:spPr>
          <a:xfrm>
            <a:off x="6117336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4" name="S08_WorkflowLane2Step3_Bg"/>
          <p:cNvSpPr/>
          <p:nvPr/>
        </p:nvSpPr>
        <p:spPr>
          <a:xfrm>
            <a:off x="6556248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5" name="S08_WorkflowLane2Step3_Text"/>
          <p:cNvSpPr/>
          <p:nvPr/>
        </p:nvSpPr>
        <p:spPr>
          <a:xfrm>
            <a:off x="6556248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940" dirty="0"/>
          </a:p>
        </p:txBody>
      </p:sp>
      <p:sp>
        <p:nvSpPr>
          <p:cNvPr id="36" name="S08_WorkflowConverge2"/>
          <p:cNvSpPr/>
          <p:nvPr/>
        </p:nvSpPr>
        <p:spPr>
          <a:xfrm flipV="1">
            <a:off x="8476488" y="2807208"/>
            <a:ext cx="429768" cy="73152"/>
          </a:xfrm>
          <a:prstGeom prst="line">
            <a:avLst/>
          </a:prstGeom>
          <a:noFill/>
          <a:ln w="1587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7" name="S08_WorkflowLane3"/>
          <p:cNvSpPr/>
          <p:nvPr/>
        </p:nvSpPr>
        <p:spPr>
          <a:xfrm>
            <a:off x="658368" y="3493008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8" name="S08_WorkflowLaneAccent3"/>
          <p:cNvSpPr/>
          <p:nvPr/>
        </p:nvSpPr>
        <p:spPr>
          <a:xfrm>
            <a:off x="658368" y="3493008"/>
            <a:ext cx="82296" cy="8138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9" name="S08_WorkflowLaneLabel3"/>
          <p:cNvSpPr/>
          <p:nvPr/>
        </p:nvSpPr>
        <p:spPr>
          <a:xfrm>
            <a:off x="932688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820" dirty="0"/>
          </a:p>
        </p:txBody>
      </p:sp>
      <p:sp>
        <p:nvSpPr>
          <p:cNvPr id="40" name="S08_WorkflowLane3Step1_Bg"/>
          <p:cNvSpPr/>
          <p:nvPr/>
        </p:nvSpPr>
        <p:spPr>
          <a:xfrm>
            <a:off x="2423160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1" name="S08_WorkflowLane3Step1_Text"/>
          <p:cNvSpPr/>
          <p:nvPr/>
        </p:nvSpPr>
        <p:spPr>
          <a:xfrm>
            <a:off x="2423160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Изменённые docs</a:t>
            </a:r>
            <a:endParaRPr lang="en-US" sz="940" dirty="0"/>
          </a:p>
        </p:txBody>
      </p:sp>
      <p:sp>
        <p:nvSpPr>
          <p:cNvPr id="42" name="S08_WorkflowLane3Arrow1"/>
          <p:cNvSpPr/>
          <p:nvPr/>
        </p:nvSpPr>
        <p:spPr>
          <a:xfrm>
            <a:off x="4050792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3" name="S08_WorkflowLane3Step2_Bg"/>
          <p:cNvSpPr/>
          <p:nvPr/>
        </p:nvSpPr>
        <p:spPr>
          <a:xfrm>
            <a:off x="4489704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4" name="S08_WorkflowLane3Step2_Text"/>
          <p:cNvSpPr/>
          <p:nvPr/>
        </p:nvSpPr>
        <p:spPr>
          <a:xfrm>
            <a:off x="4489704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940" dirty="0"/>
          </a:p>
        </p:txBody>
      </p:sp>
      <p:sp>
        <p:nvSpPr>
          <p:cNvPr id="45" name="S08_WorkflowLane3Arrow2"/>
          <p:cNvSpPr/>
          <p:nvPr/>
        </p:nvSpPr>
        <p:spPr>
          <a:xfrm>
            <a:off x="6117336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6" name="S08_WorkflowLane3Step3_Bg"/>
          <p:cNvSpPr/>
          <p:nvPr/>
        </p:nvSpPr>
        <p:spPr>
          <a:xfrm>
            <a:off x="6556248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7" name="S08_WorkflowLane3Step3_Text"/>
          <p:cNvSpPr/>
          <p:nvPr/>
        </p:nvSpPr>
        <p:spPr>
          <a:xfrm>
            <a:off x="6556248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evidence</a:t>
            </a:r>
            <a:endParaRPr lang="en-US" sz="940" dirty="0"/>
          </a:p>
        </p:txBody>
      </p:sp>
      <p:sp>
        <p:nvSpPr>
          <p:cNvPr id="48" name="S08_WorkflowConverge3"/>
          <p:cNvSpPr/>
          <p:nvPr/>
        </p:nvSpPr>
        <p:spPr>
          <a:xfrm flipV="1">
            <a:off x="8476488" y="2807208"/>
            <a:ext cx="429768" cy="109728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9" name="S08_UnifiedChangeCard"/>
          <p:cNvSpPr/>
          <p:nvPr/>
        </p:nvSpPr>
        <p:spPr>
          <a:xfrm>
            <a:off x="8979408" y="1993392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22304A">
                <a:alpha val="1.2e+54"/>
              </a:srgbClr>
            </a:outerShdw>
          </a:effectLst>
        </p:spPr>
      </p:sp>
      <p:sp>
        <p:nvSpPr>
          <p:cNvPr id="50" name="S08_UnifiedChangeLabel_Bg"/>
          <p:cNvSpPr/>
          <p:nvPr/>
        </p:nvSpPr>
        <p:spPr>
          <a:xfrm>
            <a:off x="9491472" y="22677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1" name="S08_UnifiedChangeLabel_Text"/>
          <p:cNvSpPr/>
          <p:nvPr/>
        </p:nvSpPr>
        <p:spPr>
          <a:xfrm>
            <a:off x="9491472" y="2272284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ДЕЛЬТА</a:t>
            </a:r>
            <a:endParaRPr lang="en-US" sz="1020" dirty="0"/>
          </a:p>
        </p:txBody>
      </p:sp>
      <p:sp>
        <p:nvSpPr>
          <p:cNvPr id="52" name="S08_UnifiedChangeTitle"/>
          <p:cNvSpPr/>
          <p:nvPr/>
        </p:nvSpPr>
        <p:spPr>
          <a:xfrm>
            <a:off x="940003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900" dirty="0"/>
          </a:p>
        </p:txBody>
      </p:sp>
      <p:sp>
        <p:nvSpPr>
          <p:cNvPr id="53" name="S08_UnifiedChangeSubtitle"/>
          <p:cNvSpPr/>
          <p:nvPr/>
        </p:nvSpPr>
        <p:spPr>
          <a:xfrm>
            <a:off x="9290304" y="31821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· mode · evidence</a:t>
            </a:r>
            <a:endParaRPr lang="en-US" sz="950" dirty="0"/>
          </a:p>
        </p:txBody>
      </p:sp>
      <p:sp>
        <p:nvSpPr>
          <p:cNvPr id="54" name="S08_SharedLifecycleLabel"/>
          <p:cNvSpPr/>
          <p:nvPr/>
        </p:nvSpPr>
        <p:spPr>
          <a:xfrm>
            <a:off x="658368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ОБЩИЙ LIFECYCLE</a:t>
            </a:r>
            <a:endParaRPr lang="en-US" sz="850" dirty="0"/>
          </a:p>
        </p:txBody>
      </p:sp>
      <p:sp>
        <p:nvSpPr>
          <p:cNvPr id="55" name="S08_CommonLifecycleCard1"/>
          <p:cNvSpPr/>
          <p:nvPr/>
        </p:nvSpPr>
        <p:spPr>
          <a:xfrm>
            <a:off x="1298448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6" name="S08_CommonLifecycleText1"/>
          <p:cNvSpPr/>
          <p:nvPr/>
        </p:nvSpPr>
        <p:spPr>
          <a:xfrm>
            <a:off x="1371600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/ approve</a:t>
            </a:r>
            <a:endParaRPr lang="en-US" sz="1180" dirty="0"/>
          </a:p>
        </p:txBody>
      </p:sp>
      <p:sp>
        <p:nvSpPr>
          <p:cNvPr id="57" name="S08_CommonLifecycleArrow1"/>
          <p:cNvSpPr/>
          <p:nvPr/>
        </p:nvSpPr>
        <p:spPr>
          <a:xfrm>
            <a:off x="2926080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8" name="S08_CommonLifecycleCard2"/>
          <p:cNvSpPr/>
          <p:nvPr/>
        </p:nvSpPr>
        <p:spPr>
          <a:xfrm>
            <a:off x="3374136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9" name="S08_CommonLifecycleText2"/>
          <p:cNvSpPr/>
          <p:nvPr/>
        </p:nvSpPr>
        <p:spPr>
          <a:xfrm>
            <a:off x="3447288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design?</a:t>
            </a:r>
            <a:endParaRPr lang="en-US" sz="1180" dirty="0"/>
          </a:p>
        </p:txBody>
      </p:sp>
      <p:sp>
        <p:nvSpPr>
          <p:cNvPr id="60" name="S08_CommonLifecycleArrow2"/>
          <p:cNvSpPr/>
          <p:nvPr/>
        </p:nvSpPr>
        <p:spPr>
          <a:xfrm>
            <a:off x="5001768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1" name="S08_CommonLifecycleCard3"/>
          <p:cNvSpPr/>
          <p:nvPr/>
        </p:nvSpPr>
        <p:spPr>
          <a:xfrm>
            <a:off x="5449824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2" name="S08_CommonLifecycleText3"/>
          <p:cNvSpPr/>
          <p:nvPr/>
        </p:nvSpPr>
        <p:spPr>
          <a:xfrm>
            <a:off x="5522976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180" dirty="0"/>
          </a:p>
        </p:txBody>
      </p:sp>
      <p:sp>
        <p:nvSpPr>
          <p:cNvPr id="63" name="S08_CommonLifecycleArrow3"/>
          <p:cNvSpPr/>
          <p:nvPr/>
        </p:nvSpPr>
        <p:spPr>
          <a:xfrm>
            <a:off x="7077456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4" name="S08_CommonLifecycleCard4"/>
          <p:cNvSpPr/>
          <p:nvPr/>
        </p:nvSpPr>
        <p:spPr>
          <a:xfrm>
            <a:off x="7525512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5" name="S08_CommonLifecycleText4"/>
          <p:cNvSpPr/>
          <p:nvPr/>
        </p:nvSpPr>
        <p:spPr>
          <a:xfrm>
            <a:off x="7598664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/ verify</a:t>
            </a:r>
            <a:endParaRPr lang="en-US" sz="1180" dirty="0"/>
          </a:p>
        </p:txBody>
      </p:sp>
      <p:sp>
        <p:nvSpPr>
          <p:cNvPr id="66" name="S08_CommonLifecycleArrow4"/>
          <p:cNvSpPr/>
          <p:nvPr/>
        </p:nvSpPr>
        <p:spPr>
          <a:xfrm>
            <a:off x="9153144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7" name="S08_CommonLifecycleCard5"/>
          <p:cNvSpPr/>
          <p:nvPr/>
        </p:nvSpPr>
        <p:spPr>
          <a:xfrm>
            <a:off x="9601200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8" name="S08_CommonLifecycleText5"/>
          <p:cNvSpPr/>
          <p:nvPr/>
        </p:nvSpPr>
        <p:spPr>
          <a:xfrm>
            <a:off x="9674352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180" dirty="0"/>
          </a:p>
        </p:txBody>
      </p:sp>
      <p:sp>
        <p:nvSpPr>
          <p:cNvPr id="69" name="S08_ModeHint_Bg"/>
          <p:cNvSpPr/>
          <p:nvPr/>
        </p:nvSpPr>
        <p:spPr>
          <a:xfrm>
            <a:off x="1993392" y="5879592"/>
            <a:ext cx="8202168" cy="384048"/>
          </a:xfrm>
          <a:prstGeom prst="roundRect">
            <a:avLst>
              <a:gd name="adj" fmla="val 19048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70" name="S08_ModeHint_Text"/>
          <p:cNvSpPr/>
          <p:nvPr/>
        </p:nvSpPr>
        <p:spPr>
          <a:xfrm>
            <a:off x="1993392" y="5884164"/>
            <a:ext cx="8202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apply: одна delta → несколько выбранных документов master spec → актуальный _sdd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9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И ЗРЕЛОСТЬ</a:t>
            </a:r>
            <a:endParaRPr lang="en-US" sz="850" dirty="0"/>
          </a:p>
        </p:txBody>
      </p:sp>
      <p:sp>
        <p:nvSpPr>
          <p:cNvPr id="4" name="S09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слой: что уже есть и куда развиваем</a:t>
            </a:r>
            <a:endParaRPr lang="en-US" sz="2850" dirty="0"/>
          </a:p>
        </p:txBody>
      </p:sp>
      <p:sp>
        <p:nvSpPr>
          <p:cNvPr id="5" name="S09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Основа создана; следующий шаг — эффективнее связывать и кристаллизовать контекст.</a:t>
            </a:r>
            <a:endParaRPr lang="en-US" sz="1320" dirty="0"/>
          </a:p>
        </p:txBody>
      </p:sp>
      <p:sp>
        <p:nvSpPr>
          <p:cNvPr id="6" name="S09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9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30" dirty="0"/>
          </a:p>
        </p:txBody>
      </p:sp>
      <p:sp>
        <p:nvSpPr>
          <p:cNvPr id="8" name="S09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9_BenefitCard1"/>
          <p:cNvSpPr/>
          <p:nvPr/>
        </p:nvSpPr>
        <p:spPr>
          <a:xfrm>
            <a:off x="658368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9_BenefitIcon1_Bg"/>
          <p:cNvSpPr/>
          <p:nvPr/>
        </p:nvSpPr>
        <p:spPr>
          <a:xfrm>
            <a:off x="877824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9_BenefitIcon1_Text"/>
          <p:cNvSpPr/>
          <p:nvPr/>
        </p:nvSpPr>
        <p:spPr>
          <a:xfrm>
            <a:off x="877824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↳</a:t>
            </a:r>
            <a:endParaRPr lang="en-US" sz="1320" dirty="0"/>
          </a:p>
        </p:txBody>
      </p:sp>
      <p:sp>
        <p:nvSpPr>
          <p:cNvPr id="13" name="S09_BenefitTitle1"/>
          <p:cNvSpPr/>
          <p:nvPr/>
        </p:nvSpPr>
        <p:spPr>
          <a:xfrm>
            <a:off x="1600200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карта документов</a:t>
            </a:r>
            <a:endParaRPr lang="en-US" sz="1450" dirty="0"/>
          </a:p>
        </p:txBody>
      </p:sp>
      <p:sp>
        <p:nvSpPr>
          <p:cNvPr id="14" name="S09_BenefitText1"/>
          <p:cNvSpPr/>
          <p:nvPr/>
        </p:nvSpPr>
        <p:spPr>
          <a:xfrm>
            <a:off x="877824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docs-hub понятна человеку и агенту</a:t>
            </a:r>
            <a:endParaRPr lang="en-US" sz="1120" dirty="0"/>
          </a:p>
        </p:txBody>
      </p:sp>
      <p:sp>
        <p:nvSpPr>
          <p:cNvPr id="15" name="S09_BenefitCard2"/>
          <p:cNvSpPr/>
          <p:nvPr/>
        </p:nvSpPr>
        <p:spPr>
          <a:xfrm>
            <a:off x="4005072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09_BenefitIcon2_Bg"/>
          <p:cNvSpPr/>
          <p:nvPr/>
        </p:nvSpPr>
        <p:spPr>
          <a:xfrm>
            <a:off x="4224528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9_BenefitIcon2_Text"/>
          <p:cNvSpPr/>
          <p:nvPr/>
        </p:nvSpPr>
        <p:spPr>
          <a:xfrm>
            <a:off x="4224528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{}</a:t>
            </a:r>
            <a:endParaRPr lang="en-US" sz="1320" dirty="0"/>
          </a:p>
        </p:txBody>
      </p:sp>
      <p:sp>
        <p:nvSpPr>
          <p:cNvPr id="18" name="S09_BenefitTitle2"/>
          <p:cNvSpPr/>
          <p:nvPr/>
        </p:nvSpPr>
        <p:spPr>
          <a:xfrm>
            <a:off x="4946904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Разные форматы вместе</a:t>
            </a:r>
            <a:endParaRPr lang="en-US" sz="1450" dirty="0"/>
          </a:p>
        </p:txBody>
      </p:sp>
      <p:sp>
        <p:nvSpPr>
          <p:cNvPr id="19" name="S09_BenefitText2"/>
          <p:cNvSpPr/>
          <p:nvPr/>
        </p:nvSpPr>
        <p:spPr>
          <a:xfrm>
            <a:off x="4224528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MD, OpenAPI, YAML, DBML и диаграммы входят в общий контекст</a:t>
            </a:r>
            <a:endParaRPr lang="en-US" sz="1120" dirty="0"/>
          </a:p>
        </p:txBody>
      </p:sp>
      <p:sp>
        <p:nvSpPr>
          <p:cNvPr id="20" name="S09_BenefitCard3"/>
          <p:cNvSpPr/>
          <p:nvPr/>
        </p:nvSpPr>
        <p:spPr>
          <a:xfrm>
            <a:off x="658368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09_BenefitIcon3_Bg"/>
          <p:cNvSpPr/>
          <p:nvPr/>
        </p:nvSpPr>
        <p:spPr>
          <a:xfrm>
            <a:off x="877824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09_BenefitIcon3_Text"/>
          <p:cNvSpPr/>
          <p:nvPr/>
        </p:nvSpPr>
        <p:spPr>
          <a:xfrm>
            <a:off x="877824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</a:t>
            </a:r>
            <a:endParaRPr lang="en-US" sz="1320" dirty="0"/>
          </a:p>
        </p:txBody>
      </p:sp>
      <p:sp>
        <p:nvSpPr>
          <p:cNvPr id="23" name="S09_BenefitTitle3"/>
          <p:cNvSpPr/>
          <p:nvPr/>
        </p:nvSpPr>
        <p:spPr>
          <a:xfrm>
            <a:off x="1600200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Понятные источники</a:t>
            </a:r>
            <a:endParaRPr lang="en-US" sz="1450" dirty="0"/>
          </a:p>
        </p:txBody>
      </p:sp>
      <p:sp>
        <p:nvSpPr>
          <p:cNvPr id="24" name="S09_BenefitText3"/>
          <p:cNvSpPr/>
          <p:nvPr/>
        </p:nvSpPr>
        <p:spPr>
          <a:xfrm>
            <a:off x="877824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видно, какие материалы повлияли на change</a:t>
            </a:r>
            <a:endParaRPr lang="en-US" sz="1120" dirty="0"/>
          </a:p>
        </p:txBody>
      </p:sp>
      <p:sp>
        <p:nvSpPr>
          <p:cNvPr id="25" name="S09_BenefitCard4"/>
          <p:cNvSpPr/>
          <p:nvPr/>
        </p:nvSpPr>
        <p:spPr>
          <a:xfrm>
            <a:off x="4005072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9_BenefitIcon4_Bg"/>
          <p:cNvSpPr/>
          <p:nvPr/>
        </p:nvSpPr>
        <p:spPr>
          <a:xfrm>
            <a:off x="4224528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7" name="S09_BenefitIcon4_Text"/>
          <p:cNvSpPr/>
          <p:nvPr/>
        </p:nvSpPr>
        <p:spPr>
          <a:xfrm>
            <a:off x="4224528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⇄</a:t>
            </a:r>
            <a:endParaRPr lang="en-US" sz="1320" dirty="0"/>
          </a:p>
        </p:txBody>
      </p:sp>
      <p:sp>
        <p:nvSpPr>
          <p:cNvPr id="28" name="S09_BenefitTitle4"/>
          <p:cNvSpPr/>
          <p:nvPr/>
        </p:nvSpPr>
        <p:spPr>
          <a:xfrm>
            <a:off x="4946904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Гибкий путь change</a:t>
            </a:r>
            <a:endParaRPr lang="en-US" sz="1450" dirty="0"/>
          </a:p>
        </p:txBody>
      </p:sp>
      <p:sp>
        <p:nvSpPr>
          <p:cNvPr id="29" name="S09_BenefitText4"/>
          <p:cNvSpPr/>
          <p:nvPr/>
        </p:nvSpPr>
        <p:spPr>
          <a:xfrm>
            <a:off x="422452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через диалог или уже изменённую ветку аналитика</a:t>
            </a:r>
            <a:endParaRPr lang="en-US" sz="1120" dirty="0"/>
          </a:p>
        </p:txBody>
      </p:sp>
      <p:sp>
        <p:nvSpPr>
          <p:cNvPr id="30" name="S09_TradeoffsCard"/>
          <p:cNvSpPr/>
          <p:nvPr/>
        </p:nvSpPr>
        <p:spPr>
          <a:xfrm>
            <a:off x="7333488" y="1472184"/>
            <a:ext cx="4169664" cy="3118104"/>
          </a:xfrm>
          <a:prstGeom prst="roundRect">
            <a:avLst>
              <a:gd name="adj" fmla="val 2346"/>
            </a:avLst>
          </a:prstGeom>
          <a:solidFill>
            <a:srgbClr val="FFF3D9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31" name="S09_TradeoffsLabel_Bg"/>
          <p:cNvSpPr/>
          <p:nvPr/>
        </p:nvSpPr>
        <p:spPr>
          <a:xfrm>
            <a:off x="7626096" y="173736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9_TradeoffsLabel_Text"/>
          <p:cNvSpPr/>
          <p:nvPr/>
        </p:nvSpPr>
        <p:spPr>
          <a:xfrm>
            <a:off x="7626096" y="174193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5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КУДА РАЗВИВАЕМ</a:t>
            </a:r>
            <a:endParaRPr lang="en-US" sz="980" dirty="0"/>
          </a:p>
        </p:txBody>
      </p:sp>
      <p:sp>
        <p:nvSpPr>
          <p:cNvPr id="33" name="S09_Tradeoff1_Dot"/>
          <p:cNvSpPr/>
          <p:nvPr/>
        </p:nvSpPr>
        <p:spPr>
          <a:xfrm>
            <a:off x="7635240" y="24505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09_Tradeoff1_Text"/>
          <p:cNvSpPr/>
          <p:nvPr/>
        </p:nvSpPr>
        <p:spPr>
          <a:xfrm>
            <a:off x="7818120" y="23317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точнее связывать документы и области</a:t>
            </a:r>
            <a:endParaRPr lang="en-US" sz="1260" dirty="0"/>
          </a:p>
        </p:txBody>
      </p:sp>
      <p:sp>
        <p:nvSpPr>
          <p:cNvPr id="35" name="S09_Tradeoff2_Dot"/>
          <p:cNvSpPr/>
          <p:nvPr/>
        </p:nvSpPr>
        <p:spPr>
          <a:xfrm>
            <a:off x="7635240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S09_Tradeoff2_Text"/>
          <p:cNvSpPr/>
          <p:nvPr/>
        </p:nvSpPr>
        <p:spPr>
          <a:xfrm>
            <a:off x="7818120" y="2825496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лучше отбирать релевантный контекст</a:t>
            </a:r>
            <a:endParaRPr lang="en-US" sz="1260" dirty="0"/>
          </a:p>
        </p:txBody>
      </p:sp>
      <p:sp>
        <p:nvSpPr>
          <p:cNvPr id="37" name="S09_Tradeoff3_Dot"/>
          <p:cNvSpPr/>
          <p:nvPr/>
        </p:nvSpPr>
        <p:spPr>
          <a:xfrm>
            <a:off x="7635240" y="3438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9_Tradeoff3_Text"/>
          <p:cNvSpPr/>
          <p:nvPr/>
        </p:nvSpPr>
        <p:spPr>
          <a:xfrm>
            <a:off x="7818120" y="331927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кристаллизовать знания вокруг change</a:t>
            </a:r>
            <a:endParaRPr lang="en-US" sz="1260" dirty="0"/>
          </a:p>
        </p:txBody>
      </p:sp>
      <p:sp>
        <p:nvSpPr>
          <p:cNvPr id="39" name="S09_Tradeoff4_Dot"/>
          <p:cNvSpPr/>
          <p:nvPr/>
        </p:nvSpPr>
        <p:spPr>
          <a:xfrm>
            <a:off x="7635240" y="39319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9_Tradeoff4_Text"/>
          <p:cNvSpPr/>
          <p:nvPr/>
        </p:nvSpPr>
        <p:spPr>
          <a:xfrm>
            <a:off x="7818120" y="3813048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развивать связанную карту знаний</a:t>
            </a:r>
            <a:endParaRPr lang="en-US" sz="1260" dirty="0"/>
          </a:p>
        </p:txBody>
      </p:sp>
      <p:sp>
        <p:nvSpPr>
          <p:cNvPr id="41" name="S09_RoadmapCard"/>
          <p:cNvSpPr/>
          <p:nvPr/>
        </p:nvSpPr>
        <p:spPr>
          <a:xfrm>
            <a:off x="658368" y="4928616"/>
            <a:ext cx="10844784" cy="1115568"/>
          </a:xfrm>
          <a:prstGeom prst="roundRect">
            <a:avLst>
              <a:gd name="adj" fmla="val 65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22304A">
                <a:alpha val="1.2e+59"/>
              </a:srgbClr>
            </a:outerShdw>
          </a:effectLst>
        </p:spPr>
      </p:sp>
      <p:sp>
        <p:nvSpPr>
          <p:cNvPr id="42" name="S09_RoadmapLabel"/>
          <p:cNvSpPr/>
          <p:nvPr/>
        </p:nvSpPr>
        <p:spPr>
          <a:xfrm>
            <a:off x="896112" y="5157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</a:t>
            </a:r>
            <a:endParaRPr lang="en-US" sz="840" dirty="0"/>
          </a:p>
        </p:txBody>
      </p:sp>
      <p:sp>
        <p:nvSpPr>
          <p:cNvPr id="43" name="S09_RoadmapNode1"/>
          <p:cNvSpPr/>
          <p:nvPr/>
        </p:nvSpPr>
        <p:spPr>
          <a:xfrm>
            <a:off x="1828800" y="5239512"/>
            <a:ext cx="246888" cy="2468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S09_RoadmapTitle1"/>
          <p:cNvSpPr/>
          <p:nvPr/>
        </p:nvSpPr>
        <p:spPr>
          <a:xfrm>
            <a:off x="218541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30" dirty="0"/>
          </a:p>
        </p:txBody>
      </p:sp>
      <p:sp>
        <p:nvSpPr>
          <p:cNvPr id="45" name="S09_RoadmapText1"/>
          <p:cNvSpPr/>
          <p:nvPr/>
        </p:nvSpPr>
        <p:spPr>
          <a:xfrm>
            <a:off x="2185416" y="53766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файловая навигация</a:t>
            </a:r>
            <a:endParaRPr lang="en-US" sz="1120" dirty="0"/>
          </a:p>
        </p:txBody>
      </p:sp>
      <p:sp>
        <p:nvSpPr>
          <p:cNvPr id="46" name="S09_RoadmapArrow1"/>
          <p:cNvSpPr/>
          <p:nvPr/>
        </p:nvSpPr>
        <p:spPr>
          <a:xfrm>
            <a:off x="4133088" y="5367528"/>
            <a:ext cx="384048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47" name="S09_RoadmapNode2"/>
          <p:cNvSpPr/>
          <p:nvPr/>
        </p:nvSpPr>
        <p:spPr>
          <a:xfrm>
            <a:off x="4663440" y="5239512"/>
            <a:ext cx="246888" cy="2468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9_RoadmapTitle2"/>
          <p:cNvSpPr/>
          <p:nvPr/>
        </p:nvSpPr>
        <p:spPr>
          <a:xfrm>
            <a:off x="502005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Следом</a:t>
            </a:r>
            <a:endParaRPr lang="en-US" sz="1030" dirty="0"/>
          </a:p>
        </p:txBody>
      </p:sp>
      <p:sp>
        <p:nvSpPr>
          <p:cNvPr id="49" name="S09_RoadmapText2"/>
          <p:cNvSpPr/>
          <p:nvPr/>
        </p:nvSpPr>
        <p:spPr>
          <a:xfrm>
            <a:off x="5020056" y="5376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точнее связи и отбор</a:t>
            </a:r>
            <a:endParaRPr lang="en-US" sz="1120" dirty="0"/>
          </a:p>
        </p:txBody>
      </p:sp>
      <p:sp>
        <p:nvSpPr>
          <p:cNvPr id="50" name="S09_RoadmapArrow2"/>
          <p:cNvSpPr/>
          <p:nvPr/>
        </p:nvSpPr>
        <p:spPr>
          <a:xfrm>
            <a:off x="7178040" y="5367528"/>
            <a:ext cx="374904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51" name="S09_RoadmapNode3"/>
          <p:cNvSpPr/>
          <p:nvPr/>
        </p:nvSpPr>
        <p:spPr>
          <a:xfrm>
            <a:off x="7699248" y="5239512"/>
            <a:ext cx="246888" cy="24688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2" name="S09_RoadmapTitle3"/>
          <p:cNvSpPr/>
          <p:nvPr/>
        </p:nvSpPr>
        <p:spPr>
          <a:xfrm>
            <a:off x="8055864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Потенциал</a:t>
            </a:r>
            <a:endParaRPr lang="en-US" sz="1030" dirty="0"/>
          </a:p>
        </p:txBody>
      </p:sp>
      <p:sp>
        <p:nvSpPr>
          <p:cNvPr id="53" name="S09_RoadmapText3"/>
          <p:cNvSpPr/>
          <p:nvPr/>
        </p:nvSpPr>
        <p:spPr>
          <a:xfrm>
            <a:off x="8055864" y="5376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связанная карта знаний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0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S10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Внедряем постепенно и проверяем на своём контексте</a:t>
            </a:r>
            <a:endParaRPr lang="en-US" sz="2850" dirty="0"/>
          </a:p>
        </p:txBody>
      </p:sp>
      <p:sp>
        <p:nvSpPr>
          <p:cNvPr id="5" name="S10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OpenSpec остаётся OpenSpec; изменён контракт представления master specification.</a:t>
            </a:r>
            <a:endParaRPr lang="en-US" sz="1320" dirty="0"/>
          </a:p>
        </p:txBody>
      </p:sp>
      <p:sp>
        <p:nvSpPr>
          <p:cNvPr id="6" name="S10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0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30" dirty="0"/>
          </a:p>
        </p:txBody>
      </p:sp>
      <p:sp>
        <p:nvSpPr>
          <p:cNvPr id="8" name="S10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0_RolloutCard1"/>
          <p:cNvSpPr/>
          <p:nvPr/>
        </p:nvSpPr>
        <p:spPr>
          <a:xfrm>
            <a:off x="658368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0_RolloutLabel1_Bg"/>
          <p:cNvSpPr/>
          <p:nvPr/>
        </p:nvSpPr>
        <p:spPr>
          <a:xfrm>
            <a:off x="932688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10_RolloutLabel1_Text"/>
          <p:cNvSpPr/>
          <p:nvPr/>
        </p:nvSpPr>
        <p:spPr>
          <a:xfrm>
            <a:off x="932688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СДЕЛАНО</a:t>
            </a:r>
            <a:endParaRPr lang="en-US" sz="1050" dirty="0"/>
          </a:p>
        </p:txBody>
      </p:sp>
      <p:sp>
        <p:nvSpPr>
          <p:cNvPr id="13" name="S10_RolloutTitle1"/>
          <p:cNvSpPr/>
          <p:nvPr/>
        </p:nvSpPr>
        <p:spPr>
          <a:xfrm>
            <a:off x="932688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Создан docs-hub</a:t>
            </a:r>
            <a:endParaRPr lang="en-US" sz="1800" dirty="0"/>
          </a:p>
        </p:txBody>
      </p:sp>
      <p:sp>
        <p:nvSpPr>
          <p:cNvPr id="14" name="S10_RolloutBullet1A_Dot"/>
          <p:cNvSpPr/>
          <p:nvPr/>
        </p:nvSpPr>
        <p:spPr>
          <a:xfrm>
            <a:off x="94183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10_RolloutBullet1A_Text"/>
          <p:cNvSpPr/>
          <p:nvPr/>
        </p:nvSpPr>
        <p:spPr>
          <a:xfrm>
            <a:off x="1124712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переведён полностью</a:t>
            </a:r>
            <a:endParaRPr lang="en-US" sz="1230" dirty="0"/>
          </a:p>
        </p:txBody>
      </p:sp>
      <p:sp>
        <p:nvSpPr>
          <p:cNvPr id="16" name="S10_RolloutBullet1B_Dot"/>
          <p:cNvSpPr/>
          <p:nvPr/>
        </p:nvSpPr>
        <p:spPr>
          <a:xfrm>
            <a:off x="941832" y="36393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10_RolloutBullet1B_Text"/>
          <p:cNvSpPr/>
          <p:nvPr/>
        </p:nvSpPr>
        <p:spPr>
          <a:xfrm>
            <a:off x="1124712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справочники и общие библиотеки</a:t>
            </a:r>
            <a:endParaRPr lang="en-US" sz="1230" dirty="0"/>
          </a:p>
        </p:txBody>
      </p:sp>
      <p:sp>
        <p:nvSpPr>
          <p:cNvPr id="18" name="S10_RolloutCard2"/>
          <p:cNvSpPr/>
          <p:nvPr/>
        </p:nvSpPr>
        <p:spPr>
          <a:xfrm>
            <a:off x="4334256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S10_RolloutLabel2_Bg"/>
          <p:cNvSpPr/>
          <p:nvPr/>
        </p:nvSpPr>
        <p:spPr>
          <a:xfrm>
            <a:off x="4608576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S10_RolloutLabel2_Text"/>
          <p:cNvSpPr/>
          <p:nvPr/>
        </p:nvSpPr>
        <p:spPr>
          <a:xfrm>
            <a:off x="4608576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50" dirty="0"/>
          </a:p>
        </p:txBody>
      </p:sp>
      <p:sp>
        <p:nvSpPr>
          <p:cNvPr id="21" name="S10_RolloutTitle2"/>
          <p:cNvSpPr/>
          <p:nvPr/>
        </p:nvSpPr>
        <p:spPr>
          <a:xfrm>
            <a:off x="4608576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Постепенная миграция</a:t>
            </a:r>
            <a:endParaRPr lang="en-US" sz="1800" dirty="0"/>
          </a:p>
        </p:txBody>
      </p:sp>
      <p:sp>
        <p:nvSpPr>
          <p:cNvPr id="22" name="S10_RolloutBullet2A_Dot"/>
          <p:cNvSpPr/>
          <p:nvPr/>
        </p:nvSpPr>
        <p:spPr>
          <a:xfrm>
            <a:off x="4617720" y="309067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S10_RolloutBullet2A_Text"/>
          <p:cNvSpPr/>
          <p:nvPr/>
        </p:nvSpPr>
        <p:spPr>
          <a:xfrm>
            <a:off x="4800600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 остальных сервисов</a:t>
            </a:r>
            <a:endParaRPr lang="en-US" sz="1230" dirty="0"/>
          </a:p>
        </p:txBody>
      </p:sp>
      <p:sp>
        <p:nvSpPr>
          <p:cNvPr id="24" name="S10_RolloutBullet2B_Dot"/>
          <p:cNvSpPr/>
          <p:nvPr/>
        </p:nvSpPr>
        <p:spPr>
          <a:xfrm>
            <a:off x="4617720" y="363931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S10_RolloutBullet2B_Text"/>
          <p:cNvSpPr/>
          <p:nvPr/>
        </p:nvSpPr>
        <p:spPr>
          <a:xfrm>
            <a:off x="4800600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workflow на реальных задачах</a:t>
            </a:r>
            <a:endParaRPr lang="en-US" sz="1230" dirty="0"/>
          </a:p>
        </p:txBody>
      </p:sp>
      <p:sp>
        <p:nvSpPr>
          <p:cNvPr id="26" name="S10_RolloutCard3"/>
          <p:cNvSpPr/>
          <p:nvPr/>
        </p:nvSpPr>
        <p:spPr>
          <a:xfrm>
            <a:off x="8010144" y="1481328"/>
            <a:ext cx="349300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27" name="S10_RolloutLabel3_Bg"/>
          <p:cNvSpPr/>
          <p:nvPr/>
        </p:nvSpPr>
        <p:spPr>
          <a:xfrm>
            <a:off x="8284464" y="1773936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28" name="S10_RolloutLabel3_Text"/>
          <p:cNvSpPr/>
          <p:nvPr/>
        </p:nvSpPr>
        <p:spPr>
          <a:xfrm>
            <a:off x="8284464" y="1778508"/>
            <a:ext cx="11155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ДАЛЬШЕ</a:t>
            </a:r>
            <a:endParaRPr lang="en-US" sz="1050" dirty="0"/>
          </a:p>
        </p:txBody>
      </p:sp>
      <p:sp>
        <p:nvSpPr>
          <p:cNvPr id="29" name="S10_RolloutTitle3"/>
          <p:cNvSpPr/>
          <p:nvPr/>
        </p:nvSpPr>
        <p:spPr>
          <a:xfrm>
            <a:off x="8284464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Развитие навигации</a:t>
            </a:r>
            <a:endParaRPr lang="en-US" sz="1800" dirty="0"/>
          </a:p>
        </p:txBody>
      </p:sp>
      <p:sp>
        <p:nvSpPr>
          <p:cNvPr id="30" name="S10_RolloutBullet3A_Dot"/>
          <p:cNvSpPr/>
          <p:nvPr/>
        </p:nvSpPr>
        <p:spPr>
          <a:xfrm>
            <a:off x="8293608" y="309067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1" name="S10_RolloutBullet3A_Text"/>
          <p:cNvSpPr/>
          <p:nvPr/>
        </p:nvSpPr>
        <p:spPr>
          <a:xfrm>
            <a:off x="8476488" y="297180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более точные связи документов</a:t>
            </a:r>
            <a:endParaRPr lang="en-US" sz="1230" dirty="0"/>
          </a:p>
        </p:txBody>
      </p:sp>
      <p:sp>
        <p:nvSpPr>
          <p:cNvPr id="32" name="S10_RolloutBullet3B_Dot"/>
          <p:cNvSpPr/>
          <p:nvPr/>
        </p:nvSpPr>
        <p:spPr>
          <a:xfrm>
            <a:off x="8293608" y="3639312"/>
            <a:ext cx="91440" cy="9144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3" name="S10_RolloutBullet3B_Text"/>
          <p:cNvSpPr/>
          <p:nvPr/>
        </p:nvSpPr>
        <p:spPr>
          <a:xfrm>
            <a:off x="8476488" y="35204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отбор и кристаллизация контекста</a:t>
            </a:r>
            <a:endParaRPr lang="en-US" sz="1230" dirty="0"/>
          </a:p>
        </p:txBody>
      </p:sp>
      <p:sp>
        <p:nvSpPr>
          <p:cNvPr id="34" name="S10_FinalPositionCard"/>
          <p:cNvSpPr/>
          <p:nvPr/>
        </p:nvSpPr>
        <p:spPr>
          <a:xfrm>
            <a:off x="658368" y="4681728"/>
            <a:ext cx="10844784" cy="1252728"/>
          </a:xfrm>
          <a:prstGeom prst="roundRect">
            <a:avLst>
              <a:gd name="adj" fmla="val 583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22304A">
                <a:alpha val="1.2000000000000001e+64"/>
              </a:srgbClr>
            </a:outerShdw>
          </a:effectLst>
        </p:spPr>
      </p:sp>
      <p:sp>
        <p:nvSpPr>
          <p:cNvPr id="35" name="S10_FinalPositionTitle"/>
          <p:cNvSpPr/>
          <p:nvPr/>
        </p:nvSpPr>
        <p:spPr>
          <a:xfrm>
            <a:off x="960120" y="4956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остаётся OpenSpec.</a:t>
            </a:r>
            <a:endParaRPr lang="en-US" sz="2000" dirty="0"/>
          </a:p>
        </p:txBody>
      </p:sp>
      <p:sp>
        <p:nvSpPr>
          <p:cNvPr id="36" name="S10_FinalPositionText"/>
          <p:cNvSpPr/>
          <p:nvPr/>
        </p:nvSpPr>
        <p:spPr>
          <a:xfrm>
            <a:off x="960120" y="539496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specification в нашей реализации — folder-based spec.</a:t>
            </a:r>
            <a:endParaRPr lang="en-US" sz="1250" dirty="0"/>
          </a:p>
        </p:txBody>
      </p:sp>
      <p:sp>
        <p:nvSpPr>
          <p:cNvPr id="37" name="S10_FinalPositionPill1_Bg"/>
          <p:cNvSpPr/>
          <p:nvPr/>
        </p:nvSpPr>
        <p:spPr>
          <a:xfrm>
            <a:off x="6510528" y="496519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S10_FinalPositionPill1_Text"/>
          <p:cNvSpPr/>
          <p:nvPr/>
        </p:nvSpPr>
        <p:spPr>
          <a:xfrm>
            <a:off x="6510528" y="496976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требуем перехода</a:t>
            </a:r>
            <a:endParaRPr lang="en-US" sz="980" dirty="0"/>
          </a:p>
        </p:txBody>
      </p:sp>
      <p:sp>
        <p:nvSpPr>
          <p:cNvPr id="39" name="S10_FinalPositionPill2_Bg"/>
          <p:cNvSpPr/>
          <p:nvPr/>
        </p:nvSpPr>
        <p:spPr>
          <a:xfrm>
            <a:off x="8101584" y="4965192"/>
            <a:ext cx="1755648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0" name="S10_FinalPositionPill2_Text"/>
          <p:cNvSpPr/>
          <p:nvPr/>
        </p:nvSpPr>
        <p:spPr>
          <a:xfrm>
            <a:off x="8101584" y="4969764"/>
            <a:ext cx="1755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предлагаем единый шаблон</a:t>
            </a:r>
            <a:endParaRPr lang="en-US" sz="930" dirty="0"/>
          </a:p>
        </p:txBody>
      </p:sp>
      <p:sp>
        <p:nvSpPr>
          <p:cNvPr id="41" name="S10_FinalPositionPill3_Bg"/>
          <p:cNvSpPr/>
          <p:nvPr/>
        </p:nvSpPr>
        <p:spPr>
          <a:xfrm>
            <a:off x="9985248" y="4965192"/>
            <a:ext cx="1207008" cy="365760"/>
          </a:xfrm>
          <a:prstGeom prst="roundRect">
            <a:avLst>
              <a:gd name="adj" fmla="val 20000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42" name="S10_FinalPositionPill3_Text"/>
          <p:cNvSpPr/>
          <p:nvPr/>
        </p:nvSpPr>
        <p:spPr>
          <a:xfrm>
            <a:off x="9985248" y="49697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делимся опытом</a:t>
            </a:r>
            <a:endParaRPr lang="en-US" sz="980" dirty="0"/>
          </a:p>
        </p:txBody>
      </p:sp>
      <p:sp>
        <p:nvSpPr>
          <p:cNvPr id="43" name="S10_FinalPositionNext"/>
          <p:cNvSpPr/>
          <p:nvPr/>
        </p:nvSpPr>
        <p:spPr>
          <a:xfrm>
            <a:off x="6547104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Проверяем на реальных изменениях и расширяем docs-hub по мере задач.</a:t>
            </a:r>
            <a:endParaRPr lang="en-US" sz="1100" dirty="0"/>
          </a:p>
        </p:txBody>
      </p:sp>
      <p:sp>
        <p:nvSpPr>
          <p:cNvPr id="44" name="S10_FinalNoMandate"/>
          <p:cNvSpPr/>
          <p:nvPr/>
        </p:nvSpPr>
        <p:spPr>
          <a:xfrm>
            <a:off x="2093976" y="61447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Эволюция под наши исходные условия — без претензии на единственный вариант.</a:t>
            </a:r>
            <a:endParaRPr lang="en-US" sz="12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1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МАРШРУТ</a:t>
            </a:r>
            <a:endParaRPr lang="en-US" sz="850" dirty="0"/>
          </a:p>
        </p:txBody>
      </p:sp>
      <p:sp>
        <p:nvSpPr>
          <p:cNvPr id="4" name="S11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 — рабочий дополнительный инструмент</a:t>
            </a:r>
            <a:endParaRPr lang="en-US" sz="2850" dirty="0"/>
          </a:p>
        </p:txBody>
      </p:sp>
      <p:sp>
        <p:nvSpPr>
          <p:cNvPr id="5" name="S11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основной путь: полезен, когда целевое состояние master specification уже оформлено в ветке.</a:t>
            </a:r>
            <a:endParaRPr lang="en-US" sz="1320" dirty="0"/>
          </a:p>
        </p:txBody>
      </p:sp>
      <p:sp>
        <p:nvSpPr>
          <p:cNvPr id="6" name="S1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830" dirty="0"/>
          </a:p>
        </p:txBody>
      </p:sp>
      <p:sp>
        <p:nvSpPr>
          <p:cNvPr id="8" name="S1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1_DiffBaseCard"/>
          <p:cNvSpPr/>
          <p:nvPr/>
        </p:nvSpPr>
        <p:spPr>
          <a:xfrm>
            <a:off x="658368" y="1444752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11_DiffBaseText"/>
          <p:cNvSpPr/>
          <p:nvPr/>
        </p:nvSpPr>
        <p:spPr>
          <a:xfrm>
            <a:off x="777240" y="15544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Базовая master spec</a:t>
            </a:r>
            <a:endParaRPr lang="en-US" sz="1080" dirty="0"/>
          </a:p>
        </p:txBody>
      </p:sp>
      <p:sp>
        <p:nvSpPr>
          <p:cNvPr id="12" name="S11_DiffAnalystCard"/>
          <p:cNvSpPr/>
          <p:nvPr/>
        </p:nvSpPr>
        <p:spPr>
          <a:xfrm>
            <a:off x="658368" y="1956816"/>
            <a:ext cx="202996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11_DiffAnalystText"/>
          <p:cNvSpPr/>
          <p:nvPr/>
        </p:nvSpPr>
        <p:spPr>
          <a:xfrm>
            <a:off x="777240" y="2066544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1080" dirty="0"/>
          </a:p>
        </p:txBody>
      </p:sp>
      <p:sp>
        <p:nvSpPr>
          <p:cNvPr id="14" name="S11_DiffBaseArrow"/>
          <p:cNvSpPr/>
          <p:nvPr/>
        </p:nvSpPr>
        <p:spPr>
          <a:xfrm>
            <a:off x="2688336" y="1655064"/>
            <a:ext cx="438912" cy="237744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5" name="S11_DiffAnalystArrow"/>
          <p:cNvSpPr/>
          <p:nvPr/>
        </p:nvSpPr>
        <p:spPr>
          <a:xfrm flipV="1">
            <a:off x="2688336" y="1892808"/>
            <a:ext cx="438912" cy="274320"/>
          </a:xfrm>
          <a:prstGeom prst="line">
            <a:avLst/>
          </a:prstGeom>
          <a:noFill/>
          <a:ln w="1778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11_DiffTool_Bg"/>
          <p:cNvSpPr/>
          <p:nvPr/>
        </p:nvSpPr>
        <p:spPr>
          <a:xfrm>
            <a:off x="3182112" y="1609344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7" name="S11_DiffTool_Text"/>
          <p:cNvSpPr/>
          <p:nvPr/>
        </p:nvSpPr>
        <p:spPr>
          <a:xfrm>
            <a:off x="3182112" y="1613916"/>
            <a:ext cx="1965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1200" dirty="0"/>
          </a:p>
        </p:txBody>
      </p:sp>
      <p:sp>
        <p:nvSpPr>
          <p:cNvPr id="18" name="S11_DiffToolArrow"/>
          <p:cNvSpPr/>
          <p:nvPr/>
        </p:nvSpPr>
        <p:spPr>
          <a:xfrm>
            <a:off x="5202936" y="1892808"/>
            <a:ext cx="512064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11_DiffChange_Bg"/>
          <p:cNvSpPr/>
          <p:nvPr/>
        </p:nvSpPr>
        <p:spPr>
          <a:xfrm>
            <a:off x="5788152" y="1609344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11_DiffChange_Text"/>
          <p:cNvSpPr/>
          <p:nvPr/>
        </p:nvSpPr>
        <p:spPr>
          <a:xfrm>
            <a:off x="5788152" y="1613916"/>
            <a:ext cx="2011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sources</a:t>
            </a:r>
            <a:endParaRPr lang="en-US" sz="1180" dirty="0"/>
          </a:p>
        </p:txBody>
      </p:sp>
      <p:sp>
        <p:nvSpPr>
          <p:cNvPr id="21" name="S11_DiffChangeArrow"/>
          <p:cNvSpPr/>
          <p:nvPr/>
        </p:nvSpPr>
        <p:spPr>
          <a:xfrm>
            <a:off x="7854696" y="1892808"/>
            <a:ext cx="502920" cy="914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11_DiffLifecycle_Bg"/>
          <p:cNvSpPr/>
          <p:nvPr/>
        </p:nvSpPr>
        <p:spPr>
          <a:xfrm>
            <a:off x="8430768" y="1609344"/>
            <a:ext cx="2889504" cy="566928"/>
          </a:xfrm>
          <a:prstGeom prst="roundRect">
            <a:avLst>
              <a:gd name="adj" fmla="val 1290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23" name="S11_DiffLifecycle_Text"/>
          <p:cNvSpPr/>
          <p:nvPr/>
        </p:nvSpPr>
        <p:spPr>
          <a:xfrm>
            <a:off x="8430768" y="1613916"/>
            <a:ext cx="28895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→ design → implement</a:t>
            </a:r>
            <a:endParaRPr lang="en-US" sz="1140" dirty="0"/>
          </a:p>
        </p:txBody>
      </p:sp>
      <p:sp>
        <p:nvSpPr>
          <p:cNvPr id="24" name="S11_DiffSimpleCard"/>
          <p:cNvSpPr/>
          <p:nvPr/>
        </p:nvSpPr>
        <p:spPr>
          <a:xfrm>
            <a:off x="658368" y="2743200"/>
            <a:ext cx="523036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4.2593502352068695e+57" dist="1.1358267293884988e+58" dir="3.526387384320001e+68">
              <a:srgbClr val="22304A">
                <a:alpha val="1.2e+69"/>
              </a:srgbClr>
            </a:outerShdw>
          </a:effectLst>
        </p:spPr>
      </p:sp>
      <p:sp>
        <p:nvSpPr>
          <p:cNvPr id="25" name="S11_DiffSimpleLabel_Bg"/>
          <p:cNvSpPr/>
          <p:nvPr/>
        </p:nvSpPr>
        <p:spPr>
          <a:xfrm>
            <a:off x="941832" y="3017520"/>
            <a:ext cx="1481328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6" name="S11_DiffSimpleLabel_Text"/>
          <p:cNvSpPr/>
          <p:nvPr/>
        </p:nvSpPr>
        <p:spPr>
          <a:xfrm>
            <a:off x="941832" y="3022092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ПРОСТЫЕ СЛУЧАИ</a:t>
            </a:r>
            <a:endParaRPr lang="en-US" sz="1020" dirty="0"/>
          </a:p>
        </p:txBody>
      </p:sp>
      <p:sp>
        <p:nvSpPr>
          <p:cNvPr id="27" name="S11_DiffSimpleTitle"/>
          <p:cNvSpPr/>
          <p:nvPr/>
        </p:nvSpPr>
        <p:spPr>
          <a:xfrm>
            <a:off x="950976" y="359359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Сократить повторное описание</a:t>
            </a:r>
            <a:endParaRPr lang="en-US" sz="1720" dirty="0"/>
          </a:p>
        </p:txBody>
      </p:sp>
      <p:sp>
        <p:nvSpPr>
          <p:cNvPr id="28" name="S11_DiffSimple1_Dot"/>
          <p:cNvSpPr/>
          <p:nvPr/>
        </p:nvSpPr>
        <p:spPr>
          <a:xfrm>
            <a:off x="960120" y="4206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S11_DiffSimple1_Text"/>
          <p:cNvSpPr/>
          <p:nvPr/>
        </p:nvSpPr>
        <p:spPr>
          <a:xfrm>
            <a:off x="11430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точечная правка уже внесена в документы</a:t>
            </a:r>
            <a:endParaRPr lang="en-US" sz="1230" dirty="0"/>
          </a:p>
        </p:txBody>
      </p:sp>
      <p:sp>
        <p:nvSpPr>
          <p:cNvPr id="30" name="S11_DiffSimple2_Dot"/>
          <p:cNvSpPr/>
          <p:nvPr/>
        </p:nvSpPr>
        <p:spPr>
          <a:xfrm>
            <a:off x="960120" y="46542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1" name="S11_DiffSimple2_Text"/>
          <p:cNvSpPr/>
          <p:nvPr/>
        </p:nvSpPr>
        <p:spPr>
          <a:xfrm>
            <a:off x="11430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серия однотипных изменений в нескольких файлах</a:t>
            </a:r>
            <a:endParaRPr lang="en-US" sz="1230" dirty="0"/>
          </a:p>
        </p:txBody>
      </p:sp>
      <p:sp>
        <p:nvSpPr>
          <p:cNvPr id="32" name="S11_DiffSimple3_Dot"/>
          <p:cNvSpPr/>
          <p:nvPr/>
        </p:nvSpPr>
        <p:spPr>
          <a:xfrm>
            <a:off x="960120" y="51023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S11_DiffSimple3_Text"/>
          <p:cNvSpPr/>
          <p:nvPr/>
        </p:nvSpPr>
        <p:spPr>
          <a:xfrm>
            <a:off x="11430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восстановление change по уже готовой дельте</a:t>
            </a:r>
            <a:endParaRPr lang="en-US" sz="1230" dirty="0"/>
          </a:p>
        </p:txBody>
      </p:sp>
      <p:sp>
        <p:nvSpPr>
          <p:cNvPr id="34" name="S11_DiffComplexCard"/>
          <p:cNvSpPr/>
          <p:nvPr/>
        </p:nvSpPr>
        <p:spPr>
          <a:xfrm>
            <a:off x="6144768" y="2743200"/>
            <a:ext cx="5358384" cy="2523744"/>
          </a:xfrm>
          <a:prstGeom prst="roundRect">
            <a:avLst>
              <a:gd name="adj" fmla="val 2899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  <a:effectLst>
            <a:outerShdw sx="100000" sy="100000" kx="0" ky="0" algn="bl" rotWithShape="0" blurRad="5.409374798712724e+61" dist="1.4424999463233936e+62" dir="2.1158324305920003e+73">
              <a:srgbClr val="22304A">
                <a:alpha val="1.2e+74"/>
              </a:srgbClr>
            </a:outerShdw>
          </a:effectLst>
        </p:spPr>
      </p:sp>
      <p:sp>
        <p:nvSpPr>
          <p:cNvPr id="35" name="S11_DiffComplexLabel_Bg"/>
          <p:cNvSpPr/>
          <p:nvPr/>
        </p:nvSpPr>
        <p:spPr>
          <a:xfrm>
            <a:off x="6428232" y="301752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S11_DiffComplexLabel_Text"/>
          <p:cNvSpPr/>
          <p:nvPr/>
        </p:nvSpPr>
        <p:spPr>
          <a:xfrm>
            <a:off x="6428232" y="3022092"/>
            <a:ext cx="1572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СЛОЖНЫЕ СЛУЧАИ</a:t>
            </a:r>
            <a:endParaRPr lang="en-US" sz="1020" dirty="0"/>
          </a:p>
        </p:txBody>
      </p:sp>
      <p:sp>
        <p:nvSpPr>
          <p:cNvPr id="37" name="S11_DiffComplexTitle"/>
          <p:cNvSpPr/>
          <p:nvPr/>
        </p:nvSpPr>
        <p:spPr>
          <a:xfrm>
            <a:off x="6437376" y="3593592"/>
            <a:ext cx="4407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Кристаллизовать целевое состояние</a:t>
            </a:r>
            <a:endParaRPr lang="en-US" sz="1720" dirty="0"/>
          </a:p>
        </p:txBody>
      </p:sp>
      <p:sp>
        <p:nvSpPr>
          <p:cNvPr id="38" name="S11_DiffComplex1_Dot"/>
          <p:cNvSpPr/>
          <p:nvPr/>
        </p:nvSpPr>
        <p:spPr>
          <a:xfrm>
            <a:off x="6446520" y="4206240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9" name="S11_DiffComplex1_Text"/>
          <p:cNvSpPr/>
          <p:nvPr/>
        </p:nvSpPr>
        <p:spPr>
          <a:xfrm>
            <a:off x="6629400" y="4087368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сквозное изменение затрагивает несколько ФО</a:t>
            </a:r>
            <a:endParaRPr lang="en-US" sz="1230" dirty="0"/>
          </a:p>
        </p:txBody>
      </p:sp>
      <p:sp>
        <p:nvSpPr>
          <p:cNvPr id="40" name="S11_DiffComplex2_Dot"/>
          <p:cNvSpPr/>
          <p:nvPr/>
        </p:nvSpPr>
        <p:spPr>
          <a:xfrm>
            <a:off x="6446520" y="465429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1" name="S11_DiffComplex2_Text"/>
          <p:cNvSpPr/>
          <p:nvPr/>
        </p:nvSpPr>
        <p:spPr>
          <a:xfrm>
            <a:off x="6629400" y="4535424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крупная миграция или перестройка master spec</a:t>
            </a:r>
            <a:endParaRPr lang="en-US" sz="1230" dirty="0"/>
          </a:p>
        </p:txBody>
      </p:sp>
      <p:sp>
        <p:nvSpPr>
          <p:cNvPr id="42" name="S11_DiffComplex3_Dot"/>
          <p:cNvSpPr/>
          <p:nvPr/>
        </p:nvSpPr>
        <p:spPr>
          <a:xfrm>
            <a:off x="6446520" y="510235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3" name="S11_DiffComplex3_Text"/>
          <p:cNvSpPr/>
          <p:nvPr/>
        </p:nvSpPr>
        <p:spPr>
          <a:xfrm>
            <a:off x="6629400" y="4983480"/>
            <a:ext cx="42611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 аналитической ветки с единым контекстом</a:t>
            </a:r>
            <a:endParaRPr lang="en-US" sz="1230" dirty="0"/>
          </a:p>
        </p:txBody>
      </p:sp>
      <p:sp>
        <p:nvSpPr>
          <p:cNvPr id="44" name="S11_DiffBoundaryCard"/>
          <p:cNvSpPr/>
          <p:nvPr/>
        </p:nvSpPr>
        <p:spPr>
          <a:xfrm>
            <a:off x="658368" y="5596128"/>
            <a:ext cx="10844784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S11_DiffBoundaryText"/>
          <p:cNvSpPr/>
          <p:nvPr/>
        </p:nvSpPr>
        <p:spPr>
          <a:xfrm>
            <a:off x="960120" y="575157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заменяет propose: diff хорошо показывает «что изменилось», а смысл и мотивация остаются предметом аналитического ревью.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 на масштабе большого brownfield-сервиса</dc:title>
  <dc:subject>Эволюционное расширение OpenSpec для больших brownfield-сервисов</dc:subject>
  <dc:creator>Команда НСиР</dc:creator>
  <cp:lastModifiedBy>Команда НСиР</cp:lastModifiedBy>
  <cp:revision>1</cp:revision>
  <dcterms:created xsi:type="dcterms:W3CDTF">2026-07-09T23:22:19Z</dcterms:created>
  <dcterms:modified xsi:type="dcterms:W3CDTF">2026-07-09T23:22:19Z</dcterms:modified>
</cp:coreProperties>
</file>
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Главная рамка доклада: это эволюционное развитие идеи OpenSpec для большой folder-based master specification. Мы сохраняем change-first ядро, но расширяем контракт master specification, добавляем навигационный слой, multi-file apply и дополнительный diff-маршрут. Это новые возможности и одновременно новая ответственность за консистентность и актуальность _sdd.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Подчеркнуть: это не попытка начать документировать систему с нуля. За 3+ года сформировался analyst-first процесс по 10 сервисам и библиотекам. Высокая актуальность документации к коду — исходное ограничение и одновременно актив команды.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Показать масштаб без попытки доказать, что каждый сервис одинаков. Цифры из текущей master specification: 80+ процессов, 15+ интеграций, 50+ справочников, 30+ UI-форм, 80+ алгоритмов UI. Пилот invest-dkz — около 100 MD-документов и 18 workflow-документов.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Чётко разделить ответственность. Этап 1 находится вне OpenSpec: собственные skills и механизмы конвертации создают, структурируют и переносят документацию из Confluence в MD/Git и docs-hub. Этап 2 начинается, когда папка документов уже существует: init-master-spec подключает её к OpenSpec и создаёт _sdd. После этого запускается change-first lifecycle.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 занижать объём изменений. Базовый lifecycle остаётся узнаваемым, но поверх него появляется новый контракт master specification как папки, навигационный слой _sdd, применение одной дельты к нескольким документам и дополнительный change-from-diff маршрут. Это расширяет возможности OpenSpec и одновременно усложняет процесс сопровождения.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Важно проговорить: функциональная область — не тип документа. В каждой ФО есть своя часть workflow, модели данных, API и интеграций. Поэтому реальный change может соединять элементы сразу нескольких функциональных областей. Границы ФО помогают организовать знания, но не ограничивают границы изменения.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осознанное усложнение. Master specification адресуется папкой документов, а _sdd становится её актуальной картой для человека и агента. Добавление, изменение или перенос документов требует согласованно обновлять навигацию и связи. Качество собранного контекста напрямую зависит от консистентности _sdd.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OpenSpec не отвечает за создание исходного корпуса MD-документов. Его точка входа — init-master-spec: подключение существующей папки и создание _sdd. Затем change создаётся основным propose-путём или дополнительным change-from-diff. После реализации apply работает на уровне всей folder-based specification: распределяет дельту по нескольким выбранным документам или проверяет уже внесённые изменения, затем актуализируется навигационный слой.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Показать две стороны развития. Ценность: единая карта docs-hub, разные форматы в одном контексте, понятные источники change. Цена: дополнительный слой нужно обновлять вместе с master specification, проверять связи после изменения структуры и не допускать устаревания карты. Следующий шаг — снижать стоимость этой дисциплины и точнее кристаллизовать контекст вокруг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Финальная позиция должна звучать уверенно: мы развиваем OpenSpec для работы с системой взаимосвязанных документов. Уже создан внешний pipeline подготовки MD, docs-hub и полностью переведён первый сервис. Сейчас готовые документы подключаются через init и используются в folder-based propose/apply. Дальше снижаем стоимость поддержки _sdd и улучшаем связи и кристаллизацию контекста.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Позиционировать выборочно, без призыва использовать для каждого change. Сейчас аналитики предпочитают основной propose-путь — это нормально. change-from-diff полезен, когда дельта уже существует в Git: в простых случаях он сокращает повторное описание, в сложных помогает собрать распределённое целевое состояние, связанный контекст и вопросы в единый change.md. Результат обязательно проверяется аналитиком.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1_TopAccent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3" name="S01_DeckLabel"/>
          <p:cNvSpPr/>
          <p:nvPr/>
        </p:nvSpPr>
        <p:spPr>
          <a:xfrm>
            <a:off x="9921240" y="25603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spc="100" kern="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 SPEC · SDD</a:t>
            </a:r>
            <a:endParaRPr lang="en-US" sz="820" dirty="0"/>
          </a:p>
        </p:txBody>
      </p:sp>
      <p:sp>
        <p:nvSpPr>
          <p:cNvPr id="4" name="S01_SlideNumber"/>
          <p:cNvSpPr/>
          <p:nvPr/>
        </p:nvSpPr>
        <p:spPr>
          <a:xfrm>
            <a:off x="11375136" y="647395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3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</a:t>
            </a:r>
            <a:endParaRPr lang="en-US" sz="830" dirty="0"/>
          </a:p>
        </p:txBody>
      </p:sp>
      <p:sp>
        <p:nvSpPr>
          <p:cNvPr id="5" name="S01_FooterLine"/>
          <p:cNvSpPr/>
          <p:nvPr/>
        </p:nvSpPr>
        <p:spPr>
          <a:xfrm>
            <a:off x="621792" y="6419088"/>
            <a:ext cx="10972800" cy="914"/>
          </a:xfrm>
          <a:prstGeom prst="line">
            <a:avLst/>
          </a:prstGeom>
          <a:noFill/>
          <a:ln w="9525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7" name="S01_HeroCircle1"/>
          <p:cNvSpPr/>
          <p:nvPr/>
        </p:nvSpPr>
        <p:spPr>
          <a:xfrm>
            <a:off x="8366760" y="-411480"/>
            <a:ext cx="4297680" cy="4297680"/>
          </a:xfrm>
          <a:prstGeom prst="ellipse">
            <a:avLst/>
          </a:prstGeom>
          <a:solidFill>
            <a:srgbClr val="EAF0FF">
              <a:alpha val="90000"/>
            </a:srgbClr>
          </a:solidFill>
          <a:ln w="12700">
            <a:solidFill>
              <a:srgbClr val="EAF0FF">
                <a:alpha val="0"/>
              </a:srgbClr>
            </a:solidFill>
            <a:prstDash val="solid"/>
          </a:ln>
        </p:spPr>
      </p:sp>
      <p:sp>
        <p:nvSpPr>
          <p:cNvPr id="8" name="S01_HeroCircle2"/>
          <p:cNvSpPr/>
          <p:nvPr/>
        </p:nvSpPr>
        <p:spPr>
          <a:xfrm>
            <a:off x="9281160" y="320040"/>
            <a:ext cx="3108960" cy="3108960"/>
          </a:xfrm>
          <a:prstGeom prst="ellipse">
            <a:avLst/>
          </a:prstGeom>
          <a:solidFill>
            <a:srgbClr val="E5F8F6">
              <a:alpha val="95000"/>
            </a:srgbClr>
          </a:solidFill>
          <a:ln w="12700">
            <a:solidFill>
              <a:srgbClr val="E5F8F6">
                <a:alpha val="0"/>
              </a:srgbClr>
            </a:solidFill>
            <a:prstDash val="solid"/>
          </a:ln>
        </p:spPr>
      </p:sp>
      <p:sp>
        <p:nvSpPr>
          <p:cNvPr id="9" name="S01_HeroPill_Bg"/>
          <p:cNvSpPr/>
          <p:nvPr/>
        </p:nvSpPr>
        <p:spPr>
          <a:xfrm>
            <a:off x="658368" y="566928"/>
            <a:ext cx="2340864" cy="365760"/>
          </a:xfrm>
          <a:prstGeom prst="roundRect">
            <a:avLst>
              <a:gd name="adj" fmla="val 20000"/>
            </a:avLst>
          </a:prstGeom>
          <a:solidFill>
            <a:srgbClr val="EAF0FF"/>
          </a:solidFill>
          <a:ln w="12700">
            <a:solidFill>
              <a:srgbClr val="EAF0FF">
                <a:alpha val="0"/>
              </a:srgbClr>
            </a:solidFill>
            <a:prstDash val="solid"/>
          </a:ln>
        </p:spPr>
      </p:sp>
      <p:sp>
        <p:nvSpPr>
          <p:cNvPr id="10" name="S01_HeroPill_Text"/>
          <p:cNvSpPr/>
          <p:nvPr/>
        </p:nvSpPr>
        <p:spPr>
          <a:xfrm>
            <a:off x="658368" y="571500"/>
            <a:ext cx="234086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SDD · OPENSPEC · BROWNFIELD</a:t>
            </a:r>
            <a:endParaRPr lang="en-US" sz="1020" dirty="0"/>
          </a:p>
        </p:txBody>
      </p:sp>
      <p:sp>
        <p:nvSpPr>
          <p:cNvPr id="11" name="S01_HeroTitle"/>
          <p:cNvSpPr/>
          <p:nvPr/>
        </p:nvSpPr>
        <p:spPr>
          <a:xfrm>
            <a:off x="658368" y="1170432"/>
            <a:ext cx="70866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OpenSpec на масштабе</a:t>
            </a:r>
            <a:endParaRPr lang="en-US" sz="3150" dirty="0"/>
          </a:p>
          <a:p>
            <a:pPr indent="0" marL="0">
              <a:buNone/>
            </a:pPr>
            <a:r>
              <a:rPr lang="en-US" sz="31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большого brownfield-сервиса</a:t>
            </a:r>
            <a:endParaRPr lang="en-US" sz="3150" dirty="0"/>
          </a:p>
        </p:txBody>
      </p:sp>
      <p:sp>
        <p:nvSpPr>
          <p:cNvPr id="12" name="S01_HeroSubtitle"/>
          <p:cNvSpPr/>
          <p:nvPr/>
        </p:nvSpPr>
        <p:spPr>
          <a:xfrm>
            <a:off x="676656" y="2907792"/>
            <a:ext cx="6629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Эволюционное развитие OpenSpec для folder-based master specification</a:t>
            </a:r>
            <a:endParaRPr lang="en-US" sz="1750" dirty="0"/>
          </a:p>
        </p:txBody>
      </p:sp>
      <p:sp>
        <p:nvSpPr>
          <p:cNvPr id="13" name="S01_HeroStatementCard"/>
          <p:cNvSpPr/>
          <p:nvPr/>
        </p:nvSpPr>
        <p:spPr>
          <a:xfrm>
            <a:off x="658368" y="3703320"/>
            <a:ext cx="6748272" cy="1170432"/>
          </a:xfrm>
          <a:prstGeom prst="roundRect">
            <a:avLst>
              <a:gd name="adj" fmla="val 625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19050" dist="50800" dir="2700000">
              <a:srgbClr val="22304A">
                <a:alpha val="12000"/>
              </a:srgbClr>
            </a:outerShdw>
          </a:effectLst>
        </p:spPr>
      </p:sp>
      <p:sp>
        <p:nvSpPr>
          <p:cNvPr id="14" name="S01_HeroStatementAccent"/>
          <p:cNvSpPr/>
          <p:nvPr/>
        </p:nvSpPr>
        <p:spPr>
          <a:xfrm>
            <a:off x="658368" y="3703320"/>
            <a:ext cx="100584" cy="1170432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15" name="S01_HeroStatement"/>
          <p:cNvSpPr/>
          <p:nvPr/>
        </p:nvSpPr>
        <p:spPr>
          <a:xfrm>
            <a:off x="987552" y="3904488"/>
            <a:ext cx="58704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Сохраняем change-first ядро.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Расширяем работу с master specification.</a:t>
            </a:r>
            <a:endParaRPr lang="en-US" sz="2100" dirty="0"/>
          </a:p>
        </p:txBody>
      </p:sp>
      <p:sp>
        <p:nvSpPr>
          <p:cNvPr id="16" name="S01_HeroVisualCard"/>
          <p:cNvSpPr/>
          <p:nvPr/>
        </p:nvSpPr>
        <p:spPr>
          <a:xfrm>
            <a:off x="7973568" y="1234440"/>
            <a:ext cx="3401568" cy="4160520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241935000" dist="645160000" dir="162000000000">
              <a:srgbClr val="22304A">
                <a:alpha val="1200000000"/>
              </a:srgbClr>
            </a:outerShdw>
          </a:effectLst>
        </p:spPr>
      </p:sp>
      <p:sp>
        <p:nvSpPr>
          <p:cNvPr id="17" name="S01_HeroFolder_Body"/>
          <p:cNvSpPr/>
          <p:nvPr/>
        </p:nvSpPr>
        <p:spPr>
          <a:xfrm>
            <a:off x="8302752" y="1762597"/>
            <a:ext cx="713232" cy="413675"/>
          </a:xfrm>
          <a:prstGeom prst="roundRect">
            <a:avLst>
              <a:gd name="adj" fmla="val 8842"/>
            </a:avLst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8" name="S01_HeroFolder_Tab"/>
          <p:cNvSpPr/>
          <p:nvPr/>
        </p:nvSpPr>
        <p:spPr>
          <a:xfrm>
            <a:off x="8375904" y="1645920"/>
            <a:ext cx="328087" cy="201534"/>
          </a:xfrm>
          <a:prstGeom prst="roundRect">
            <a:avLst>
              <a:gd name="adj" fmla="val 13612"/>
            </a:avLst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9" name="S01_HeroFolderLabel"/>
          <p:cNvSpPr/>
          <p:nvPr/>
        </p:nvSpPr>
        <p:spPr>
          <a:xfrm>
            <a:off x="9180576" y="167335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openspec/&lt;service&gt;/</a:t>
            </a:r>
            <a:endParaRPr lang="en-US" sz="1300" dirty="0"/>
          </a:p>
        </p:txBody>
      </p:sp>
      <p:sp>
        <p:nvSpPr>
          <p:cNvPr id="20" name="S01_HeroFile1_Page"/>
          <p:cNvSpPr/>
          <p:nvPr/>
        </p:nvSpPr>
        <p:spPr>
          <a:xfrm>
            <a:off x="8339328" y="2395728"/>
            <a:ext cx="384048" cy="457200"/>
          </a:xfrm>
          <a:prstGeom prst="roundRect">
            <a:avLst>
              <a:gd name="adj" fmla="val 7143"/>
            </a:avLst>
          </a:prstGeom>
          <a:solidFill>
            <a:srgbClr val="EAF0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21" name="S01_HeroFile1_Line1"/>
          <p:cNvSpPr/>
          <p:nvPr/>
        </p:nvSpPr>
        <p:spPr>
          <a:xfrm>
            <a:off x="8416138" y="2555748"/>
            <a:ext cx="230429" cy="914"/>
          </a:xfrm>
          <a:prstGeom prst="line">
            <a:avLst/>
          </a:prstGeom>
          <a:noFill/>
          <a:ln w="12700">
            <a:solidFill>
              <a:srgbClr val="2F6BFF"/>
            </a:solidFill>
            <a:prstDash val="solid"/>
            <a:headEnd type="none"/>
            <a:tailEnd type="none"/>
          </a:ln>
        </p:spPr>
      </p:sp>
      <p:sp>
        <p:nvSpPr>
          <p:cNvPr id="22" name="S01_HeroFile1_Line2"/>
          <p:cNvSpPr/>
          <p:nvPr/>
        </p:nvSpPr>
        <p:spPr>
          <a:xfrm>
            <a:off x="8416138" y="2647188"/>
            <a:ext cx="199705" cy="914"/>
          </a:xfrm>
          <a:prstGeom prst="line">
            <a:avLst/>
          </a:prstGeom>
          <a:noFill/>
          <a:ln w="12700">
            <a:solidFill>
              <a:srgbClr val="2F6BFF"/>
            </a:solidFill>
            <a:prstDash val="solid"/>
            <a:headEnd type="none"/>
            <a:tailEnd type="none"/>
          </a:ln>
        </p:spPr>
      </p:sp>
      <p:sp>
        <p:nvSpPr>
          <p:cNvPr id="23" name="S01_HeroFile1_Line3"/>
          <p:cNvSpPr/>
          <p:nvPr/>
        </p:nvSpPr>
        <p:spPr>
          <a:xfrm>
            <a:off x="8416138" y="2738628"/>
            <a:ext cx="161300" cy="914"/>
          </a:xfrm>
          <a:prstGeom prst="line">
            <a:avLst/>
          </a:prstGeom>
          <a:noFill/>
          <a:ln w="12700">
            <a:solidFill>
              <a:srgbClr val="2F6BFF"/>
            </a:solidFill>
            <a:prstDash val="solid"/>
            <a:headEnd type="none"/>
            <a:tailEnd type="none"/>
          </a:ln>
        </p:spPr>
      </p:sp>
      <p:sp>
        <p:nvSpPr>
          <p:cNvPr id="24" name="S01_HeroFileLabel1"/>
          <p:cNvSpPr/>
          <p:nvPr/>
        </p:nvSpPr>
        <p:spPr>
          <a:xfrm>
            <a:off x="8915400" y="2496312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workflow/</a:t>
            </a:r>
            <a:endParaRPr lang="en-US" sz="1150" dirty="0"/>
          </a:p>
        </p:txBody>
      </p:sp>
      <p:sp>
        <p:nvSpPr>
          <p:cNvPr id="25" name="S01_HeroFile2_Page"/>
          <p:cNvSpPr/>
          <p:nvPr/>
        </p:nvSpPr>
        <p:spPr>
          <a:xfrm>
            <a:off x="8339328" y="3017520"/>
            <a:ext cx="384048" cy="457200"/>
          </a:xfrm>
          <a:prstGeom prst="roundRect">
            <a:avLst>
              <a:gd name="adj" fmla="val 7143"/>
            </a:avLst>
          </a:prstGeom>
          <a:solidFill>
            <a:srgbClr val="E5F8F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6" name="S01_HeroFile2_Line1"/>
          <p:cNvSpPr/>
          <p:nvPr/>
        </p:nvSpPr>
        <p:spPr>
          <a:xfrm>
            <a:off x="8416138" y="3177540"/>
            <a:ext cx="230429" cy="914"/>
          </a:xfrm>
          <a:prstGeom prst="line">
            <a:avLst/>
          </a:prstGeom>
          <a:noFill/>
          <a:ln w="12700">
            <a:solidFill>
              <a:srgbClr val="00A6A6"/>
            </a:solidFill>
            <a:prstDash val="solid"/>
            <a:headEnd type="none"/>
            <a:tailEnd type="none"/>
          </a:ln>
        </p:spPr>
      </p:sp>
      <p:sp>
        <p:nvSpPr>
          <p:cNvPr id="27" name="S01_HeroFile2_Line2"/>
          <p:cNvSpPr/>
          <p:nvPr/>
        </p:nvSpPr>
        <p:spPr>
          <a:xfrm>
            <a:off x="8416138" y="3268980"/>
            <a:ext cx="199705" cy="914"/>
          </a:xfrm>
          <a:prstGeom prst="line">
            <a:avLst/>
          </a:prstGeom>
          <a:noFill/>
          <a:ln w="12700">
            <a:solidFill>
              <a:srgbClr val="00A6A6"/>
            </a:solidFill>
            <a:prstDash val="solid"/>
            <a:headEnd type="none"/>
            <a:tailEnd type="none"/>
          </a:ln>
        </p:spPr>
      </p:sp>
      <p:sp>
        <p:nvSpPr>
          <p:cNvPr id="28" name="S01_HeroFile2_Line3"/>
          <p:cNvSpPr/>
          <p:nvPr/>
        </p:nvSpPr>
        <p:spPr>
          <a:xfrm>
            <a:off x="8416138" y="3360420"/>
            <a:ext cx="161300" cy="914"/>
          </a:xfrm>
          <a:prstGeom prst="line">
            <a:avLst/>
          </a:prstGeom>
          <a:noFill/>
          <a:ln w="12700">
            <a:solidFill>
              <a:srgbClr val="00A6A6"/>
            </a:solidFill>
            <a:prstDash val="solid"/>
            <a:headEnd type="none"/>
            <a:tailEnd type="none"/>
          </a:ln>
        </p:spPr>
      </p:sp>
      <p:sp>
        <p:nvSpPr>
          <p:cNvPr id="29" name="S01_HeroFileLabel2"/>
          <p:cNvSpPr/>
          <p:nvPr/>
        </p:nvSpPr>
        <p:spPr>
          <a:xfrm>
            <a:off x="8915400" y="3118104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api/ · data/</a:t>
            </a:r>
            <a:endParaRPr lang="en-US" sz="1150" dirty="0"/>
          </a:p>
        </p:txBody>
      </p:sp>
      <p:sp>
        <p:nvSpPr>
          <p:cNvPr id="30" name="S01_HeroFile3_Page"/>
          <p:cNvSpPr/>
          <p:nvPr/>
        </p:nvSpPr>
        <p:spPr>
          <a:xfrm>
            <a:off x="8339328" y="3639312"/>
            <a:ext cx="384048" cy="457200"/>
          </a:xfrm>
          <a:prstGeom prst="roundRect">
            <a:avLst>
              <a:gd name="adj" fmla="val 7143"/>
            </a:avLst>
          </a:prstGeom>
          <a:solidFill>
            <a:srgbClr val="F0ECFF"/>
          </a:solidFill>
          <a:ln w="12700">
            <a:solidFill>
              <a:srgbClr val="7657D5"/>
            </a:solidFill>
            <a:prstDash val="solid"/>
          </a:ln>
        </p:spPr>
      </p:sp>
      <p:sp>
        <p:nvSpPr>
          <p:cNvPr id="31" name="S01_HeroFile3_Line1"/>
          <p:cNvSpPr/>
          <p:nvPr/>
        </p:nvSpPr>
        <p:spPr>
          <a:xfrm>
            <a:off x="8416138" y="3799332"/>
            <a:ext cx="230429" cy="914"/>
          </a:xfrm>
          <a:prstGeom prst="line">
            <a:avLst/>
          </a:prstGeom>
          <a:noFill/>
          <a:ln w="12700">
            <a:solidFill>
              <a:srgbClr val="7657D5"/>
            </a:solidFill>
            <a:prstDash val="solid"/>
            <a:headEnd type="none"/>
            <a:tailEnd type="none"/>
          </a:ln>
        </p:spPr>
      </p:sp>
      <p:sp>
        <p:nvSpPr>
          <p:cNvPr id="32" name="S01_HeroFile3_Line2"/>
          <p:cNvSpPr/>
          <p:nvPr/>
        </p:nvSpPr>
        <p:spPr>
          <a:xfrm>
            <a:off x="8416138" y="3890772"/>
            <a:ext cx="199705" cy="914"/>
          </a:xfrm>
          <a:prstGeom prst="line">
            <a:avLst/>
          </a:prstGeom>
          <a:noFill/>
          <a:ln w="12700">
            <a:solidFill>
              <a:srgbClr val="7657D5"/>
            </a:solidFill>
            <a:prstDash val="solid"/>
            <a:headEnd type="none"/>
            <a:tailEnd type="none"/>
          </a:ln>
        </p:spPr>
      </p:sp>
      <p:sp>
        <p:nvSpPr>
          <p:cNvPr id="33" name="S01_HeroFile3_Line3"/>
          <p:cNvSpPr/>
          <p:nvPr/>
        </p:nvSpPr>
        <p:spPr>
          <a:xfrm>
            <a:off x="8416138" y="3982212"/>
            <a:ext cx="161300" cy="914"/>
          </a:xfrm>
          <a:prstGeom prst="line">
            <a:avLst/>
          </a:prstGeom>
          <a:noFill/>
          <a:ln w="12700">
            <a:solidFill>
              <a:srgbClr val="7657D5"/>
            </a:solidFill>
            <a:prstDash val="solid"/>
            <a:headEnd type="none"/>
            <a:tailEnd type="none"/>
          </a:ln>
        </p:spPr>
      </p:sp>
      <p:sp>
        <p:nvSpPr>
          <p:cNvPr id="34" name="S01_HeroFileLabel3"/>
          <p:cNvSpPr/>
          <p:nvPr/>
        </p:nvSpPr>
        <p:spPr>
          <a:xfrm>
            <a:off x="8915400" y="3739896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OpenAPI · DBML</a:t>
            </a:r>
            <a:endParaRPr lang="en-US" sz="1150" dirty="0"/>
          </a:p>
        </p:txBody>
      </p:sp>
      <p:sp>
        <p:nvSpPr>
          <p:cNvPr id="35" name="S01_HeroIndexLink"/>
          <p:cNvSpPr/>
          <p:nvPr/>
        </p:nvSpPr>
        <p:spPr>
          <a:xfrm>
            <a:off x="8659368" y="4370832"/>
            <a:ext cx="1856232" cy="914"/>
          </a:xfrm>
          <a:prstGeom prst="line">
            <a:avLst/>
          </a:prstGeom>
          <a:noFill/>
          <a:ln w="17780">
            <a:solidFill>
              <a:srgbClr val="00A6A6"/>
            </a:solidFill>
            <a:prstDash val="solid"/>
            <a:headEnd type="none"/>
            <a:tailEnd type="triangle"/>
          </a:ln>
        </p:spPr>
      </p:sp>
      <p:sp>
        <p:nvSpPr>
          <p:cNvPr id="36" name="S01_HeroIndexPill_Bg"/>
          <p:cNvSpPr/>
          <p:nvPr/>
        </p:nvSpPr>
        <p:spPr>
          <a:xfrm>
            <a:off x="8339328" y="4599432"/>
            <a:ext cx="2395728" cy="438912"/>
          </a:xfrm>
          <a:prstGeom prst="roundRect">
            <a:avLst>
              <a:gd name="adj" fmla="val 16667"/>
            </a:avLst>
          </a:prstGeom>
          <a:solidFill>
            <a:srgbClr val="E5F8F6"/>
          </a:solidFill>
          <a:ln w="12700">
            <a:solidFill>
              <a:srgbClr val="E5F8F6">
                <a:alpha val="0"/>
              </a:srgbClr>
            </a:solidFill>
            <a:prstDash val="solid"/>
          </a:ln>
        </p:spPr>
      </p:sp>
      <p:sp>
        <p:nvSpPr>
          <p:cNvPr id="37" name="S01_HeroIndexPill_Text"/>
          <p:cNvSpPr/>
          <p:nvPr/>
        </p:nvSpPr>
        <p:spPr>
          <a:xfrm>
            <a:off x="8339328" y="4604004"/>
            <a:ext cx="23957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_sdd · карта связей</a:t>
            </a:r>
            <a:endParaRPr lang="en-US" sz="1150" dirty="0"/>
          </a:p>
        </p:txBody>
      </p:sp>
      <p:sp>
        <p:nvSpPr>
          <p:cNvPr id="38" name="S01_HeroBottomPill1_Bg"/>
          <p:cNvSpPr/>
          <p:nvPr/>
        </p:nvSpPr>
        <p:spPr>
          <a:xfrm>
            <a:off x="658368" y="5285232"/>
            <a:ext cx="214884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01_HeroBottomPill1_Text"/>
          <p:cNvSpPr/>
          <p:nvPr/>
        </p:nvSpPr>
        <p:spPr>
          <a:xfrm>
            <a:off x="658368" y="5289804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6670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folder-based specification</a:t>
            </a:r>
            <a:endParaRPr lang="en-US" sz="1060" dirty="0"/>
          </a:p>
        </p:txBody>
      </p:sp>
      <p:sp>
        <p:nvSpPr>
          <p:cNvPr id="40" name="S01_HeroBottomPill2_Bg"/>
          <p:cNvSpPr/>
          <p:nvPr/>
        </p:nvSpPr>
        <p:spPr>
          <a:xfrm>
            <a:off x="2944368" y="5285232"/>
            <a:ext cx="2359152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01_HeroBottomPill2_Text"/>
          <p:cNvSpPr/>
          <p:nvPr/>
        </p:nvSpPr>
        <p:spPr>
          <a:xfrm>
            <a:off x="2944368" y="5289804"/>
            <a:ext cx="235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6670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_sdd · навигация и связи</a:t>
            </a:r>
            <a:endParaRPr lang="en-US" sz="1060" dirty="0"/>
          </a:p>
        </p:txBody>
      </p:sp>
      <p:sp>
        <p:nvSpPr>
          <p:cNvPr id="42" name="S01_HeroBottomPill3_Bg"/>
          <p:cNvSpPr/>
          <p:nvPr/>
        </p:nvSpPr>
        <p:spPr>
          <a:xfrm>
            <a:off x="5449824" y="5285232"/>
            <a:ext cx="1956816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01_HeroBottomPill3_Text"/>
          <p:cNvSpPr/>
          <p:nvPr/>
        </p:nvSpPr>
        <p:spPr>
          <a:xfrm>
            <a:off x="5449824" y="5289804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6670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multi-file apply</a:t>
            </a:r>
            <a:endParaRPr lang="en-US" sz="10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2_TopAccent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3" name="S02_SectionLabel"/>
          <p:cNvSpPr/>
          <p:nvPr/>
        </p:nvSpPr>
        <p:spPr>
          <a:xfrm>
            <a:off x="621792" y="2560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ИСХОДНЫЙ КОНТЕКСТ</a:t>
            </a:r>
            <a:endParaRPr lang="en-US" sz="850" dirty="0"/>
          </a:p>
        </p:txBody>
      </p:sp>
      <p:sp>
        <p:nvSpPr>
          <p:cNvPr id="4" name="S02_Title"/>
          <p:cNvSpPr/>
          <p:nvPr/>
        </p:nvSpPr>
        <p:spPr>
          <a:xfrm>
            <a:off x="621792" y="502920"/>
            <a:ext cx="10149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Документация уже является частью delivery-процесса</a:t>
            </a:r>
            <a:endParaRPr lang="en-US" sz="2850" dirty="0"/>
          </a:p>
        </p:txBody>
      </p:sp>
      <p:sp>
        <p:nvSpPr>
          <p:cNvPr id="5" name="S02_Subtitle"/>
          <p:cNvSpPr/>
          <p:nvPr/>
        </p:nvSpPr>
        <p:spPr>
          <a:xfrm>
            <a:off x="640080" y="1014984"/>
            <a:ext cx="10469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Сначала меняется описание поведения — затем код.</a:t>
            </a:r>
            <a:endParaRPr lang="en-US" sz="1320" dirty="0"/>
          </a:p>
        </p:txBody>
      </p:sp>
      <p:sp>
        <p:nvSpPr>
          <p:cNvPr id="6" name="S02_DeckLabel"/>
          <p:cNvSpPr/>
          <p:nvPr/>
        </p:nvSpPr>
        <p:spPr>
          <a:xfrm>
            <a:off x="9921240" y="25603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spc="100" kern="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 SPEC · SDD</a:t>
            </a:r>
            <a:endParaRPr lang="en-US" sz="820" dirty="0"/>
          </a:p>
        </p:txBody>
      </p:sp>
      <p:sp>
        <p:nvSpPr>
          <p:cNvPr id="7" name="S02_SlideNumber"/>
          <p:cNvSpPr/>
          <p:nvPr/>
        </p:nvSpPr>
        <p:spPr>
          <a:xfrm>
            <a:off x="11375136" y="647395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3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</a:t>
            </a:r>
            <a:endParaRPr lang="en-US" sz="830" dirty="0"/>
          </a:p>
        </p:txBody>
      </p:sp>
      <p:sp>
        <p:nvSpPr>
          <p:cNvPr id="8" name="S02_FooterLine"/>
          <p:cNvSpPr/>
          <p:nvPr/>
        </p:nvSpPr>
        <p:spPr>
          <a:xfrm>
            <a:off x="621792" y="6419088"/>
            <a:ext cx="10972800" cy="914"/>
          </a:xfrm>
          <a:prstGeom prst="line">
            <a:avLst/>
          </a:prstGeom>
          <a:noFill/>
          <a:ln w="9525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10" name="S02_MetricYears_Card"/>
          <p:cNvSpPr/>
          <p:nvPr/>
        </p:nvSpPr>
        <p:spPr>
          <a:xfrm>
            <a:off x="658368" y="1444752"/>
            <a:ext cx="2377440" cy="941832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1" name="S02_MetricYears_Accent"/>
          <p:cNvSpPr/>
          <p:nvPr/>
        </p:nvSpPr>
        <p:spPr>
          <a:xfrm>
            <a:off x="658368" y="1444752"/>
            <a:ext cx="73152" cy="941832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2" name="S02_MetricYears_Number"/>
          <p:cNvSpPr/>
          <p:nvPr/>
        </p:nvSpPr>
        <p:spPr>
          <a:xfrm>
            <a:off x="877824" y="1554480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3+</a:t>
            </a:r>
            <a:endParaRPr lang="en-US" sz="2400" dirty="0"/>
          </a:p>
        </p:txBody>
      </p:sp>
      <p:sp>
        <p:nvSpPr>
          <p:cNvPr id="13" name="S02_MetricYears_Label"/>
          <p:cNvSpPr/>
          <p:nvPr/>
        </p:nvSpPr>
        <p:spPr>
          <a:xfrm>
            <a:off x="1828800" y="1581912"/>
            <a:ext cx="1024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года развития проекта</a:t>
            </a:r>
            <a:endParaRPr lang="en-US" sz="1250" dirty="0"/>
          </a:p>
        </p:txBody>
      </p:sp>
      <p:sp>
        <p:nvSpPr>
          <p:cNvPr id="14" name="S02_MetricServices_Card"/>
          <p:cNvSpPr/>
          <p:nvPr/>
        </p:nvSpPr>
        <p:spPr>
          <a:xfrm>
            <a:off x="3200400" y="1444752"/>
            <a:ext cx="2542032" cy="941832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5" name="S02_MetricServices_Accent"/>
          <p:cNvSpPr/>
          <p:nvPr/>
        </p:nvSpPr>
        <p:spPr>
          <a:xfrm>
            <a:off x="3200400" y="1444752"/>
            <a:ext cx="73152" cy="941832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16" name="S02_MetricServices_Number"/>
          <p:cNvSpPr/>
          <p:nvPr/>
        </p:nvSpPr>
        <p:spPr>
          <a:xfrm>
            <a:off x="3419856" y="1554480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10</a:t>
            </a:r>
            <a:endParaRPr lang="en-US" sz="2400" dirty="0"/>
          </a:p>
        </p:txBody>
      </p:sp>
      <p:sp>
        <p:nvSpPr>
          <p:cNvPr id="17" name="S02_MetricServices_Label"/>
          <p:cNvSpPr/>
          <p:nvPr/>
        </p:nvSpPr>
        <p:spPr>
          <a:xfrm>
            <a:off x="4370832" y="1581912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сервисов и библиотек</a:t>
            </a:r>
            <a:endParaRPr lang="en-US" sz="1250" dirty="0"/>
          </a:p>
        </p:txBody>
      </p:sp>
      <p:sp>
        <p:nvSpPr>
          <p:cNvPr id="18" name="S02_MetricSequence_Card"/>
          <p:cNvSpPr/>
          <p:nvPr/>
        </p:nvSpPr>
        <p:spPr>
          <a:xfrm>
            <a:off x="5907024" y="1444752"/>
            <a:ext cx="3063240" cy="941832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9" name="S02_MetricSequence_Accent"/>
          <p:cNvSpPr/>
          <p:nvPr/>
        </p:nvSpPr>
        <p:spPr>
          <a:xfrm>
            <a:off x="5907024" y="1444752"/>
            <a:ext cx="73152" cy="941832"/>
          </a:xfrm>
          <a:prstGeom prst="rect">
            <a:avLst/>
          </a:prstGeom>
          <a:solidFill>
            <a:srgbClr val="7657D5"/>
          </a:solidFill>
          <a:ln w="12700">
            <a:solidFill>
              <a:srgbClr val="7657D5">
                <a:alpha val="0"/>
              </a:srgbClr>
            </a:solidFill>
            <a:prstDash val="solid"/>
          </a:ln>
        </p:spPr>
      </p:sp>
      <p:sp>
        <p:nvSpPr>
          <p:cNvPr id="20" name="S02_MetricSequence_Number"/>
          <p:cNvSpPr/>
          <p:nvPr/>
        </p:nvSpPr>
        <p:spPr>
          <a:xfrm>
            <a:off x="6126480" y="1554480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7657D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DOC → CODE</a:t>
            </a:r>
            <a:endParaRPr lang="en-US" sz="2400" dirty="0"/>
          </a:p>
        </p:txBody>
      </p:sp>
      <p:sp>
        <p:nvSpPr>
          <p:cNvPr id="21" name="S02_MetricSequence_Label"/>
          <p:cNvSpPr/>
          <p:nvPr/>
        </p:nvSpPr>
        <p:spPr>
          <a:xfrm>
            <a:off x="7077456" y="1581912"/>
            <a:ext cx="1709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изменение описания предшествует коду</a:t>
            </a:r>
            <a:endParaRPr lang="en-US" sz="1250" dirty="0"/>
          </a:p>
        </p:txBody>
      </p:sp>
      <p:sp>
        <p:nvSpPr>
          <p:cNvPr id="22" name="S02_BugException_Bg"/>
          <p:cNvSpPr/>
          <p:nvPr/>
        </p:nvSpPr>
        <p:spPr>
          <a:xfrm>
            <a:off x="9144000" y="1591056"/>
            <a:ext cx="2359152" cy="603504"/>
          </a:xfrm>
          <a:prstGeom prst="roundRect">
            <a:avLst>
              <a:gd name="adj" fmla="val 12121"/>
            </a:avLst>
          </a:prstGeom>
          <a:solidFill>
            <a:srgbClr val="FFF3D9"/>
          </a:solidFill>
          <a:ln w="12700">
            <a:solidFill>
              <a:srgbClr val="FFF3D9">
                <a:alpha val="0"/>
              </a:srgbClr>
            </a:solidFill>
            <a:prstDash val="solid"/>
          </a:ln>
        </p:spPr>
      </p:sp>
      <p:sp>
        <p:nvSpPr>
          <p:cNvPr id="23" name="S02_BugException_Text"/>
          <p:cNvSpPr/>
          <p:nvPr/>
        </p:nvSpPr>
        <p:spPr>
          <a:xfrm>
            <a:off x="9144000" y="1595628"/>
            <a:ext cx="2359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9A63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кроме исправления багов</a:t>
            </a:r>
            <a:endParaRPr lang="en-US" sz="1120" dirty="0"/>
          </a:p>
        </p:txBody>
      </p:sp>
      <p:sp>
        <p:nvSpPr>
          <p:cNvPr id="24" name="S02_CurrentFlow1_Card"/>
          <p:cNvSpPr/>
          <p:nvPr/>
        </p:nvSpPr>
        <p:spPr>
          <a:xfrm>
            <a:off x="658368" y="2889504"/>
            <a:ext cx="14173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6510">
            <a:solidFill>
              <a:srgbClr val="2F6BFF"/>
            </a:solidFill>
            <a:prstDash val="solid"/>
          </a:ln>
        </p:spPr>
      </p:sp>
      <p:sp>
        <p:nvSpPr>
          <p:cNvPr id="25" name="S02_CurrentFlow1_Dot"/>
          <p:cNvSpPr/>
          <p:nvPr/>
        </p:nvSpPr>
        <p:spPr>
          <a:xfrm>
            <a:off x="777240" y="3026664"/>
            <a:ext cx="228600" cy="22860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26" name="S02_CurrentFlow1_Title"/>
          <p:cNvSpPr/>
          <p:nvPr/>
        </p:nvSpPr>
        <p:spPr>
          <a:xfrm>
            <a:off x="1078992" y="2980944"/>
            <a:ext cx="905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Аналитик</a:t>
            </a:r>
            <a:endParaRPr lang="en-US" sz="1250" dirty="0"/>
          </a:p>
        </p:txBody>
      </p:sp>
      <p:sp>
        <p:nvSpPr>
          <p:cNvPr id="27" name="S02_CurrentFlow1_Subtitle"/>
          <p:cNvSpPr/>
          <p:nvPr/>
        </p:nvSpPr>
        <p:spPr>
          <a:xfrm>
            <a:off x="1078992" y="3291840"/>
            <a:ext cx="9052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формулирует изменение</a:t>
            </a:r>
            <a:endParaRPr lang="en-US" sz="1050" dirty="0"/>
          </a:p>
        </p:txBody>
      </p:sp>
      <p:sp>
        <p:nvSpPr>
          <p:cNvPr id="28" name="S02_CurrentArrow1"/>
          <p:cNvSpPr/>
          <p:nvPr/>
        </p:nvSpPr>
        <p:spPr>
          <a:xfrm>
            <a:off x="2148840" y="3474720"/>
            <a:ext cx="173736" cy="914"/>
          </a:xfrm>
          <a:prstGeom prst="line">
            <a:avLst/>
          </a:prstGeom>
          <a:noFill/>
          <a:ln w="2032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29" name="S02_CurrentFlow2_Card"/>
          <p:cNvSpPr/>
          <p:nvPr/>
        </p:nvSpPr>
        <p:spPr>
          <a:xfrm>
            <a:off x="2395728" y="2889504"/>
            <a:ext cx="199339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6510">
            <a:solidFill>
              <a:srgbClr val="F5A623"/>
            </a:solidFill>
            <a:prstDash val="solid"/>
          </a:ln>
        </p:spPr>
      </p:sp>
      <p:sp>
        <p:nvSpPr>
          <p:cNvPr id="30" name="S02_CurrentFlow2_Dot"/>
          <p:cNvSpPr/>
          <p:nvPr/>
        </p:nvSpPr>
        <p:spPr>
          <a:xfrm>
            <a:off x="2514600" y="3026664"/>
            <a:ext cx="228600" cy="2286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31" name="S02_CurrentFlow2_Title"/>
          <p:cNvSpPr/>
          <p:nvPr/>
        </p:nvSpPr>
        <p:spPr>
          <a:xfrm>
            <a:off x="2816352" y="2980944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Confluence</a:t>
            </a:r>
            <a:endParaRPr lang="en-US" sz="1250" dirty="0"/>
          </a:p>
        </p:txBody>
      </p:sp>
      <p:sp>
        <p:nvSpPr>
          <p:cNvPr id="32" name="S02_CurrentFlow2_Subtitle"/>
          <p:cNvSpPr/>
          <p:nvPr/>
        </p:nvSpPr>
        <p:spPr>
          <a:xfrm>
            <a:off x="2816352" y="3291840"/>
            <a:ext cx="14813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правка выделена цветом</a:t>
            </a:r>
            <a:endParaRPr lang="en-US" sz="1050" dirty="0"/>
          </a:p>
        </p:txBody>
      </p:sp>
      <p:sp>
        <p:nvSpPr>
          <p:cNvPr id="33" name="S02_CurrentArrow2"/>
          <p:cNvSpPr/>
          <p:nvPr/>
        </p:nvSpPr>
        <p:spPr>
          <a:xfrm>
            <a:off x="4462272" y="3474720"/>
            <a:ext cx="182880" cy="914"/>
          </a:xfrm>
          <a:prstGeom prst="line">
            <a:avLst/>
          </a:prstGeom>
          <a:noFill/>
          <a:ln w="2032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34" name="S02_CurrentFlow3_Card"/>
          <p:cNvSpPr/>
          <p:nvPr/>
        </p:nvSpPr>
        <p:spPr>
          <a:xfrm>
            <a:off x="4718304" y="2889504"/>
            <a:ext cx="18288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6510">
            <a:solidFill>
              <a:srgbClr val="7657D5"/>
            </a:solidFill>
            <a:prstDash val="solid"/>
          </a:ln>
        </p:spPr>
      </p:sp>
      <p:sp>
        <p:nvSpPr>
          <p:cNvPr id="35" name="S02_CurrentFlow3_Dot"/>
          <p:cNvSpPr/>
          <p:nvPr/>
        </p:nvSpPr>
        <p:spPr>
          <a:xfrm>
            <a:off x="4837176" y="3026664"/>
            <a:ext cx="228600" cy="228600"/>
          </a:xfrm>
          <a:prstGeom prst="ellipse">
            <a:avLst/>
          </a:prstGeom>
          <a:solidFill>
            <a:srgbClr val="7657D5"/>
          </a:solidFill>
          <a:ln w="12700">
            <a:solidFill>
              <a:srgbClr val="7657D5">
                <a:alpha val="0"/>
              </a:srgbClr>
            </a:solidFill>
            <a:prstDash val="solid"/>
          </a:ln>
        </p:spPr>
      </p:sp>
      <p:sp>
        <p:nvSpPr>
          <p:cNvPr id="36" name="S02_CurrentFlow3_Title"/>
          <p:cNvSpPr/>
          <p:nvPr/>
        </p:nvSpPr>
        <p:spPr>
          <a:xfrm>
            <a:off x="5138928" y="2980944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Передача</a:t>
            </a:r>
            <a:endParaRPr lang="en-US" sz="1250" dirty="0"/>
          </a:p>
        </p:txBody>
      </p:sp>
      <p:sp>
        <p:nvSpPr>
          <p:cNvPr id="37" name="S02_CurrentFlow3_Subtitle"/>
          <p:cNvSpPr/>
          <p:nvPr/>
        </p:nvSpPr>
        <p:spPr>
          <a:xfrm>
            <a:off x="5138928" y="3291840"/>
            <a:ext cx="13167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согласовано для разработки</a:t>
            </a:r>
            <a:endParaRPr lang="en-US" sz="1050" dirty="0"/>
          </a:p>
        </p:txBody>
      </p:sp>
      <p:sp>
        <p:nvSpPr>
          <p:cNvPr id="38" name="S02_CurrentArrow3"/>
          <p:cNvSpPr/>
          <p:nvPr/>
        </p:nvSpPr>
        <p:spPr>
          <a:xfrm>
            <a:off x="6620256" y="3474720"/>
            <a:ext cx="182880" cy="914"/>
          </a:xfrm>
          <a:prstGeom prst="line">
            <a:avLst/>
          </a:prstGeom>
          <a:noFill/>
          <a:ln w="2032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39" name="S02_CurrentFlow4_Card"/>
          <p:cNvSpPr/>
          <p:nvPr/>
        </p:nvSpPr>
        <p:spPr>
          <a:xfrm>
            <a:off x="6876288" y="2889504"/>
            <a:ext cx="17373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6510">
            <a:solidFill>
              <a:srgbClr val="2F6BFF"/>
            </a:solidFill>
            <a:prstDash val="solid"/>
          </a:ln>
        </p:spPr>
      </p:sp>
      <p:sp>
        <p:nvSpPr>
          <p:cNvPr id="40" name="S02_CurrentFlow4_Dot"/>
          <p:cNvSpPr/>
          <p:nvPr/>
        </p:nvSpPr>
        <p:spPr>
          <a:xfrm>
            <a:off x="6995160" y="3026664"/>
            <a:ext cx="228600" cy="22860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1" name="S02_CurrentFlow4_Title"/>
          <p:cNvSpPr/>
          <p:nvPr/>
        </p:nvSpPr>
        <p:spPr>
          <a:xfrm>
            <a:off x="7296912" y="2980944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Реализация</a:t>
            </a:r>
            <a:endParaRPr lang="en-US" sz="1250" dirty="0"/>
          </a:p>
        </p:txBody>
      </p:sp>
      <p:sp>
        <p:nvSpPr>
          <p:cNvPr id="42" name="S02_CurrentFlow4_Subtitle"/>
          <p:cNvSpPr/>
          <p:nvPr/>
        </p:nvSpPr>
        <p:spPr>
          <a:xfrm>
            <a:off x="7296912" y="3291840"/>
            <a:ext cx="12252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изменение в коде</a:t>
            </a:r>
            <a:endParaRPr lang="en-US" sz="1050" dirty="0"/>
          </a:p>
        </p:txBody>
      </p:sp>
      <p:sp>
        <p:nvSpPr>
          <p:cNvPr id="43" name="S02_CurrentArrow4"/>
          <p:cNvSpPr/>
          <p:nvPr/>
        </p:nvSpPr>
        <p:spPr>
          <a:xfrm>
            <a:off x="8686800" y="3474720"/>
            <a:ext cx="182880" cy="914"/>
          </a:xfrm>
          <a:prstGeom prst="line">
            <a:avLst/>
          </a:prstGeom>
          <a:noFill/>
          <a:ln w="2032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44" name="S02_CurrentFlow5_Card"/>
          <p:cNvSpPr/>
          <p:nvPr/>
        </p:nvSpPr>
        <p:spPr>
          <a:xfrm>
            <a:off x="8942832" y="2889504"/>
            <a:ext cx="25603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6510">
            <a:solidFill>
              <a:srgbClr val="00A6A6"/>
            </a:solidFill>
            <a:prstDash val="solid"/>
          </a:ln>
        </p:spPr>
      </p:sp>
      <p:sp>
        <p:nvSpPr>
          <p:cNvPr id="45" name="S02_CurrentFlow5_Dot"/>
          <p:cNvSpPr/>
          <p:nvPr/>
        </p:nvSpPr>
        <p:spPr>
          <a:xfrm>
            <a:off x="9061704" y="3026664"/>
            <a:ext cx="228600" cy="228600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46" name="S02_CurrentFlow5_Title"/>
          <p:cNvSpPr/>
          <p:nvPr/>
        </p:nvSpPr>
        <p:spPr>
          <a:xfrm>
            <a:off x="9363456" y="2980944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Актуальная master spec</a:t>
            </a:r>
            <a:endParaRPr lang="en-US" sz="1250" dirty="0"/>
          </a:p>
        </p:txBody>
      </p:sp>
      <p:sp>
        <p:nvSpPr>
          <p:cNvPr id="47" name="S02_CurrentFlow5_Subtitle"/>
          <p:cNvSpPr/>
          <p:nvPr/>
        </p:nvSpPr>
        <p:spPr>
          <a:xfrm>
            <a:off x="9363456" y="3291840"/>
            <a:ext cx="20482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цветовая разметка снята</a:t>
            </a:r>
            <a:endParaRPr lang="en-US" sz="1050" dirty="0"/>
          </a:p>
        </p:txBody>
      </p:sp>
      <p:sp>
        <p:nvSpPr>
          <p:cNvPr id="48" name="S02_DeliveryThesisCard"/>
          <p:cNvSpPr/>
          <p:nvPr/>
        </p:nvSpPr>
        <p:spPr>
          <a:xfrm>
            <a:off x="658368" y="4526280"/>
            <a:ext cx="10844784" cy="1143000"/>
          </a:xfrm>
          <a:prstGeom prst="roundRect">
            <a:avLst>
              <a:gd name="adj" fmla="val 6400"/>
            </a:avLst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</p:sp>
      <p:sp>
        <p:nvSpPr>
          <p:cNvPr id="49" name="S02_DeliveryThesis"/>
          <p:cNvSpPr/>
          <p:nvPr/>
        </p:nvSpPr>
        <p:spPr>
          <a:xfrm>
            <a:off x="1024128" y="4754880"/>
            <a:ext cx="7086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20365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Спецификация — не отчёт после разработки, а вход в разработку.</a:t>
            </a:r>
            <a:endParaRPr lang="en-US" sz="1950" dirty="0"/>
          </a:p>
        </p:txBody>
      </p:sp>
      <p:sp>
        <p:nvSpPr>
          <p:cNvPr id="50" name="S02_DeliverySoT_Bg"/>
          <p:cNvSpPr/>
          <p:nvPr/>
        </p:nvSpPr>
        <p:spPr>
          <a:xfrm>
            <a:off x="8595360" y="4754880"/>
            <a:ext cx="2441448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02_DeliverySoT_Text"/>
          <p:cNvSpPr/>
          <p:nvPr/>
        </p:nvSpPr>
        <p:spPr>
          <a:xfrm>
            <a:off x="8595360" y="4759452"/>
            <a:ext cx="244144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source of truth уже существует</a:t>
            </a:r>
            <a:endParaRPr lang="en-US" sz="11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3_TopAccent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3" name="S03_SectionLabel"/>
          <p:cNvSpPr/>
          <p:nvPr/>
        </p:nvSpPr>
        <p:spPr>
          <a:xfrm>
            <a:off x="621792" y="2560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МАСШТАБ ЗНАНИЯ</a:t>
            </a:r>
            <a:endParaRPr lang="en-US" sz="850" dirty="0"/>
          </a:p>
        </p:txBody>
      </p:sp>
      <p:sp>
        <p:nvSpPr>
          <p:cNvPr id="4" name="S03_Title"/>
          <p:cNvSpPr/>
          <p:nvPr/>
        </p:nvSpPr>
        <p:spPr>
          <a:xfrm>
            <a:off x="621792" y="502920"/>
            <a:ext cx="10149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Master specification — это система документов</a:t>
            </a:r>
            <a:endParaRPr lang="en-US" sz="2850" dirty="0"/>
          </a:p>
        </p:txBody>
      </p:sp>
      <p:sp>
        <p:nvSpPr>
          <p:cNvPr id="5" name="S03_Subtitle"/>
          <p:cNvSpPr/>
          <p:nvPr/>
        </p:nvSpPr>
        <p:spPr>
          <a:xfrm>
            <a:off x="640080" y="1014984"/>
            <a:ext cx="10469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Один сервис связывает процессы, данные, UI и интеграции.</a:t>
            </a:r>
            <a:endParaRPr lang="en-US" sz="1320" dirty="0"/>
          </a:p>
        </p:txBody>
      </p:sp>
      <p:sp>
        <p:nvSpPr>
          <p:cNvPr id="6" name="S03_DeckLabel"/>
          <p:cNvSpPr/>
          <p:nvPr/>
        </p:nvSpPr>
        <p:spPr>
          <a:xfrm>
            <a:off x="9921240" y="25603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spc="100" kern="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 SPEC · SDD</a:t>
            </a:r>
            <a:endParaRPr lang="en-US" sz="820" dirty="0"/>
          </a:p>
        </p:txBody>
      </p:sp>
      <p:sp>
        <p:nvSpPr>
          <p:cNvPr id="7" name="S03_SlideNumber"/>
          <p:cNvSpPr/>
          <p:nvPr/>
        </p:nvSpPr>
        <p:spPr>
          <a:xfrm>
            <a:off x="11375136" y="647395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3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</a:t>
            </a:r>
            <a:endParaRPr lang="en-US" sz="830" dirty="0"/>
          </a:p>
        </p:txBody>
      </p:sp>
      <p:sp>
        <p:nvSpPr>
          <p:cNvPr id="8" name="S03_FooterLine"/>
          <p:cNvSpPr/>
          <p:nvPr/>
        </p:nvSpPr>
        <p:spPr>
          <a:xfrm>
            <a:off x="621792" y="6419088"/>
            <a:ext cx="10972800" cy="914"/>
          </a:xfrm>
          <a:prstGeom prst="line">
            <a:avLst/>
          </a:prstGeom>
          <a:noFill/>
          <a:ln w="9525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10" name="S03_BranchProcess"/>
          <p:cNvSpPr/>
          <p:nvPr/>
        </p:nvSpPr>
        <p:spPr>
          <a:xfrm flipH="1" flipV="1">
            <a:off x="3630168" y="2112264"/>
            <a:ext cx="1014984" cy="603504"/>
          </a:xfrm>
          <a:prstGeom prst="line">
            <a:avLst/>
          </a:prstGeom>
          <a:noFill/>
          <a:ln w="20320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11" name="S03_BranchIntegration"/>
          <p:cNvSpPr/>
          <p:nvPr/>
        </p:nvSpPr>
        <p:spPr>
          <a:xfrm flipV="1">
            <a:off x="7552944" y="2112264"/>
            <a:ext cx="1005840" cy="603504"/>
          </a:xfrm>
          <a:prstGeom prst="line">
            <a:avLst/>
          </a:prstGeom>
          <a:noFill/>
          <a:ln w="20320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12" name="S03_BranchDictionary"/>
          <p:cNvSpPr/>
          <p:nvPr/>
        </p:nvSpPr>
        <p:spPr>
          <a:xfrm flipH="1">
            <a:off x="3630168" y="3694176"/>
            <a:ext cx="1014984" cy="612648"/>
          </a:xfrm>
          <a:prstGeom prst="line">
            <a:avLst/>
          </a:prstGeom>
          <a:noFill/>
          <a:ln w="20320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13" name="S03_BranchUI"/>
          <p:cNvSpPr/>
          <p:nvPr/>
        </p:nvSpPr>
        <p:spPr>
          <a:xfrm>
            <a:off x="7552944" y="3694176"/>
            <a:ext cx="1005840" cy="612648"/>
          </a:xfrm>
          <a:prstGeom prst="line">
            <a:avLst/>
          </a:prstGeom>
          <a:noFill/>
          <a:ln w="20320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14" name="S03_BranchAlgorithms"/>
          <p:cNvSpPr/>
          <p:nvPr/>
        </p:nvSpPr>
        <p:spPr>
          <a:xfrm>
            <a:off x="6099048" y="4151376"/>
            <a:ext cx="914" cy="676656"/>
          </a:xfrm>
          <a:prstGeom prst="line">
            <a:avLst/>
          </a:prstGeom>
          <a:noFill/>
          <a:ln w="20320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15" name="S03_MasterSpecCenter"/>
          <p:cNvSpPr/>
          <p:nvPr/>
        </p:nvSpPr>
        <p:spPr>
          <a:xfrm>
            <a:off x="4645152" y="2304288"/>
            <a:ext cx="2907792" cy="1847088"/>
          </a:xfrm>
          <a:prstGeom prst="roundRect">
            <a:avLst>
              <a:gd name="adj" fmla="val 396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3072574500000" dist="8193532000000" dir="9720000000000000">
              <a:srgbClr val="22304A">
                <a:alpha val="120000000000000"/>
              </a:srgbClr>
            </a:outerShdw>
          </a:effectLst>
        </p:spPr>
      </p:sp>
      <p:sp>
        <p:nvSpPr>
          <p:cNvPr id="16" name="S03_MasterSpecService_Bg"/>
          <p:cNvSpPr/>
          <p:nvPr/>
        </p:nvSpPr>
        <p:spPr>
          <a:xfrm>
            <a:off x="5175504" y="2560320"/>
            <a:ext cx="1847088" cy="384048"/>
          </a:xfrm>
          <a:prstGeom prst="roundRect">
            <a:avLst>
              <a:gd name="adj" fmla="val 19048"/>
            </a:avLst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7" name="S03_MasterSpecService_Text"/>
          <p:cNvSpPr/>
          <p:nvPr/>
        </p:nvSpPr>
        <p:spPr>
          <a:xfrm>
            <a:off x="5175504" y="2564892"/>
            <a:ext cx="184708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SERVICE</a:t>
            </a:r>
            <a:endParaRPr lang="en-US" sz="1050" dirty="0"/>
          </a:p>
        </p:txBody>
      </p:sp>
      <p:sp>
        <p:nvSpPr>
          <p:cNvPr id="18" name="S03_MasterSpecCenterText"/>
          <p:cNvSpPr/>
          <p:nvPr/>
        </p:nvSpPr>
        <p:spPr>
          <a:xfrm>
            <a:off x="4992624" y="3063240"/>
            <a:ext cx="221284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MASTER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SPECIFICATION</a:t>
            </a:r>
            <a:endParaRPr lang="en-US" sz="2000" dirty="0"/>
          </a:p>
        </p:txBody>
      </p:sp>
      <p:sp>
        <p:nvSpPr>
          <p:cNvPr id="19" name="S03_BranchCard1"/>
          <p:cNvSpPr/>
          <p:nvPr/>
        </p:nvSpPr>
        <p:spPr>
          <a:xfrm>
            <a:off x="658368" y="1627632"/>
            <a:ext cx="2971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6510">
            <a:solidFill>
              <a:srgbClr val="2F6BFF"/>
            </a:solidFill>
            <a:prstDash val="solid"/>
          </a:ln>
        </p:spPr>
      </p:sp>
      <p:sp>
        <p:nvSpPr>
          <p:cNvPr id="20" name="S03_BranchMetric1"/>
          <p:cNvSpPr/>
          <p:nvPr/>
        </p:nvSpPr>
        <p:spPr>
          <a:xfrm>
            <a:off x="859536" y="1773936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80+</a:t>
            </a:r>
            <a:endParaRPr lang="en-US" sz="2200" dirty="0"/>
          </a:p>
        </p:txBody>
      </p:sp>
      <p:sp>
        <p:nvSpPr>
          <p:cNvPr id="21" name="S03_BranchTitle1"/>
          <p:cNvSpPr/>
          <p:nvPr/>
        </p:nvSpPr>
        <p:spPr>
          <a:xfrm>
            <a:off x="1609344" y="1783080"/>
            <a:ext cx="1837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бизнес-процессов</a:t>
            </a:r>
            <a:endParaRPr lang="en-US" sz="1350" dirty="0"/>
          </a:p>
        </p:txBody>
      </p:sp>
      <p:sp>
        <p:nvSpPr>
          <p:cNvPr id="22" name="S03_BranchSubtitle1"/>
          <p:cNvSpPr/>
          <p:nvPr/>
        </p:nvSpPr>
        <p:spPr>
          <a:xfrm>
            <a:off x="1609344" y="2130552"/>
            <a:ext cx="1837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5+ шагов в каждом</a:t>
            </a:r>
            <a:endParaRPr lang="en-US" sz="1050" dirty="0"/>
          </a:p>
        </p:txBody>
      </p:sp>
      <p:sp>
        <p:nvSpPr>
          <p:cNvPr id="23" name="S03_BranchCard2"/>
          <p:cNvSpPr/>
          <p:nvPr/>
        </p:nvSpPr>
        <p:spPr>
          <a:xfrm>
            <a:off x="8558784" y="1627632"/>
            <a:ext cx="294436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6510">
            <a:solidFill>
              <a:srgbClr val="7657D5"/>
            </a:solidFill>
            <a:prstDash val="solid"/>
          </a:ln>
        </p:spPr>
      </p:sp>
      <p:sp>
        <p:nvSpPr>
          <p:cNvPr id="24" name="S03_BranchMetric2"/>
          <p:cNvSpPr/>
          <p:nvPr/>
        </p:nvSpPr>
        <p:spPr>
          <a:xfrm>
            <a:off x="8759952" y="1773936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7657D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15+</a:t>
            </a:r>
            <a:endParaRPr lang="en-US" sz="2200" dirty="0"/>
          </a:p>
        </p:txBody>
      </p:sp>
      <p:sp>
        <p:nvSpPr>
          <p:cNvPr id="25" name="S03_BranchTitle2"/>
          <p:cNvSpPr/>
          <p:nvPr/>
        </p:nvSpPr>
        <p:spPr>
          <a:xfrm>
            <a:off x="9509760" y="1783080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интеграций</a:t>
            </a:r>
            <a:endParaRPr lang="en-US" sz="1350" dirty="0"/>
          </a:p>
        </p:txBody>
      </p:sp>
      <p:sp>
        <p:nvSpPr>
          <p:cNvPr id="26" name="S03_BranchSubtitle2"/>
          <p:cNvSpPr/>
          <p:nvPr/>
        </p:nvSpPr>
        <p:spPr>
          <a:xfrm>
            <a:off x="9509760" y="2130552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алгоритмы + контракты</a:t>
            </a:r>
            <a:endParaRPr lang="en-US" sz="1050" dirty="0"/>
          </a:p>
        </p:txBody>
      </p:sp>
      <p:sp>
        <p:nvSpPr>
          <p:cNvPr id="27" name="S03_BranchCard3"/>
          <p:cNvSpPr/>
          <p:nvPr/>
        </p:nvSpPr>
        <p:spPr>
          <a:xfrm>
            <a:off x="658368" y="3822192"/>
            <a:ext cx="2971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6510">
            <a:solidFill>
              <a:srgbClr val="00A6A6"/>
            </a:solidFill>
            <a:prstDash val="solid"/>
          </a:ln>
        </p:spPr>
      </p:sp>
      <p:sp>
        <p:nvSpPr>
          <p:cNvPr id="28" name="S03_BranchMetric3"/>
          <p:cNvSpPr/>
          <p:nvPr/>
        </p:nvSpPr>
        <p:spPr>
          <a:xfrm>
            <a:off x="859536" y="3968496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50+</a:t>
            </a:r>
            <a:endParaRPr lang="en-US" sz="2200" dirty="0"/>
          </a:p>
        </p:txBody>
      </p:sp>
      <p:sp>
        <p:nvSpPr>
          <p:cNvPr id="29" name="S03_BranchTitle3"/>
          <p:cNvSpPr/>
          <p:nvPr/>
        </p:nvSpPr>
        <p:spPr>
          <a:xfrm>
            <a:off x="1609344" y="3977640"/>
            <a:ext cx="1837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справочников</a:t>
            </a:r>
            <a:endParaRPr lang="en-US" sz="1350" dirty="0"/>
          </a:p>
        </p:txBody>
      </p:sp>
      <p:sp>
        <p:nvSpPr>
          <p:cNvPr id="30" name="S03_BranchSubtitle3"/>
          <p:cNvSpPr/>
          <p:nvPr/>
        </p:nvSpPr>
        <p:spPr>
          <a:xfrm>
            <a:off x="1609344" y="4325112"/>
            <a:ext cx="1837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каждый — отдельная сущность</a:t>
            </a:r>
            <a:endParaRPr lang="en-US" sz="1050" dirty="0"/>
          </a:p>
        </p:txBody>
      </p:sp>
      <p:sp>
        <p:nvSpPr>
          <p:cNvPr id="31" name="S03_BranchCard4"/>
          <p:cNvSpPr/>
          <p:nvPr/>
        </p:nvSpPr>
        <p:spPr>
          <a:xfrm>
            <a:off x="8558784" y="3822192"/>
            <a:ext cx="294436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6510">
            <a:solidFill>
              <a:srgbClr val="F5A623"/>
            </a:solidFill>
            <a:prstDash val="solid"/>
          </a:ln>
        </p:spPr>
      </p:sp>
      <p:sp>
        <p:nvSpPr>
          <p:cNvPr id="32" name="S03_BranchMetric4"/>
          <p:cNvSpPr/>
          <p:nvPr/>
        </p:nvSpPr>
        <p:spPr>
          <a:xfrm>
            <a:off x="8759952" y="3968496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30+</a:t>
            </a:r>
            <a:endParaRPr lang="en-US" sz="2200" dirty="0"/>
          </a:p>
        </p:txBody>
      </p:sp>
      <p:sp>
        <p:nvSpPr>
          <p:cNvPr id="33" name="S03_BranchTitle4"/>
          <p:cNvSpPr/>
          <p:nvPr/>
        </p:nvSpPr>
        <p:spPr>
          <a:xfrm>
            <a:off x="9509760" y="3977640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форм UI</a:t>
            </a:r>
            <a:endParaRPr lang="en-US" sz="1350" dirty="0"/>
          </a:p>
        </p:txBody>
      </p:sp>
      <p:sp>
        <p:nvSpPr>
          <p:cNvPr id="34" name="S03_BranchSubtitle4"/>
          <p:cNvSpPr/>
          <p:nvPr/>
        </p:nvSpPr>
        <p:spPr>
          <a:xfrm>
            <a:off x="9509760" y="4325112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состояния и действия</a:t>
            </a:r>
            <a:endParaRPr lang="en-US" sz="1050" dirty="0"/>
          </a:p>
        </p:txBody>
      </p:sp>
      <p:sp>
        <p:nvSpPr>
          <p:cNvPr id="35" name="S03_BranchCard5"/>
          <p:cNvSpPr/>
          <p:nvPr/>
        </p:nvSpPr>
        <p:spPr>
          <a:xfrm>
            <a:off x="4389120" y="4828032"/>
            <a:ext cx="34290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6510">
            <a:solidFill>
              <a:srgbClr val="F26767"/>
            </a:solidFill>
            <a:prstDash val="solid"/>
          </a:ln>
        </p:spPr>
      </p:sp>
      <p:sp>
        <p:nvSpPr>
          <p:cNvPr id="36" name="S03_BranchMetric5"/>
          <p:cNvSpPr/>
          <p:nvPr/>
        </p:nvSpPr>
        <p:spPr>
          <a:xfrm>
            <a:off x="4590288" y="4974336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2676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80+</a:t>
            </a:r>
            <a:endParaRPr lang="en-US" sz="2200" dirty="0"/>
          </a:p>
        </p:txBody>
      </p:sp>
      <p:sp>
        <p:nvSpPr>
          <p:cNvPr id="37" name="S03_BranchTitle5"/>
          <p:cNvSpPr/>
          <p:nvPr/>
        </p:nvSpPr>
        <p:spPr>
          <a:xfrm>
            <a:off x="5340096" y="4983480"/>
            <a:ext cx="229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алгоритмов действий UI</a:t>
            </a:r>
            <a:endParaRPr lang="en-US" sz="1350" dirty="0"/>
          </a:p>
        </p:txBody>
      </p:sp>
      <p:sp>
        <p:nvSpPr>
          <p:cNvPr id="38" name="S03_PilotPill_Bg"/>
          <p:cNvSpPr/>
          <p:nvPr/>
        </p:nvSpPr>
        <p:spPr>
          <a:xfrm>
            <a:off x="658368" y="5897880"/>
            <a:ext cx="468172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03_PilotPill_Text"/>
          <p:cNvSpPr/>
          <p:nvPr/>
        </p:nvSpPr>
        <p:spPr>
          <a:xfrm>
            <a:off x="658368" y="5902452"/>
            <a:ext cx="468172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6670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пилот invest-dkz · ≈100 MD-документов · 18 workflow</a:t>
            </a:r>
            <a:endParaRPr lang="en-US" sz="1080" dirty="0"/>
          </a:p>
        </p:txBody>
      </p:sp>
      <p:sp>
        <p:nvSpPr>
          <p:cNvPr id="40" name="S03_FormatsPill_Bg"/>
          <p:cNvSpPr/>
          <p:nvPr/>
        </p:nvSpPr>
        <p:spPr>
          <a:xfrm>
            <a:off x="5532120" y="5897880"/>
            <a:ext cx="5971032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03_FormatsPill_Text"/>
          <p:cNvSpPr/>
          <p:nvPr/>
        </p:nvSpPr>
        <p:spPr>
          <a:xfrm>
            <a:off x="5532120" y="5902452"/>
            <a:ext cx="597103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6670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MD · OpenAPI · YAML · DBML · диаграммы · настройки</a:t>
            </a:r>
            <a:endParaRPr lang="en-US" sz="10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4_TopAccent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3" name="S04_SectionLabel"/>
          <p:cNvSpPr/>
          <p:nvPr/>
        </p:nvSpPr>
        <p:spPr>
          <a:xfrm>
            <a:off x="621792" y="2560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ГРАНИЦА ПРОЦЕССА</a:t>
            </a:r>
            <a:endParaRPr lang="en-US" sz="850" dirty="0"/>
          </a:p>
        </p:txBody>
      </p:sp>
      <p:sp>
        <p:nvSpPr>
          <p:cNvPr id="4" name="S04_Title"/>
          <p:cNvSpPr/>
          <p:nvPr/>
        </p:nvSpPr>
        <p:spPr>
          <a:xfrm>
            <a:off x="621792" y="502920"/>
            <a:ext cx="10149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Переход к SDD состоит из двух самостоятельных этапов</a:t>
            </a:r>
            <a:endParaRPr lang="en-US" sz="2850" dirty="0"/>
          </a:p>
        </p:txBody>
      </p:sp>
      <p:sp>
        <p:nvSpPr>
          <p:cNvPr id="5" name="S04_Subtitle"/>
          <p:cNvSpPr/>
          <p:nvPr/>
        </p:nvSpPr>
        <p:spPr>
          <a:xfrm>
            <a:off x="640080" y="1014984"/>
            <a:ext cx="10469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OpenSpec начинается только после появления master specification в MD/Git.</a:t>
            </a:r>
            <a:endParaRPr lang="en-US" sz="1320" dirty="0"/>
          </a:p>
        </p:txBody>
      </p:sp>
      <p:sp>
        <p:nvSpPr>
          <p:cNvPr id="6" name="S04_DeckLabel"/>
          <p:cNvSpPr/>
          <p:nvPr/>
        </p:nvSpPr>
        <p:spPr>
          <a:xfrm>
            <a:off x="9921240" y="25603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spc="100" kern="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 SPEC · SDD</a:t>
            </a:r>
            <a:endParaRPr lang="en-US" sz="820" dirty="0"/>
          </a:p>
        </p:txBody>
      </p:sp>
      <p:sp>
        <p:nvSpPr>
          <p:cNvPr id="7" name="S04_SlideNumber"/>
          <p:cNvSpPr/>
          <p:nvPr/>
        </p:nvSpPr>
        <p:spPr>
          <a:xfrm>
            <a:off x="11375136" y="647395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3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</a:t>
            </a:r>
            <a:endParaRPr lang="en-US" sz="830" dirty="0"/>
          </a:p>
        </p:txBody>
      </p:sp>
      <p:sp>
        <p:nvSpPr>
          <p:cNvPr id="8" name="S04_FooterLine"/>
          <p:cNvSpPr/>
          <p:nvPr/>
        </p:nvSpPr>
        <p:spPr>
          <a:xfrm>
            <a:off x="621792" y="6419088"/>
            <a:ext cx="10972800" cy="914"/>
          </a:xfrm>
          <a:prstGeom prst="line">
            <a:avLst/>
          </a:prstGeom>
          <a:noFill/>
          <a:ln w="9525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10" name="S04_StageOneCard"/>
          <p:cNvSpPr/>
          <p:nvPr/>
        </p:nvSpPr>
        <p:spPr>
          <a:xfrm>
            <a:off x="658368" y="1444752"/>
            <a:ext cx="10844784" cy="1856232"/>
          </a:xfrm>
          <a:prstGeom prst="roundRect">
            <a:avLst>
              <a:gd name="adj" fmla="val 3941"/>
            </a:avLst>
          </a:prstGeom>
          <a:solidFill>
            <a:srgbClr val="EAF0FF"/>
          </a:solidFill>
          <a:ln w="12700">
            <a:solidFill>
              <a:srgbClr val="C9D8FF"/>
            </a:solidFill>
            <a:prstDash val="solid"/>
          </a:ln>
        </p:spPr>
      </p:sp>
      <p:sp>
        <p:nvSpPr>
          <p:cNvPr id="11" name="S04_StageOneLabel_Bg"/>
          <p:cNvSpPr/>
          <p:nvPr/>
        </p:nvSpPr>
        <p:spPr>
          <a:xfrm>
            <a:off x="914400" y="1673352"/>
            <a:ext cx="1883664" cy="365760"/>
          </a:xfrm>
          <a:prstGeom prst="roundRect">
            <a:avLst>
              <a:gd name="adj" fmla="val 20000"/>
            </a:avLst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2" name="S04_StageOneLabel_Text"/>
          <p:cNvSpPr/>
          <p:nvPr/>
        </p:nvSpPr>
        <p:spPr>
          <a:xfrm>
            <a:off x="914400" y="1677924"/>
            <a:ext cx="188366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ЭТАП 1 · ВНЕ OPENSPEC</a:t>
            </a:r>
            <a:endParaRPr lang="en-US" sz="1050" dirty="0"/>
          </a:p>
        </p:txBody>
      </p:sp>
      <p:sp>
        <p:nvSpPr>
          <p:cNvPr id="13" name="S04_StageOneTitle"/>
          <p:cNvSpPr/>
          <p:nvPr/>
        </p:nvSpPr>
        <p:spPr>
          <a:xfrm>
            <a:off x="3017520" y="171907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Подготовка master specification</a:t>
            </a:r>
            <a:endParaRPr lang="en-US" sz="1620" dirty="0"/>
          </a:p>
        </p:txBody>
      </p:sp>
      <p:sp>
        <p:nvSpPr>
          <p:cNvPr id="14" name="S04_StageOneStep1_Bg"/>
          <p:cNvSpPr/>
          <p:nvPr/>
        </p:nvSpPr>
        <p:spPr>
          <a:xfrm>
            <a:off x="914400" y="2313432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04_StageOneStep1_Text"/>
          <p:cNvSpPr/>
          <p:nvPr/>
        </p:nvSpPr>
        <p:spPr>
          <a:xfrm>
            <a:off x="914400" y="2318004"/>
            <a:ext cx="15544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Confluence</a:t>
            </a:r>
            <a:endParaRPr lang="en-US" sz="1050" dirty="0"/>
          </a:p>
        </p:txBody>
      </p:sp>
      <p:sp>
        <p:nvSpPr>
          <p:cNvPr id="16" name="S04_StageOneArrow1"/>
          <p:cNvSpPr/>
          <p:nvPr/>
        </p:nvSpPr>
        <p:spPr>
          <a:xfrm>
            <a:off x="2514600" y="2542032"/>
            <a:ext cx="320040" cy="914"/>
          </a:xfrm>
          <a:prstGeom prst="line">
            <a:avLst/>
          </a:prstGeom>
          <a:noFill/>
          <a:ln w="16510">
            <a:solidFill>
              <a:srgbClr val="5B8CFF"/>
            </a:solidFill>
            <a:prstDash val="solid"/>
            <a:headEnd type="none"/>
            <a:tailEnd type="triangle"/>
          </a:ln>
        </p:spPr>
      </p:sp>
      <p:sp>
        <p:nvSpPr>
          <p:cNvPr id="17" name="S04_StageOneStep2_Bg"/>
          <p:cNvSpPr/>
          <p:nvPr/>
        </p:nvSpPr>
        <p:spPr>
          <a:xfrm>
            <a:off x="2880360" y="2313432"/>
            <a:ext cx="1993392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04_StageOneStep2_Text"/>
          <p:cNvSpPr/>
          <p:nvPr/>
        </p:nvSpPr>
        <p:spPr>
          <a:xfrm>
            <a:off x="2880360" y="2318004"/>
            <a:ext cx="199339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наши skills конвертации</a:t>
            </a:r>
            <a:endParaRPr lang="en-US" sz="1050" dirty="0"/>
          </a:p>
        </p:txBody>
      </p:sp>
      <p:sp>
        <p:nvSpPr>
          <p:cNvPr id="19" name="S04_StageOneArrow2"/>
          <p:cNvSpPr/>
          <p:nvPr/>
        </p:nvSpPr>
        <p:spPr>
          <a:xfrm>
            <a:off x="4919472" y="2542032"/>
            <a:ext cx="320040" cy="914"/>
          </a:xfrm>
          <a:prstGeom prst="line">
            <a:avLst/>
          </a:prstGeom>
          <a:noFill/>
          <a:ln w="16510">
            <a:solidFill>
              <a:srgbClr val="5B8CFF"/>
            </a:solidFill>
            <a:prstDash val="solid"/>
            <a:headEnd type="none"/>
            <a:tailEnd type="triangle"/>
          </a:ln>
        </p:spPr>
      </p:sp>
      <p:sp>
        <p:nvSpPr>
          <p:cNvPr id="20" name="S04_StageOneStep3_Bg"/>
          <p:cNvSpPr/>
          <p:nvPr/>
        </p:nvSpPr>
        <p:spPr>
          <a:xfrm>
            <a:off x="5285232" y="2313432"/>
            <a:ext cx="16002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04_StageOneStep3_Text"/>
          <p:cNvSpPr/>
          <p:nvPr/>
        </p:nvSpPr>
        <p:spPr>
          <a:xfrm>
            <a:off x="5285232" y="2318004"/>
            <a:ext cx="16002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MD-документы</a:t>
            </a:r>
            <a:endParaRPr lang="en-US" sz="1050" dirty="0"/>
          </a:p>
        </p:txBody>
      </p:sp>
      <p:sp>
        <p:nvSpPr>
          <p:cNvPr id="22" name="S04_StageOneArrow3"/>
          <p:cNvSpPr/>
          <p:nvPr/>
        </p:nvSpPr>
        <p:spPr>
          <a:xfrm>
            <a:off x="6931152" y="2542032"/>
            <a:ext cx="320040" cy="914"/>
          </a:xfrm>
          <a:prstGeom prst="line">
            <a:avLst/>
          </a:prstGeom>
          <a:noFill/>
          <a:ln w="16510">
            <a:solidFill>
              <a:srgbClr val="5B8CFF"/>
            </a:solidFill>
            <a:prstDash val="solid"/>
            <a:headEnd type="none"/>
            <a:tailEnd type="triangle"/>
          </a:ln>
        </p:spPr>
      </p:sp>
      <p:sp>
        <p:nvSpPr>
          <p:cNvPr id="23" name="S04_StageOneStep4_Bg"/>
          <p:cNvSpPr/>
          <p:nvPr/>
        </p:nvSpPr>
        <p:spPr>
          <a:xfrm>
            <a:off x="7296912" y="2313432"/>
            <a:ext cx="1444752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04_StageOneStep4_Text"/>
          <p:cNvSpPr/>
          <p:nvPr/>
        </p:nvSpPr>
        <p:spPr>
          <a:xfrm>
            <a:off x="7296912" y="2318004"/>
            <a:ext cx="144475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657D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docs-hub</a:t>
            </a:r>
            <a:endParaRPr lang="en-US" sz="1050" dirty="0"/>
          </a:p>
        </p:txBody>
      </p:sp>
      <p:sp>
        <p:nvSpPr>
          <p:cNvPr id="25" name="S04_StageOneArrow4"/>
          <p:cNvSpPr/>
          <p:nvPr/>
        </p:nvSpPr>
        <p:spPr>
          <a:xfrm>
            <a:off x="8787384" y="2542032"/>
            <a:ext cx="320040" cy="914"/>
          </a:xfrm>
          <a:prstGeom prst="line">
            <a:avLst/>
          </a:prstGeom>
          <a:noFill/>
          <a:ln w="16510">
            <a:solidFill>
              <a:srgbClr val="5B8CFF"/>
            </a:solidFill>
            <a:prstDash val="solid"/>
            <a:headEnd type="none"/>
            <a:tailEnd type="triangle"/>
          </a:ln>
        </p:spPr>
      </p:sp>
      <p:sp>
        <p:nvSpPr>
          <p:cNvPr id="26" name="S04_StageOneStep5_Bg"/>
          <p:cNvSpPr/>
          <p:nvPr/>
        </p:nvSpPr>
        <p:spPr>
          <a:xfrm>
            <a:off x="9153144" y="2313432"/>
            <a:ext cx="1883664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04_StageOneStep5_Text"/>
          <p:cNvSpPr/>
          <p:nvPr/>
        </p:nvSpPr>
        <p:spPr>
          <a:xfrm>
            <a:off x="9153144" y="2318004"/>
            <a:ext cx="188366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A36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готовая master spec</a:t>
            </a:r>
            <a:endParaRPr lang="en-US" sz="1050" dirty="0"/>
          </a:p>
        </p:txBody>
      </p:sp>
      <p:sp>
        <p:nvSpPr>
          <p:cNvPr id="28" name="S04_StageOneResult"/>
          <p:cNvSpPr/>
          <p:nvPr/>
        </p:nvSpPr>
        <p:spPr>
          <a:xfrm>
            <a:off x="932688" y="2926080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0365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Результат этапа: структурированные документы уже существуют и версионируются в Git.</a:t>
            </a:r>
            <a:endParaRPr lang="en-US" sz="1140" dirty="0"/>
          </a:p>
        </p:txBody>
      </p:sp>
      <p:sp>
        <p:nvSpPr>
          <p:cNvPr id="29" name="S04_StageTwoCard"/>
          <p:cNvSpPr/>
          <p:nvPr/>
        </p:nvSpPr>
        <p:spPr>
          <a:xfrm>
            <a:off x="658368" y="3547872"/>
            <a:ext cx="10844784" cy="1856232"/>
          </a:xfrm>
          <a:prstGeom prst="roundRect">
            <a:avLst>
              <a:gd name="adj" fmla="val 3941"/>
            </a:avLst>
          </a:prstGeom>
          <a:solidFill>
            <a:srgbClr val="E5F8F6"/>
          </a:solidFill>
          <a:ln w="12700">
            <a:solidFill>
              <a:srgbClr val="B8EAE6"/>
            </a:solidFill>
            <a:prstDash val="solid"/>
          </a:ln>
        </p:spPr>
      </p:sp>
      <p:sp>
        <p:nvSpPr>
          <p:cNvPr id="30" name="S04_StageTwoLabel_Bg"/>
          <p:cNvSpPr/>
          <p:nvPr/>
        </p:nvSpPr>
        <p:spPr>
          <a:xfrm>
            <a:off x="914400" y="3776472"/>
            <a:ext cx="1883664" cy="365760"/>
          </a:xfrm>
          <a:prstGeom prst="roundRect">
            <a:avLst>
              <a:gd name="adj" fmla="val 20000"/>
            </a:avLst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31" name="S04_StageTwoLabel_Text"/>
          <p:cNvSpPr/>
          <p:nvPr/>
        </p:nvSpPr>
        <p:spPr>
          <a:xfrm>
            <a:off x="914400" y="3781044"/>
            <a:ext cx="188366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ЭТАП 2 · OPENSPEC</a:t>
            </a:r>
            <a:endParaRPr lang="en-US" sz="1050" dirty="0"/>
          </a:p>
        </p:txBody>
      </p:sp>
      <p:sp>
        <p:nvSpPr>
          <p:cNvPr id="32" name="S04_StageTwoTitle"/>
          <p:cNvSpPr/>
          <p:nvPr/>
        </p:nvSpPr>
        <p:spPr>
          <a:xfrm>
            <a:off x="3017520" y="382219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Подключение и управление изменениями</a:t>
            </a:r>
            <a:endParaRPr lang="en-US" sz="1620" dirty="0"/>
          </a:p>
        </p:txBody>
      </p:sp>
      <p:sp>
        <p:nvSpPr>
          <p:cNvPr id="33" name="S04_StageTwoStep1_Bg"/>
          <p:cNvSpPr/>
          <p:nvPr/>
        </p:nvSpPr>
        <p:spPr>
          <a:xfrm>
            <a:off x="914400" y="4416552"/>
            <a:ext cx="16459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04_StageTwoStep1_Text"/>
          <p:cNvSpPr/>
          <p:nvPr/>
        </p:nvSpPr>
        <p:spPr>
          <a:xfrm>
            <a:off x="914400" y="4421124"/>
            <a:ext cx="16459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MD master spec</a:t>
            </a:r>
            <a:endParaRPr lang="en-US" sz="1030" dirty="0"/>
          </a:p>
        </p:txBody>
      </p:sp>
      <p:sp>
        <p:nvSpPr>
          <p:cNvPr id="35" name="S04_StageTwoArrow1"/>
          <p:cNvSpPr/>
          <p:nvPr/>
        </p:nvSpPr>
        <p:spPr>
          <a:xfrm>
            <a:off x="2606040" y="4645152"/>
            <a:ext cx="292608" cy="914"/>
          </a:xfrm>
          <a:prstGeom prst="line">
            <a:avLst/>
          </a:prstGeom>
          <a:noFill/>
          <a:ln w="16510">
            <a:solidFill>
              <a:srgbClr val="00A6A6"/>
            </a:solidFill>
            <a:prstDash val="solid"/>
            <a:headEnd type="none"/>
            <a:tailEnd type="triangle"/>
          </a:ln>
        </p:spPr>
      </p:sp>
      <p:sp>
        <p:nvSpPr>
          <p:cNvPr id="36" name="S04_StageTwoStep2_Bg"/>
          <p:cNvSpPr/>
          <p:nvPr/>
        </p:nvSpPr>
        <p:spPr>
          <a:xfrm>
            <a:off x="2944368" y="4416552"/>
            <a:ext cx="1792224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04_StageTwoStep2_Text"/>
          <p:cNvSpPr/>
          <p:nvPr/>
        </p:nvSpPr>
        <p:spPr>
          <a:xfrm>
            <a:off x="2944368" y="4421124"/>
            <a:ext cx="179222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init-master-spec</a:t>
            </a:r>
            <a:endParaRPr lang="en-US" sz="1030" dirty="0"/>
          </a:p>
        </p:txBody>
      </p:sp>
      <p:sp>
        <p:nvSpPr>
          <p:cNvPr id="38" name="S04_StageTwoArrow2"/>
          <p:cNvSpPr/>
          <p:nvPr/>
        </p:nvSpPr>
        <p:spPr>
          <a:xfrm>
            <a:off x="4782312" y="4645152"/>
            <a:ext cx="292608" cy="914"/>
          </a:xfrm>
          <a:prstGeom prst="line">
            <a:avLst/>
          </a:prstGeom>
          <a:noFill/>
          <a:ln w="16510">
            <a:solidFill>
              <a:srgbClr val="00A6A6"/>
            </a:solidFill>
            <a:prstDash val="solid"/>
            <a:headEnd type="none"/>
            <a:tailEnd type="triangle"/>
          </a:ln>
        </p:spPr>
      </p:sp>
      <p:sp>
        <p:nvSpPr>
          <p:cNvPr id="39" name="S04_StageTwoStep3_Bg"/>
          <p:cNvSpPr/>
          <p:nvPr/>
        </p:nvSpPr>
        <p:spPr>
          <a:xfrm>
            <a:off x="5120640" y="4416552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40" name="S04_StageTwoStep3_Text"/>
          <p:cNvSpPr/>
          <p:nvPr/>
        </p:nvSpPr>
        <p:spPr>
          <a:xfrm>
            <a:off x="5120640" y="4421124"/>
            <a:ext cx="12801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_sdd</a:t>
            </a:r>
            <a:endParaRPr lang="en-US" sz="1030" dirty="0"/>
          </a:p>
        </p:txBody>
      </p:sp>
      <p:sp>
        <p:nvSpPr>
          <p:cNvPr id="41" name="S04_StageTwoArrow3"/>
          <p:cNvSpPr/>
          <p:nvPr/>
        </p:nvSpPr>
        <p:spPr>
          <a:xfrm>
            <a:off x="6446520" y="4645152"/>
            <a:ext cx="292608" cy="914"/>
          </a:xfrm>
          <a:prstGeom prst="line">
            <a:avLst/>
          </a:prstGeom>
          <a:noFill/>
          <a:ln w="16510">
            <a:solidFill>
              <a:srgbClr val="00A6A6"/>
            </a:solidFill>
            <a:prstDash val="solid"/>
            <a:headEnd type="none"/>
            <a:tailEnd type="triangle"/>
          </a:ln>
        </p:spPr>
      </p:sp>
      <p:sp>
        <p:nvSpPr>
          <p:cNvPr id="42" name="S04_StageTwoStep4_Bg"/>
          <p:cNvSpPr/>
          <p:nvPr/>
        </p:nvSpPr>
        <p:spPr>
          <a:xfrm>
            <a:off x="6784848" y="4416552"/>
            <a:ext cx="20574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04_StageTwoStep4_Text"/>
          <p:cNvSpPr/>
          <p:nvPr/>
        </p:nvSpPr>
        <p:spPr>
          <a:xfrm>
            <a:off x="6784848" y="4421124"/>
            <a:ext cx="20574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7657D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propose / change-from-diff</a:t>
            </a:r>
            <a:endParaRPr lang="en-US" sz="1030" dirty="0"/>
          </a:p>
        </p:txBody>
      </p:sp>
      <p:sp>
        <p:nvSpPr>
          <p:cNvPr id="44" name="S04_StageTwoArrow4"/>
          <p:cNvSpPr/>
          <p:nvPr/>
        </p:nvSpPr>
        <p:spPr>
          <a:xfrm>
            <a:off x="8887968" y="4645152"/>
            <a:ext cx="301752" cy="914"/>
          </a:xfrm>
          <a:prstGeom prst="line">
            <a:avLst/>
          </a:prstGeom>
          <a:noFill/>
          <a:ln w="16510">
            <a:solidFill>
              <a:srgbClr val="00A6A6"/>
            </a:solidFill>
            <a:prstDash val="solid"/>
            <a:headEnd type="none"/>
            <a:tailEnd type="triangle"/>
          </a:ln>
        </p:spPr>
      </p:sp>
      <p:sp>
        <p:nvSpPr>
          <p:cNvPr id="45" name="S04_StageTwoStep5_Bg"/>
          <p:cNvSpPr/>
          <p:nvPr/>
        </p:nvSpPr>
        <p:spPr>
          <a:xfrm>
            <a:off x="9235440" y="4416552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14213D"/>
          </a:solidFill>
          <a:ln w="12700">
            <a:solidFill>
              <a:srgbClr val="14213D">
                <a:alpha val="0"/>
              </a:srgbClr>
            </a:solidFill>
            <a:prstDash val="solid"/>
          </a:ln>
        </p:spPr>
      </p:sp>
      <p:sp>
        <p:nvSpPr>
          <p:cNvPr id="46" name="S04_StageTwoStep5_Text"/>
          <p:cNvSpPr/>
          <p:nvPr/>
        </p:nvSpPr>
        <p:spPr>
          <a:xfrm>
            <a:off x="9235440" y="4421124"/>
            <a:ext cx="1828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lifecycle OpenSpec</a:t>
            </a:r>
            <a:endParaRPr lang="en-US" sz="1030" dirty="0"/>
          </a:p>
        </p:txBody>
      </p:sp>
      <p:sp>
        <p:nvSpPr>
          <p:cNvPr id="47" name="S04_StageTwoResult"/>
          <p:cNvSpPr/>
          <p:nvPr/>
        </p:nvSpPr>
        <p:spPr>
          <a:xfrm>
            <a:off x="932688" y="5029200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087A7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Точка старта OpenSpec — инициализация: подключение существующей папки документов и создание навигационного слоя.</a:t>
            </a:r>
            <a:endParaRPr lang="en-US" sz="1140" dirty="0"/>
          </a:p>
        </p:txBody>
      </p:sp>
      <p:sp>
        <p:nvSpPr>
          <p:cNvPr id="48" name="S04_TwoStageStatus_Bg"/>
          <p:cNvSpPr/>
          <p:nvPr/>
        </p:nvSpPr>
        <p:spPr>
          <a:xfrm>
            <a:off x="1060704" y="5797296"/>
            <a:ext cx="10058400" cy="384048"/>
          </a:xfrm>
          <a:prstGeom prst="roundRect">
            <a:avLst>
              <a:gd name="adj" fmla="val 19048"/>
            </a:avLst>
          </a:prstGeom>
          <a:solidFill>
            <a:srgbClr val="14213D"/>
          </a:solidFill>
          <a:ln w="12700">
            <a:solidFill>
              <a:srgbClr val="14213D">
                <a:alpha val="0"/>
              </a:srgbClr>
            </a:solidFill>
            <a:prstDash val="solid"/>
          </a:ln>
        </p:spPr>
      </p:sp>
      <p:sp>
        <p:nvSpPr>
          <p:cNvPr id="49" name="S04_TwoStageStatus_Text"/>
          <p:cNvSpPr/>
          <p:nvPr/>
        </p:nvSpPr>
        <p:spPr>
          <a:xfrm>
            <a:off x="1060704" y="5801868"/>
            <a:ext cx="100584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Сейчас: один сервис переведён полностью; справочники и общие библиотеки подключены; остальные области мигрируют постепенно.</a:t>
            </a:r>
            <a:endParaRPr lang="en-US" sz="10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5_TopAccent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3" name="S05_SectionLabel"/>
          <p:cNvSpPr/>
          <p:nvPr/>
        </p:nvSpPr>
        <p:spPr>
          <a:xfrm>
            <a:off x="621792" y="2560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ЭВОЛЮЦИЯ ИДЕИ</a:t>
            </a:r>
            <a:endParaRPr lang="en-US" sz="850" dirty="0"/>
          </a:p>
        </p:txBody>
      </p:sp>
      <p:sp>
        <p:nvSpPr>
          <p:cNvPr id="4" name="S05_Title"/>
          <p:cNvSpPr/>
          <p:nvPr/>
        </p:nvSpPr>
        <p:spPr>
          <a:xfrm>
            <a:off x="621792" y="502920"/>
            <a:ext cx="10149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Эволюционное развитие OpenSpec для folder-based specification</a:t>
            </a:r>
            <a:endParaRPr lang="en-US" sz="2850" dirty="0"/>
          </a:p>
        </p:txBody>
      </p:sp>
      <p:sp>
        <p:nvSpPr>
          <p:cNvPr id="5" name="S05_Subtitle"/>
          <p:cNvSpPr/>
          <p:nvPr/>
        </p:nvSpPr>
        <p:spPr>
          <a:xfrm>
            <a:off x="640080" y="1014984"/>
            <a:ext cx="10469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Сохраняем change-first ядро и расширяем модель работы с master specification.</a:t>
            </a:r>
            <a:endParaRPr lang="en-US" sz="1320" dirty="0"/>
          </a:p>
        </p:txBody>
      </p:sp>
      <p:sp>
        <p:nvSpPr>
          <p:cNvPr id="6" name="S05_DeckLabel"/>
          <p:cNvSpPr/>
          <p:nvPr/>
        </p:nvSpPr>
        <p:spPr>
          <a:xfrm>
            <a:off x="9921240" y="25603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spc="100" kern="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 SPEC · SDD</a:t>
            </a:r>
            <a:endParaRPr lang="en-US" sz="820" dirty="0"/>
          </a:p>
        </p:txBody>
      </p:sp>
      <p:sp>
        <p:nvSpPr>
          <p:cNvPr id="7" name="S05_SlideNumber"/>
          <p:cNvSpPr/>
          <p:nvPr/>
        </p:nvSpPr>
        <p:spPr>
          <a:xfrm>
            <a:off x="11375136" y="647395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3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05</a:t>
            </a:r>
            <a:endParaRPr lang="en-US" sz="830" dirty="0"/>
          </a:p>
        </p:txBody>
      </p:sp>
      <p:sp>
        <p:nvSpPr>
          <p:cNvPr id="8" name="S05_FooterLine"/>
          <p:cNvSpPr/>
          <p:nvPr/>
        </p:nvSpPr>
        <p:spPr>
          <a:xfrm>
            <a:off x="621792" y="6419088"/>
            <a:ext cx="10972800" cy="914"/>
          </a:xfrm>
          <a:prstGeom prst="line">
            <a:avLst/>
          </a:prstGeom>
          <a:noFill/>
          <a:ln w="9525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10" name="S05_LifecycleCard1"/>
          <p:cNvSpPr/>
          <p:nvPr/>
        </p:nvSpPr>
        <p:spPr>
          <a:xfrm>
            <a:off x="658368" y="1481328"/>
            <a:ext cx="1298448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240">
            <a:solidFill>
              <a:srgbClr val="2F6BFF"/>
            </a:solidFill>
            <a:prstDash val="solid"/>
          </a:ln>
        </p:spPr>
      </p:sp>
      <p:sp>
        <p:nvSpPr>
          <p:cNvPr id="11" name="S05_LifecycleText1"/>
          <p:cNvSpPr/>
          <p:nvPr/>
        </p:nvSpPr>
        <p:spPr>
          <a:xfrm>
            <a:off x="731520" y="1645920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init</a:t>
            </a:r>
            <a:endParaRPr lang="en-US" sz="1230" dirty="0"/>
          </a:p>
        </p:txBody>
      </p:sp>
      <p:sp>
        <p:nvSpPr>
          <p:cNvPr id="12" name="S05_LifecycleArrow1"/>
          <p:cNvSpPr/>
          <p:nvPr/>
        </p:nvSpPr>
        <p:spPr>
          <a:xfrm>
            <a:off x="1993392" y="1837944"/>
            <a:ext cx="182880" cy="914"/>
          </a:xfrm>
          <a:prstGeom prst="line">
            <a:avLst/>
          </a:prstGeom>
          <a:noFill/>
          <a:ln w="1778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13" name="S05_LifecycleCard2"/>
          <p:cNvSpPr/>
          <p:nvPr/>
        </p:nvSpPr>
        <p:spPr>
          <a:xfrm>
            <a:off x="2221992" y="1481328"/>
            <a:ext cx="1298448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240">
            <a:solidFill>
              <a:srgbClr val="2F6BFF"/>
            </a:solidFill>
            <a:prstDash val="solid"/>
          </a:ln>
        </p:spPr>
      </p:sp>
      <p:sp>
        <p:nvSpPr>
          <p:cNvPr id="14" name="S05_LifecycleText2"/>
          <p:cNvSpPr/>
          <p:nvPr/>
        </p:nvSpPr>
        <p:spPr>
          <a:xfrm>
            <a:off x="2295144" y="1645920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propose</a:t>
            </a:r>
            <a:endParaRPr lang="en-US" sz="1230" dirty="0"/>
          </a:p>
        </p:txBody>
      </p:sp>
      <p:sp>
        <p:nvSpPr>
          <p:cNvPr id="15" name="S05_LifecycleArrow2"/>
          <p:cNvSpPr/>
          <p:nvPr/>
        </p:nvSpPr>
        <p:spPr>
          <a:xfrm>
            <a:off x="3557016" y="1837944"/>
            <a:ext cx="182880" cy="914"/>
          </a:xfrm>
          <a:prstGeom prst="line">
            <a:avLst/>
          </a:prstGeom>
          <a:noFill/>
          <a:ln w="1778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16" name="S05_LifecycleCard3"/>
          <p:cNvSpPr/>
          <p:nvPr/>
        </p:nvSpPr>
        <p:spPr>
          <a:xfrm>
            <a:off x="3785616" y="1481328"/>
            <a:ext cx="1298448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240">
            <a:solidFill>
              <a:srgbClr val="7657D5"/>
            </a:solidFill>
            <a:prstDash val="solid"/>
          </a:ln>
        </p:spPr>
      </p:sp>
      <p:sp>
        <p:nvSpPr>
          <p:cNvPr id="17" name="S05_LifecycleText3"/>
          <p:cNvSpPr/>
          <p:nvPr/>
        </p:nvSpPr>
        <p:spPr>
          <a:xfrm>
            <a:off x="3858768" y="1645920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7657D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review</a:t>
            </a:r>
            <a:endParaRPr lang="en-US" sz="1230" dirty="0"/>
          </a:p>
          <a:p>
            <a:pPr algn="ctr" indent="0" marL="0">
              <a:buNone/>
            </a:pPr>
            <a:r>
              <a:rPr lang="en-US" sz="1230" b="1" dirty="0">
                <a:solidFill>
                  <a:srgbClr val="7657D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/ approve</a:t>
            </a:r>
            <a:endParaRPr lang="en-US" sz="1230" dirty="0"/>
          </a:p>
        </p:txBody>
      </p:sp>
      <p:sp>
        <p:nvSpPr>
          <p:cNvPr id="18" name="S05_LifecycleArrow3"/>
          <p:cNvSpPr/>
          <p:nvPr/>
        </p:nvSpPr>
        <p:spPr>
          <a:xfrm>
            <a:off x="5120640" y="1837944"/>
            <a:ext cx="182880" cy="914"/>
          </a:xfrm>
          <a:prstGeom prst="line">
            <a:avLst/>
          </a:prstGeom>
          <a:noFill/>
          <a:ln w="1778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19" name="S05_LifecycleCard4"/>
          <p:cNvSpPr/>
          <p:nvPr/>
        </p:nvSpPr>
        <p:spPr>
          <a:xfrm>
            <a:off x="5349240" y="1481328"/>
            <a:ext cx="1298448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240">
            <a:solidFill>
              <a:srgbClr val="7657D5"/>
            </a:solidFill>
            <a:prstDash val="solid"/>
          </a:ln>
        </p:spPr>
      </p:sp>
      <p:sp>
        <p:nvSpPr>
          <p:cNvPr id="20" name="S05_LifecycleText4"/>
          <p:cNvSpPr/>
          <p:nvPr/>
        </p:nvSpPr>
        <p:spPr>
          <a:xfrm>
            <a:off x="5422392" y="1645920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7657D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design</a:t>
            </a:r>
            <a:endParaRPr lang="en-US" sz="1230" dirty="0"/>
          </a:p>
        </p:txBody>
      </p:sp>
      <p:sp>
        <p:nvSpPr>
          <p:cNvPr id="21" name="S05_LifecycleArrow4"/>
          <p:cNvSpPr/>
          <p:nvPr/>
        </p:nvSpPr>
        <p:spPr>
          <a:xfrm>
            <a:off x="6684264" y="1837944"/>
            <a:ext cx="182880" cy="914"/>
          </a:xfrm>
          <a:prstGeom prst="line">
            <a:avLst/>
          </a:prstGeom>
          <a:noFill/>
          <a:ln w="1778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22" name="S05_LifecycleCard5"/>
          <p:cNvSpPr/>
          <p:nvPr/>
        </p:nvSpPr>
        <p:spPr>
          <a:xfrm>
            <a:off x="6912864" y="1481328"/>
            <a:ext cx="1298448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240">
            <a:solidFill>
              <a:srgbClr val="2F6BFF"/>
            </a:solidFill>
            <a:prstDash val="solid"/>
          </a:ln>
        </p:spPr>
      </p:sp>
      <p:sp>
        <p:nvSpPr>
          <p:cNvPr id="23" name="S05_LifecycleText5"/>
          <p:cNvSpPr/>
          <p:nvPr/>
        </p:nvSpPr>
        <p:spPr>
          <a:xfrm>
            <a:off x="6986016" y="1645920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implement</a:t>
            </a:r>
            <a:endParaRPr lang="en-US" sz="1230" dirty="0"/>
          </a:p>
        </p:txBody>
      </p:sp>
      <p:sp>
        <p:nvSpPr>
          <p:cNvPr id="24" name="S05_LifecycleArrow5"/>
          <p:cNvSpPr/>
          <p:nvPr/>
        </p:nvSpPr>
        <p:spPr>
          <a:xfrm>
            <a:off x="8247888" y="1837944"/>
            <a:ext cx="182880" cy="914"/>
          </a:xfrm>
          <a:prstGeom prst="line">
            <a:avLst/>
          </a:prstGeom>
          <a:noFill/>
          <a:ln w="1778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25" name="S05_LifecycleCard6"/>
          <p:cNvSpPr/>
          <p:nvPr/>
        </p:nvSpPr>
        <p:spPr>
          <a:xfrm>
            <a:off x="8476488" y="1481328"/>
            <a:ext cx="1298448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240">
            <a:solidFill>
              <a:srgbClr val="00A6A6"/>
            </a:solidFill>
            <a:prstDash val="solid"/>
          </a:ln>
        </p:spPr>
      </p:sp>
      <p:sp>
        <p:nvSpPr>
          <p:cNvPr id="26" name="S05_LifecycleText6"/>
          <p:cNvSpPr/>
          <p:nvPr/>
        </p:nvSpPr>
        <p:spPr>
          <a:xfrm>
            <a:off x="8549640" y="1645920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apply</a:t>
            </a:r>
            <a:endParaRPr lang="en-US" sz="1230" dirty="0"/>
          </a:p>
          <a:p>
            <a:pPr algn="ctr" indent="0" marL="0">
              <a:buNone/>
            </a:pPr>
            <a:r>
              <a:rPr lang="en-US" sz="1230" b="1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/ verify</a:t>
            </a:r>
            <a:endParaRPr lang="en-US" sz="1230" dirty="0"/>
          </a:p>
        </p:txBody>
      </p:sp>
      <p:sp>
        <p:nvSpPr>
          <p:cNvPr id="27" name="S05_LifecycleArrow6"/>
          <p:cNvSpPr/>
          <p:nvPr/>
        </p:nvSpPr>
        <p:spPr>
          <a:xfrm>
            <a:off x="9811512" y="1837944"/>
            <a:ext cx="182880" cy="914"/>
          </a:xfrm>
          <a:prstGeom prst="line">
            <a:avLst/>
          </a:prstGeom>
          <a:noFill/>
          <a:ln w="1778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28" name="S05_LifecycleCard7"/>
          <p:cNvSpPr/>
          <p:nvPr/>
        </p:nvSpPr>
        <p:spPr>
          <a:xfrm>
            <a:off x="10040112" y="1481328"/>
            <a:ext cx="1298448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240">
            <a:solidFill>
              <a:srgbClr val="00A6A6"/>
            </a:solidFill>
            <a:prstDash val="solid"/>
          </a:ln>
        </p:spPr>
      </p:sp>
      <p:sp>
        <p:nvSpPr>
          <p:cNvPr id="29" name="S05_LifecycleText7"/>
          <p:cNvSpPr/>
          <p:nvPr/>
        </p:nvSpPr>
        <p:spPr>
          <a:xfrm>
            <a:off x="10113264" y="1645920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archive</a:t>
            </a:r>
            <a:endParaRPr lang="en-US" sz="1230" dirty="0"/>
          </a:p>
        </p:txBody>
      </p:sp>
      <p:sp>
        <p:nvSpPr>
          <p:cNvPr id="30" name="S05_OpenSpecInvariantCard"/>
          <p:cNvSpPr/>
          <p:nvPr/>
        </p:nvSpPr>
        <p:spPr>
          <a:xfrm>
            <a:off x="658368" y="2578608"/>
            <a:ext cx="5138928" cy="3054096"/>
          </a:xfrm>
          <a:prstGeom prst="roundRect">
            <a:avLst>
              <a:gd name="adj" fmla="val 2395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39021696150000000" dist="104057856400000000" dir="583200000000000000000">
              <a:srgbClr val="22304A">
                <a:alpha val="12000000000000000000"/>
              </a:srgbClr>
            </a:outerShdw>
          </a:effectLst>
        </p:spPr>
      </p:sp>
      <p:sp>
        <p:nvSpPr>
          <p:cNvPr id="31" name="S05_OpenSpecInvariantLabel_Bg"/>
          <p:cNvSpPr/>
          <p:nvPr/>
        </p:nvSpPr>
        <p:spPr>
          <a:xfrm>
            <a:off x="932688" y="2834640"/>
            <a:ext cx="1572768" cy="384048"/>
          </a:xfrm>
          <a:prstGeom prst="roundRect">
            <a:avLst>
              <a:gd name="adj" fmla="val 19048"/>
            </a:avLst>
          </a:prstGeom>
          <a:solidFill>
            <a:srgbClr val="EAF0FF"/>
          </a:solidFill>
          <a:ln w="12700">
            <a:solidFill>
              <a:srgbClr val="EAF0FF">
                <a:alpha val="0"/>
              </a:srgbClr>
            </a:solidFill>
            <a:prstDash val="solid"/>
          </a:ln>
        </p:spPr>
      </p:sp>
      <p:sp>
        <p:nvSpPr>
          <p:cNvPr id="32" name="S05_OpenSpecInvariantLabel_Text"/>
          <p:cNvSpPr/>
          <p:nvPr/>
        </p:nvSpPr>
        <p:spPr>
          <a:xfrm>
            <a:off x="932688" y="2839212"/>
            <a:ext cx="15727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ЯДРО OPENSPEC</a:t>
            </a:r>
            <a:endParaRPr lang="en-US" sz="1080" dirty="0"/>
          </a:p>
        </p:txBody>
      </p:sp>
      <p:sp>
        <p:nvSpPr>
          <p:cNvPr id="33" name="S05_OpenSpecInvariantTitle"/>
          <p:cNvSpPr/>
          <p:nvPr/>
        </p:nvSpPr>
        <p:spPr>
          <a:xfrm>
            <a:off x="941832" y="3438144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OpenSpec lifecycle</a:t>
            </a:r>
            <a:endParaRPr lang="en-US" sz="1800" dirty="0"/>
          </a:p>
        </p:txBody>
      </p:sp>
      <p:sp>
        <p:nvSpPr>
          <p:cNvPr id="34" name="S05_OpenSpecInvariant1_Dot"/>
          <p:cNvSpPr/>
          <p:nvPr/>
        </p:nvSpPr>
        <p:spPr>
          <a:xfrm>
            <a:off x="950976" y="4032504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35" name="S05_OpenSpecInvariant1_Text"/>
          <p:cNvSpPr/>
          <p:nvPr/>
        </p:nvSpPr>
        <p:spPr>
          <a:xfrm>
            <a:off x="1133856" y="3913632"/>
            <a:ext cx="42245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change-first: требования до кода</a:t>
            </a:r>
            <a:endParaRPr lang="en-US" sz="1300" dirty="0"/>
          </a:p>
        </p:txBody>
      </p:sp>
      <p:sp>
        <p:nvSpPr>
          <p:cNvPr id="36" name="S05_OpenSpecInvariant2_Dot"/>
          <p:cNvSpPr/>
          <p:nvPr/>
        </p:nvSpPr>
        <p:spPr>
          <a:xfrm>
            <a:off x="950976" y="4526280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37" name="S05_OpenSpecInvariant2_Text"/>
          <p:cNvSpPr/>
          <p:nvPr/>
        </p:nvSpPr>
        <p:spPr>
          <a:xfrm>
            <a:off x="1133856" y="4407408"/>
            <a:ext cx="42245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change.md · design.md · tasks.md</a:t>
            </a:r>
            <a:endParaRPr lang="en-US" sz="1300" dirty="0"/>
          </a:p>
        </p:txBody>
      </p:sp>
      <p:sp>
        <p:nvSpPr>
          <p:cNvPr id="38" name="S05_OpenSpecInvariant3_Dot"/>
          <p:cNvSpPr/>
          <p:nvPr/>
        </p:nvSpPr>
        <p:spPr>
          <a:xfrm>
            <a:off x="950976" y="5020056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39" name="S05_OpenSpecInvariant3_Text"/>
          <p:cNvSpPr/>
          <p:nvPr/>
        </p:nvSpPr>
        <p:spPr>
          <a:xfrm>
            <a:off x="1133856" y="4901184"/>
            <a:ext cx="42245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 · implement · verify · archive</a:t>
            </a:r>
            <a:endParaRPr lang="en-US" sz="1300" dirty="0"/>
          </a:p>
        </p:txBody>
      </p:sp>
      <p:sp>
        <p:nvSpPr>
          <p:cNvPr id="40" name="S05_FolderBasedContractCard"/>
          <p:cNvSpPr/>
          <p:nvPr/>
        </p:nvSpPr>
        <p:spPr>
          <a:xfrm>
            <a:off x="6062472" y="2578608"/>
            <a:ext cx="5440680" cy="3054096"/>
          </a:xfrm>
          <a:prstGeom prst="roundRect">
            <a:avLst>
              <a:gd name="adj" fmla="val 2395"/>
            </a:avLst>
          </a:prstGeom>
          <a:solidFill>
            <a:srgbClr val="E5F8F6"/>
          </a:solidFill>
          <a:ln w="12700">
            <a:solidFill>
              <a:srgbClr val="B8EAE6"/>
            </a:solidFill>
            <a:prstDash val="solid"/>
          </a:ln>
          <a:effectLst>
            <a:outerShdw sx="100000" sy="100000" kx="0" ky="0" algn="bl" rotWithShape="0" blurRad="495575541105000000000" dist="1.32153477628e+21" dir="3.4992e+25">
              <a:srgbClr val="22304A">
                <a:alpha val="1.2e+24"/>
              </a:srgbClr>
            </a:outerShdw>
          </a:effectLst>
        </p:spPr>
      </p:sp>
      <p:sp>
        <p:nvSpPr>
          <p:cNvPr id="41" name="S05_FolderBasedContractLabel_Bg"/>
          <p:cNvSpPr/>
          <p:nvPr/>
        </p:nvSpPr>
        <p:spPr>
          <a:xfrm>
            <a:off x="6345936" y="2834640"/>
            <a:ext cx="2542032" cy="384048"/>
          </a:xfrm>
          <a:prstGeom prst="roundRect">
            <a:avLst>
              <a:gd name="adj" fmla="val 19048"/>
            </a:avLst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42" name="S05_FolderBasedContractLabel_Text"/>
          <p:cNvSpPr/>
          <p:nvPr/>
        </p:nvSpPr>
        <p:spPr>
          <a:xfrm>
            <a:off x="6345936" y="2839212"/>
            <a:ext cx="254203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ЭВОЛЮЦИОННОЕ РАСШИРЕНИЕ</a:t>
            </a:r>
            <a:endParaRPr lang="en-US" sz="980" dirty="0"/>
          </a:p>
        </p:txBody>
      </p:sp>
      <p:sp>
        <p:nvSpPr>
          <p:cNvPr id="43" name="S05_FolderBasedContractTitle"/>
          <p:cNvSpPr/>
          <p:nvPr/>
        </p:nvSpPr>
        <p:spPr>
          <a:xfrm>
            <a:off x="6364224" y="3438144"/>
            <a:ext cx="4315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Master specification = folder</a:t>
            </a:r>
            <a:endParaRPr lang="en-US" sz="1800" dirty="0"/>
          </a:p>
        </p:txBody>
      </p:sp>
      <p:sp>
        <p:nvSpPr>
          <p:cNvPr id="44" name="S05_FolderBasedContractFolder_Body"/>
          <p:cNvSpPr/>
          <p:nvPr/>
        </p:nvSpPr>
        <p:spPr>
          <a:xfrm>
            <a:off x="6382512" y="4074201"/>
            <a:ext cx="585216" cy="342351"/>
          </a:xfrm>
          <a:prstGeom prst="roundRect">
            <a:avLst>
              <a:gd name="adj" fmla="val 10684"/>
            </a:avLst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45" name="S05_FolderBasedContractFolder_Tab"/>
          <p:cNvSpPr/>
          <p:nvPr/>
        </p:nvSpPr>
        <p:spPr>
          <a:xfrm>
            <a:off x="6455664" y="3977640"/>
            <a:ext cx="269199" cy="166787"/>
          </a:xfrm>
          <a:prstGeom prst="roundRect">
            <a:avLst>
              <a:gd name="adj" fmla="val 16447"/>
            </a:avLst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46" name="S05_FolderBasedContractPath"/>
          <p:cNvSpPr/>
          <p:nvPr/>
        </p:nvSpPr>
        <p:spPr>
          <a:xfrm>
            <a:off x="7178040" y="405079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openspec/&lt;service&gt;/</a:t>
            </a:r>
            <a:endParaRPr lang="en-US" sz="1320" dirty="0"/>
          </a:p>
        </p:txBody>
      </p:sp>
      <p:sp>
        <p:nvSpPr>
          <p:cNvPr id="47" name="S05_FolderBasedContract1_Dot"/>
          <p:cNvSpPr/>
          <p:nvPr/>
        </p:nvSpPr>
        <p:spPr>
          <a:xfrm>
            <a:off x="6391656" y="4581144"/>
            <a:ext cx="91440" cy="91440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48" name="S05_FolderBasedContract1_Text"/>
          <p:cNvSpPr/>
          <p:nvPr/>
        </p:nvSpPr>
        <p:spPr>
          <a:xfrm>
            <a:off x="6574536" y="4462272"/>
            <a:ext cx="42245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папка объединяет документы и форматы</a:t>
            </a:r>
            <a:endParaRPr lang="en-US" sz="1180" dirty="0"/>
          </a:p>
        </p:txBody>
      </p:sp>
      <p:sp>
        <p:nvSpPr>
          <p:cNvPr id="49" name="S05_FolderBasedContract2_Dot"/>
          <p:cNvSpPr/>
          <p:nvPr/>
        </p:nvSpPr>
        <p:spPr>
          <a:xfrm>
            <a:off x="6391656" y="4956048"/>
            <a:ext cx="91440" cy="91440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50" name="S05_FolderBasedContract2_Text"/>
          <p:cNvSpPr/>
          <p:nvPr/>
        </p:nvSpPr>
        <p:spPr>
          <a:xfrm>
            <a:off x="6574536" y="4837176"/>
            <a:ext cx="42245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_sdd управляет навигацией и связями</a:t>
            </a:r>
            <a:endParaRPr lang="en-US" sz="1180" dirty="0"/>
          </a:p>
        </p:txBody>
      </p:sp>
      <p:sp>
        <p:nvSpPr>
          <p:cNvPr id="51" name="S05_FolderBasedContract3_Dot"/>
          <p:cNvSpPr/>
          <p:nvPr/>
        </p:nvSpPr>
        <p:spPr>
          <a:xfrm>
            <a:off x="6391656" y="5330952"/>
            <a:ext cx="91440" cy="91440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52" name="S05_FolderBasedContract3_Text"/>
          <p:cNvSpPr/>
          <p:nvPr/>
        </p:nvSpPr>
        <p:spPr>
          <a:xfrm>
            <a:off x="6574536" y="5212080"/>
            <a:ext cx="42245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apply и diff работают с несколькими файлами</a:t>
            </a:r>
            <a:endParaRPr lang="en-US" sz="1180" dirty="0"/>
          </a:p>
        </p:txBody>
      </p:sp>
      <p:sp>
        <p:nvSpPr>
          <p:cNvPr id="53" name="S05_LifecycleThesis_Bg"/>
          <p:cNvSpPr/>
          <p:nvPr/>
        </p:nvSpPr>
        <p:spPr>
          <a:xfrm>
            <a:off x="932688" y="5843016"/>
            <a:ext cx="10314432" cy="411480"/>
          </a:xfrm>
          <a:prstGeom prst="roundRect">
            <a:avLst>
              <a:gd name="adj" fmla="val 17778"/>
            </a:avLst>
          </a:prstGeom>
          <a:solidFill>
            <a:srgbClr val="14213D"/>
          </a:solidFill>
          <a:ln w="12700">
            <a:solidFill>
              <a:srgbClr val="14213D">
                <a:alpha val="0"/>
              </a:srgbClr>
            </a:solidFill>
            <a:prstDash val="solid"/>
          </a:ln>
        </p:spPr>
      </p:sp>
      <p:sp>
        <p:nvSpPr>
          <p:cNvPr id="54" name="S05_LifecycleThesis_Text"/>
          <p:cNvSpPr/>
          <p:nvPr/>
        </p:nvSpPr>
        <p:spPr>
          <a:xfrm>
            <a:off x="932688" y="5847588"/>
            <a:ext cx="10314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Расширение увеличивает возможности OpenSpec — и добавляет ответственность за консистентность _sdd.</a:t>
            </a:r>
            <a:endParaRPr lang="en-US" sz="11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6_TopAccent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3" name="S06_SectionLabel"/>
          <p:cNvSpPr/>
          <p:nvPr/>
        </p:nvSpPr>
        <p:spPr>
          <a:xfrm>
            <a:off x="621792" y="2560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СТРУКТУРА ЗНАНИЙ</a:t>
            </a:r>
            <a:endParaRPr lang="en-US" sz="850" dirty="0"/>
          </a:p>
        </p:txBody>
      </p:sp>
      <p:sp>
        <p:nvSpPr>
          <p:cNvPr id="4" name="S06_Title"/>
          <p:cNvSpPr/>
          <p:nvPr/>
        </p:nvSpPr>
        <p:spPr>
          <a:xfrm>
            <a:off x="621792" y="502920"/>
            <a:ext cx="10149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Функциональная область — сквозной срез сервиса</a:t>
            </a:r>
            <a:endParaRPr lang="en-US" sz="2850" dirty="0"/>
          </a:p>
        </p:txBody>
      </p:sp>
      <p:sp>
        <p:nvSpPr>
          <p:cNvPr id="5" name="S06_Subtitle"/>
          <p:cNvSpPr/>
          <p:nvPr/>
        </p:nvSpPr>
        <p:spPr>
          <a:xfrm>
            <a:off x="640080" y="1014984"/>
            <a:ext cx="10469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Каждая ФО объединяет связанные части процессов, данных и взаимодействий.</a:t>
            </a:r>
            <a:endParaRPr lang="en-US" sz="1320" dirty="0"/>
          </a:p>
        </p:txBody>
      </p:sp>
      <p:sp>
        <p:nvSpPr>
          <p:cNvPr id="6" name="S06_DeckLabel"/>
          <p:cNvSpPr/>
          <p:nvPr/>
        </p:nvSpPr>
        <p:spPr>
          <a:xfrm>
            <a:off x="9921240" y="25603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spc="100" kern="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 SPEC · SDD</a:t>
            </a:r>
            <a:endParaRPr lang="en-US" sz="820" dirty="0"/>
          </a:p>
        </p:txBody>
      </p:sp>
      <p:sp>
        <p:nvSpPr>
          <p:cNvPr id="7" name="S06_SlideNumber"/>
          <p:cNvSpPr/>
          <p:nvPr/>
        </p:nvSpPr>
        <p:spPr>
          <a:xfrm>
            <a:off x="11375136" y="647395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3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06</a:t>
            </a:r>
            <a:endParaRPr lang="en-US" sz="830" dirty="0"/>
          </a:p>
        </p:txBody>
      </p:sp>
      <p:sp>
        <p:nvSpPr>
          <p:cNvPr id="8" name="S06_FooterLine"/>
          <p:cNvSpPr/>
          <p:nvPr/>
        </p:nvSpPr>
        <p:spPr>
          <a:xfrm>
            <a:off x="621792" y="6419088"/>
            <a:ext cx="10972800" cy="914"/>
          </a:xfrm>
          <a:prstGeom prst="line">
            <a:avLst/>
          </a:prstGeom>
          <a:noFill/>
          <a:ln w="9525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10" name="S06_FOHeader1_Bg"/>
          <p:cNvSpPr/>
          <p:nvPr/>
        </p:nvSpPr>
        <p:spPr>
          <a:xfrm>
            <a:off x="2386584" y="1444752"/>
            <a:ext cx="2048256" cy="420624"/>
          </a:xfrm>
          <a:prstGeom prst="roundRect">
            <a:avLst>
              <a:gd name="adj" fmla="val 17391"/>
            </a:avLst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1" name="S06_FOHeader1_Text"/>
          <p:cNvSpPr/>
          <p:nvPr/>
        </p:nvSpPr>
        <p:spPr>
          <a:xfrm>
            <a:off x="2386584" y="1449324"/>
            <a:ext cx="2048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ФО A</a:t>
            </a:r>
            <a:endParaRPr lang="en-US" sz="1220" dirty="0"/>
          </a:p>
        </p:txBody>
      </p:sp>
      <p:sp>
        <p:nvSpPr>
          <p:cNvPr id="12" name="S06_FOColumn1"/>
          <p:cNvSpPr/>
          <p:nvPr/>
        </p:nvSpPr>
        <p:spPr>
          <a:xfrm>
            <a:off x="1993392" y="1965960"/>
            <a:ext cx="2834640" cy="2788920"/>
          </a:xfrm>
          <a:prstGeom prst="roundRect">
            <a:avLst>
              <a:gd name="adj" fmla="val 2623"/>
            </a:avLst>
          </a:prstGeom>
          <a:solidFill>
            <a:srgbClr val="EAF0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3" name="S06_FOHeader2_Bg"/>
          <p:cNvSpPr/>
          <p:nvPr/>
        </p:nvSpPr>
        <p:spPr>
          <a:xfrm>
            <a:off x="5586984" y="1444752"/>
            <a:ext cx="2048256" cy="420624"/>
          </a:xfrm>
          <a:prstGeom prst="roundRect">
            <a:avLst>
              <a:gd name="adj" fmla="val 17391"/>
            </a:avLst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14" name="S06_FOHeader2_Text"/>
          <p:cNvSpPr/>
          <p:nvPr/>
        </p:nvSpPr>
        <p:spPr>
          <a:xfrm>
            <a:off x="5586984" y="1449324"/>
            <a:ext cx="2048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ФО B</a:t>
            </a:r>
            <a:endParaRPr lang="en-US" sz="1220" dirty="0"/>
          </a:p>
        </p:txBody>
      </p:sp>
      <p:sp>
        <p:nvSpPr>
          <p:cNvPr id="15" name="S06_FOColumn2"/>
          <p:cNvSpPr/>
          <p:nvPr/>
        </p:nvSpPr>
        <p:spPr>
          <a:xfrm>
            <a:off x="5193792" y="1965960"/>
            <a:ext cx="2834640" cy="2788920"/>
          </a:xfrm>
          <a:prstGeom prst="roundRect">
            <a:avLst>
              <a:gd name="adj" fmla="val 2623"/>
            </a:avLst>
          </a:prstGeom>
          <a:solidFill>
            <a:srgbClr val="E5F8F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6" name="S06_FOHeader3_Bg"/>
          <p:cNvSpPr/>
          <p:nvPr/>
        </p:nvSpPr>
        <p:spPr>
          <a:xfrm>
            <a:off x="8787384" y="1444752"/>
            <a:ext cx="2048256" cy="420624"/>
          </a:xfrm>
          <a:prstGeom prst="roundRect">
            <a:avLst>
              <a:gd name="adj" fmla="val 17391"/>
            </a:avLst>
          </a:prstGeom>
          <a:solidFill>
            <a:srgbClr val="7657D5"/>
          </a:solidFill>
          <a:ln w="12700">
            <a:solidFill>
              <a:srgbClr val="7657D5">
                <a:alpha val="0"/>
              </a:srgbClr>
            </a:solidFill>
            <a:prstDash val="solid"/>
          </a:ln>
        </p:spPr>
      </p:sp>
      <p:sp>
        <p:nvSpPr>
          <p:cNvPr id="17" name="S06_FOHeader3_Text"/>
          <p:cNvSpPr/>
          <p:nvPr/>
        </p:nvSpPr>
        <p:spPr>
          <a:xfrm>
            <a:off x="8787384" y="1449324"/>
            <a:ext cx="2048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ФО C</a:t>
            </a:r>
            <a:endParaRPr lang="en-US" sz="1220" dirty="0"/>
          </a:p>
        </p:txBody>
      </p:sp>
      <p:sp>
        <p:nvSpPr>
          <p:cNvPr id="18" name="S06_FOColumn3"/>
          <p:cNvSpPr/>
          <p:nvPr/>
        </p:nvSpPr>
        <p:spPr>
          <a:xfrm>
            <a:off x="8394192" y="1965960"/>
            <a:ext cx="2834640" cy="2788920"/>
          </a:xfrm>
          <a:prstGeom prst="roundRect">
            <a:avLst>
              <a:gd name="adj" fmla="val 2623"/>
            </a:avLst>
          </a:prstGeom>
          <a:solidFill>
            <a:srgbClr val="F0ECFF"/>
          </a:solidFill>
          <a:ln w="12700">
            <a:solidFill>
              <a:srgbClr val="7657D5"/>
            </a:solidFill>
            <a:prstDash val="solid"/>
          </a:ln>
        </p:spPr>
      </p:sp>
      <p:sp>
        <p:nvSpPr>
          <p:cNvPr id="19" name="S06_FOChangeLink1"/>
          <p:cNvSpPr/>
          <p:nvPr/>
        </p:nvSpPr>
        <p:spPr>
          <a:xfrm flipH="1" flipV="1">
            <a:off x="3410712" y="2487168"/>
            <a:ext cx="2688336" cy="2660904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  <a:headEnd type="none"/>
            <a:tailEnd type="triangle"/>
          </a:ln>
        </p:spPr>
      </p:sp>
      <p:sp>
        <p:nvSpPr>
          <p:cNvPr id="20" name="S06_FOChangeLink2"/>
          <p:cNvSpPr/>
          <p:nvPr/>
        </p:nvSpPr>
        <p:spPr>
          <a:xfrm flipV="1">
            <a:off x="6099048" y="3374136"/>
            <a:ext cx="512064" cy="1773936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  <a:headEnd type="none"/>
            <a:tailEnd type="triangle"/>
          </a:ln>
        </p:spPr>
      </p:sp>
      <p:sp>
        <p:nvSpPr>
          <p:cNvPr id="21" name="S06_FOChangeLink3"/>
          <p:cNvSpPr/>
          <p:nvPr/>
        </p:nvSpPr>
        <p:spPr>
          <a:xfrm flipV="1">
            <a:off x="6099048" y="4261104"/>
            <a:ext cx="3712464" cy="886968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  <a:headEnd type="none"/>
            <a:tailEnd type="triangle"/>
          </a:ln>
        </p:spPr>
      </p:sp>
      <p:sp>
        <p:nvSpPr>
          <p:cNvPr id="22" name="S06_FOLayerLabel1"/>
          <p:cNvSpPr/>
          <p:nvPr/>
        </p:nvSpPr>
        <p:spPr>
          <a:xfrm>
            <a:off x="658368" y="2176272"/>
            <a:ext cx="10972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23" name="S06_FOLayerText1"/>
          <p:cNvSpPr/>
          <p:nvPr/>
        </p:nvSpPr>
        <p:spPr>
          <a:xfrm>
            <a:off x="731520" y="2295144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405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WORKFLOW</a:t>
            </a:r>
            <a:endParaRPr lang="en-US" sz="1000" dirty="0"/>
          </a:p>
        </p:txBody>
      </p:sp>
      <p:sp>
        <p:nvSpPr>
          <p:cNvPr id="24" name="S06_FOCell1_1"/>
          <p:cNvSpPr/>
          <p:nvPr/>
        </p:nvSpPr>
        <p:spPr>
          <a:xfrm>
            <a:off x="2212848" y="2176272"/>
            <a:ext cx="2395728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25" name="S06_FOCellDot1_1"/>
          <p:cNvSpPr/>
          <p:nvPr/>
        </p:nvSpPr>
        <p:spPr>
          <a:xfrm>
            <a:off x="2423160" y="2386584"/>
            <a:ext cx="182880" cy="1828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26" name="S06_FOCellText1_1"/>
          <p:cNvSpPr/>
          <p:nvPr/>
        </p:nvSpPr>
        <p:spPr>
          <a:xfrm>
            <a:off x="2743200" y="2331720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сценарии и шаги</a:t>
            </a:r>
            <a:endParaRPr lang="en-US" sz="1110" dirty="0"/>
          </a:p>
        </p:txBody>
      </p:sp>
      <p:sp>
        <p:nvSpPr>
          <p:cNvPr id="27" name="S06_FOCell2_1"/>
          <p:cNvSpPr/>
          <p:nvPr/>
        </p:nvSpPr>
        <p:spPr>
          <a:xfrm>
            <a:off x="5413248" y="2176272"/>
            <a:ext cx="2395728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8" name="S06_FOCellDot2_1"/>
          <p:cNvSpPr/>
          <p:nvPr/>
        </p:nvSpPr>
        <p:spPr>
          <a:xfrm>
            <a:off x="5623560" y="2386584"/>
            <a:ext cx="182880" cy="182880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29" name="S06_FOCellText2_1"/>
          <p:cNvSpPr/>
          <p:nvPr/>
        </p:nvSpPr>
        <p:spPr>
          <a:xfrm>
            <a:off x="5943600" y="2331720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сценарии и шаги</a:t>
            </a:r>
            <a:endParaRPr lang="en-US" sz="1110" dirty="0"/>
          </a:p>
        </p:txBody>
      </p:sp>
      <p:sp>
        <p:nvSpPr>
          <p:cNvPr id="30" name="S06_FOCell3_1"/>
          <p:cNvSpPr/>
          <p:nvPr/>
        </p:nvSpPr>
        <p:spPr>
          <a:xfrm>
            <a:off x="8613648" y="2176272"/>
            <a:ext cx="2395728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7657D5"/>
            </a:solidFill>
            <a:prstDash val="solid"/>
          </a:ln>
        </p:spPr>
      </p:sp>
      <p:sp>
        <p:nvSpPr>
          <p:cNvPr id="31" name="S06_FOCellDot3_1"/>
          <p:cNvSpPr/>
          <p:nvPr/>
        </p:nvSpPr>
        <p:spPr>
          <a:xfrm>
            <a:off x="8823960" y="2386584"/>
            <a:ext cx="182880" cy="182880"/>
          </a:xfrm>
          <a:prstGeom prst="ellipse">
            <a:avLst/>
          </a:prstGeom>
          <a:solidFill>
            <a:srgbClr val="7657D5"/>
          </a:solidFill>
          <a:ln w="12700">
            <a:solidFill>
              <a:srgbClr val="7657D5">
                <a:alpha val="0"/>
              </a:srgbClr>
            </a:solidFill>
            <a:prstDash val="solid"/>
          </a:ln>
        </p:spPr>
      </p:sp>
      <p:sp>
        <p:nvSpPr>
          <p:cNvPr id="32" name="S06_FOCellText3_1"/>
          <p:cNvSpPr/>
          <p:nvPr/>
        </p:nvSpPr>
        <p:spPr>
          <a:xfrm>
            <a:off x="9144000" y="2331720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сценарии и шаги</a:t>
            </a:r>
            <a:endParaRPr lang="en-US" sz="1110" dirty="0"/>
          </a:p>
        </p:txBody>
      </p:sp>
      <p:sp>
        <p:nvSpPr>
          <p:cNvPr id="33" name="S06_FOLayerLabel2"/>
          <p:cNvSpPr/>
          <p:nvPr/>
        </p:nvSpPr>
        <p:spPr>
          <a:xfrm>
            <a:off x="658368" y="3063240"/>
            <a:ext cx="10972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34" name="S06_FOLayerText2"/>
          <p:cNvSpPr/>
          <p:nvPr/>
        </p:nvSpPr>
        <p:spPr>
          <a:xfrm>
            <a:off x="731520" y="3182112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405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DATA MODEL</a:t>
            </a:r>
            <a:endParaRPr lang="en-US" sz="1000" dirty="0"/>
          </a:p>
        </p:txBody>
      </p:sp>
      <p:sp>
        <p:nvSpPr>
          <p:cNvPr id="35" name="S06_FOCell1_2"/>
          <p:cNvSpPr/>
          <p:nvPr/>
        </p:nvSpPr>
        <p:spPr>
          <a:xfrm>
            <a:off x="2212848" y="3063240"/>
            <a:ext cx="2395728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6" name="S06_FOCellDot1_2"/>
          <p:cNvSpPr/>
          <p:nvPr/>
        </p:nvSpPr>
        <p:spPr>
          <a:xfrm>
            <a:off x="2423160" y="3273552"/>
            <a:ext cx="182880" cy="18288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37" name="S06_FOCellText1_2"/>
          <p:cNvSpPr/>
          <p:nvPr/>
        </p:nvSpPr>
        <p:spPr>
          <a:xfrm>
            <a:off x="2743200" y="3218688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сущности и правила</a:t>
            </a:r>
            <a:endParaRPr lang="en-US" sz="1110" dirty="0"/>
          </a:p>
        </p:txBody>
      </p:sp>
      <p:sp>
        <p:nvSpPr>
          <p:cNvPr id="38" name="S06_FOCell2_2"/>
          <p:cNvSpPr/>
          <p:nvPr/>
        </p:nvSpPr>
        <p:spPr>
          <a:xfrm>
            <a:off x="5413248" y="3063240"/>
            <a:ext cx="2395728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39" name="S06_FOCellDot2_2"/>
          <p:cNvSpPr/>
          <p:nvPr/>
        </p:nvSpPr>
        <p:spPr>
          <a:xfrm>
            <a:off x="5623560" y="3273552"/>
            <a:ext cx="182880" cy="1828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40" name="S06_FOCellText2_2"/>
          <p:cNvSpPr/>
          <p:nvPr/>
        </p:nvSpPr>
        <p:spPr>
          <a:xfrm>
            <a:off x="5943600" y="3218688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сущности и правила</a:t>
            </a:r>
            <a:endParaRPr lang="en-US" sz="1110" dirty="0"/>
          </a:p>
        </p:txBody>
      </p:sp>
      <p:sp>
        <p:nvSpPr>
          <p:cNvPr id="41" name="S06_FOCell3_2"/>
          <p:cNvSpPr/>
          <p:nvPr/>
        </p:nvSpPr>
        <p:spPr>
          <a:xfrm>
            <a:off x="8613648" y="3063240"/>
            <a:ext cx="2395728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7657D5"/>
            </a:solidFill>
            <a:prstDash val="solid"/>
          </a:ln>
        </p:spPr>
      </p:sp>
      <p:sp>
        <p:nvSpPr>
          <p:cNvPr id="42" name="S06_FOCellDot3_2"/>
          <p:cNvSpPr/>
          <p:nvPr/>
        </p:nvSpPr>
        <p:spPr>
          <a:xfrm>
            <a:off x="8823960" y="3273552"/>
            <a:ext cx="182880" cy="182880"/>
          </a:xfrm>
          <a:prstGeom prst="ellipse">
            <a:avLst/>
          </a:prstGeom>
          <a:solidFill>
            <a:srgbClr val="7657D5"/>
          </a:solidFill>
          <a:ln w="12700">
            <a:solidFill>
              <a:srgbClr val="7657D5">
                <a:alpha val="0"/>
              </a:srgbClr>
            </a:solidFill>
            <a:prstDash val="solid"/>
          </a:ln>
        </p:spPr>
      </p:sp>
      <p:sp>
        <p:nvSpPr>
          <p:cNvPr id="43" name="S06_FOCellText3_2"/>
          <p:cNvSpPr/>
          <p:nvPr/>
        </p:nvSpPr>
        <p:spPr>
          <a:xfrm>
            <a:off x="9144000" y="3218688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сущности и правила</a:t>
            </a:r>
            <a:endParaRPr lang="en-US" sz="1110" dirty="0"/>
          </a:p>
        </p:txBody>
      </p:sp>
      <p:sp>
        <p:nvSpPr>
          <p:cNvPr id="44" name="S06_FOLayerLabel3"/>
          <p:cNvSpPr/>
          <p:nvPr/>
        </p:nvSpPr>
        <p:spPr>
          <a:xfrm>
            <a:off x="658368" y="3950208"/>
            <a:ext cx="10972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45" name="S06_FOLayerText3"/>
          <p:cNvSpPr/>
          <p:nvPr/>
        </p:nvSpPr>
        <p:spPr>
          <a:xfrm>
            <a:off x="731520" y="4069080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34405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API /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34405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INTEGRATIONS</a:t>
            </a:r>
            <a:endParaRPr lang="en-US" sz="880" dirty="0"/>
          </a:p>
        </p:txBody>
      </p:sp>
      <p:sp>
        <p:nvSpPr>
          <p:cNvPr id="46" name="S06_FOCell1_3"/>
          <p:cNvSpPr/>
          <p:nvPr/>
        </p:nvSpPr>
        <p:spPr>
          <a:xfrm>
            <a:off x="2212848" y="3950208"/>
            <a:ext cx="2395728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47" name="S06_FOCellDot1_3"/>
          <p:cNvSpPr/>
          <p:nvPr/>
        </p:nvSpPr>
        <p:spPr>
          <a:xfrm>
            <a:off x="2423160" y="4160520"/>
            <a:ext cx="182880" cy="18288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8" name="S06_FOCellText1_3"/>
          <p:cNvSpPr/>
          <p:nvPr/>
        </p:nvSpPr>
        <p:spPr>
          <a:xfrm>
            <a:off x="2743200" y="4105656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· события · связи</a:t>
            </a:r>
            <a:endParaRPr lang="en-US" sz="1110" dirty="0"/>
          </a:p>
        </p:txBody>
      </p:sp>
      <p:sp>
        <p:nvSpPr>
          <p:cNvPr id="49" name="S06_FOCell2_3"/>
          <p:cNvSpPr/>
          <p:nvPr/>
        </p:nvSpPr>
        <p:spPr>
          <a:xfrm>
            <a:off x="5413248" y="3950208"/>
            <a:ext cx="2395728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50" name="S06_FOCellDot2_3"/>
          <p:cNvSpPr/>
          <p:nvPr/>
        </p:nvSpPr>
        <p:spPr>
          <a:xfrm>
            <a:off x="5623560" y="4160520"/>
            <a:ext cx="182880" cy="182880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51" name="S06_FOCellText2_3"/>
          <p:cNvSpPr/>
          <p:nvPr/>
        </p:nvSpPr>
        <p:spPr>
          <a:xfrm>
            <a:off x="5943600" y="4105656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· события · связи</a:t>
            </a:r>
            <a:endParaRPr lang="en-US" sz="1110" dirty="0"/>
          </a:p>
        </p:txBody>
      </p:sp>
      <p:sp>
        <p:nvSpPr>
          <p:cNvPr id="52" name="S06_FOCell3_3"/>
          <p:cNvSpPr/>
          <p:nvPr/>
        </p:nvSpPr>
        <p:spPr>
          <a:xfrm>
            <a:off x="8613648" y="3950208"/>
            <a:ext cx="2395728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53" name="S06_FOCellDot3_3"/>
          <p:cNvSpPr/>
          <p:nvPr/>
        </p:nvSpPr>
        <p:spPr>
          <a:xfrm>
            <a:off x="8823960" y="4160520"/>
            <a:ext cx="182880" cy="1828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54" name="S06_FOCellText3_3"/>
          <p:cNvSpPr/>
          <p:nvPr/>
        </p:nvSpPr>
        <p:spPr>
          <a:xfrm>
            <a:off x="9144000" y="4105656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API · события · связи</a:t>
            </a:r>
            <a:endParaRPr lang="en-US" sz="1110" dirty="0"/>
          </a:p>
        </p:txBody>
      </p:sp>
      <p:sp>
        <p:nvSpPr>
          <p:cNvPr id="55" name="S06_FOChangePill_Bg"/>
          <p:cNvSpPr/>
          <p:nvPr/>
        </p:nvSpPr>
        <p:spPr>
          <a:xfrm>
            <a:off x="3886200" y="5056632"/>
            <a:ext cx="4425696" cy="457200"/>
          </a:xfrm>
          <a:prstGeom prst="roundRect">
            <a:avLst>
              <a:gd name="adj" fmla="val 16000"/>
            </a:avLst>
          </a:prstGeom>
          <a:solidFill>
            <a:srgbClr val="FFF3D9"/>
          </a:solidFill>
          <a:ln w="12700">
            <a:solidFill>
              <a:srgbClr val="FFF3D9">
                <a:alpha val="0"/>
              </a:srgbClr>
            </a:solidFill>
            <a:prstDash val="solid"/>
          </a:ln>
        </p:spPr>
      </p:sp>
      <p:sp>
        <p:nvSpPr>
          <p:cNvPr id="56" name="S06_FOChangePill_Text"/>
          <p:cNvSpPr/>
          <p:nvPr/>
        </p:nvSpPr>
        <p:spPr>
          <a:xfrm>
            <a:off x="3886200" y="5061204"/>
            <a:ext cx="44256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9A63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CHANGE · пересекает несколько ФО</a:t>
            </a:r>
            <a:endParaRPr lang="en-US" sz="1220" dirty="0"/>
          </a:p>
        </p:txBody>
      </p:sp>
      <p:sp>
        <p:nvSpPr>
          <p:cNvPr id="57" name="S06_FOThesis"/>
          <p:cNvSpPr/>
          <p:nvPr/>
        </p:nvSpPr>
        <p:spPr>
          <a:xfrm>
            <a:off x="2313432" y="5925312"/>
            <a:ext cx="7543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Границы ФО организуют знания, но не ограничивают границы изменения.</a:t>
            </a:r>
            <a:endParaRPr lang="en-US" sz="13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7_TopAccent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3" name="S07_SectionLabel"/>
          <p:cNvSpPr/>
          <p:nvPr/>
        </p:nvSpPr>
        <p:spPr>
          <a:xfrm>
            <a:off x="621792" y="2560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АРХИТЕКТУРА РАСШИРЕНИЯ</a:t>
            </a:r>
            <a:endParaRPr lang="en-US" sz="850" dirty="0"/>
          </a:p>
        </p:txBody>
      </p:sp>
      <p:sp>
        <p:nvSpPr>
          <p:cNvPr id="4" name="S07_Title"/>
          <p:cNvSpPr/>
          <p:nvPr/>
        </p:nvSpPr>
        <p:spPr>
          <a:xfrm>
            <a:off x="621792" y="502920"/>
            <a:ext cx="10149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Folder-based spec: документы, связи и актуальная карта</a:t>
            </a:r>
            <a:endParaRPr lang="en-US" sz="2850" dirty="0"/>
          </a:p>
        </p:txBody>
      </p:sp>
      <p:sp>
        <p:nvSpPr>
          <p:cNvPr id="5" name="S07_Subtitle"/>
          <p:cNvSpPr/>
          <p:nvPr/>
        </p:nvSpPr>
        <p:spPr>
          <a:xfrm>
            <a:off x="640080" y="1014984"/>
            <a:ext cx="10469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Документы остаются source of truth; _sdd помогает ориентироваться и собирать контекст.</a:t>
            </a:r>
            <a:endParaRPr lang="en-US" sz="1320" dirty="0"/>
          </a:p>
        </p:txBody>
      </p:sp>
      <p:sp>
        <p:nvSpPr>
          <p:cNvPr id="6" name="S07_DeckLabel"/>
          <p:cNvSpPr/>
          <p:nvPr/>
        </p:nvSpPr>
        <p:spPr>
          <a:xfrm>
            <a:off x="9921240" y="25603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spc="100" kern="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 SPEC · SDD</a:t>
            </a:r>
            <a:endParaRPr lang="en-US" sz="820" dirty="0"/>
          </a:p>
        </p:txBody>
      </p:sp>
      <p:sp>
        <p:nvSpPr>
          <p:cNvPr id="7" name="S07_SlideNumber"/>
          <p:cNvSpPr/>
          <p:nvPr/>
        </p:nvSpPr>
        <p:spPr>
          <a:xfrm>
            <a:off x="11375136" y="647395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3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07</a:t>
            </a:r>
            <a:endParaRPr lang="en-US" sz="830" dirty="0"/>
          </a:p>
        </p:txBody>
      </p:sp>
      <p:sp>
        <p:nvSpPr>
          <p:cNvPr id="8" name="S07_FooterLine"/>
          <p:cNvSpPr/>
          <p:nvPr/>
        </p:nvSpPr>
        <p:spPr>
          <a:xfrm>
            <a:off x="621792" y="6419088"/>
            <a:ext cx="10972800" cy="914"/>
          </a:xfrm>
          <a:prstGeom prst="line">
            <a:avLst/>
          </a:prstGeom>
          <a:noFill/>
          <a:ln w="9525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10" name="S07_FolderTreeCard"/>
          <p:cNvSpPr/>
          <p:nvPr/>
        </p:nvSpPr>
        <p:spPr>
          <a:xfrm>
            <a:off x="658368" y="1444752"/>
            <a:ext cx="3456432" cy="4507992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6.2938093720335e+24" dist="1.6783491658756e+25" dir="2.09952e+30">
              <a:srgbClr val="22304A">
                <a:alpha val="1.2e+29"/>
              </a:srgbClr>
            </a:outerShdw>
          </a:effectLst>
        </p:spPr>
      </p:sp>
      <p:sp>
        <p:nvSpPr>
          <p:cNvPr id="11" name="S07_FolderTreeLabel_Bg"/>
          <p:cNvSpPr/>
          <p:nvPr/>
        </p:nvSpPr>
        <p:spPr>
          <a:xfrm>
            <a:off x="914400" y="1700784"/>
            <a:ext cx="1609344" cy="365760"/>
          </a:xfrm>
          <a:prstGeom prst="roundRect">
            <a:avLst>
              <a:gd name="adj" fmla="val 20000"/>
            </a:avLst>
          </a:prstGeom>
          <a:solidFill>
            <a:srgbClr val="EAF0FF"/>
          </a:solidFill>
          <a:ln w="12700">
            <a:solidFill>
              <a:srgbClr val="EAF0FF">
                <a:alpha val="0"/>
              </a:srgbClr>
            </a:solidFill>
            <a:prstDash val="solid"/>
          </a:ln>
        </p:spPr>
      </p:sp>
      <p:sp>
        <p:nvSpPr>
          <p:cNvPr id="12" name="S07_FolderTreeLabel_Text"/>
          <p:cNvSpPr/>
          <p:nvPr/>
        </p:nvSpPr>
        <p:spPr>
          <a:xfrm>
            <a:off x="914400" y="1705356"/>
            <a:ext cx="160934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MASTER SPEC</a:t>
            </a:r>
            <a:endParaRPr lang="en-US" sz="1040" dirty="0"/>
          </a:p>
        </p:txBody>
      </p:sp>
      <p:sp>
        <p:nvSpPr>
          <p:cNvPr id="13" name="S07_FolderTreeRoot_Body"/>
          <p:cNvSpPr/>
          <p:nvPr/>
        </p:nvSpPr>
        <p:spPr>
          <a:xfrm>
            <a:off x="932688" y="2418222"/>
            <a:ext cx="530352" cy="306690"/>
          </a:xfrm>
          <a:prstGeom prst="roundRect">
            <a:avLst>
              <a:gd name="adj" fmla="val 11926"/>
            </a:avLst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4" name="S07_FolderTreeRoot_Tab"/>
          <p:cNvSpPr/>
          <p:nvPr/>
        </p:nvSpPr>
        <p:spPr>
          <a:xfrm>
            <a:off x="1005840" y="2331720"/>
            <a:ext cx="243962" cy="149413"/>
          </a:xfrm>
          <a:prstGeom prst="roundRect">
            <a:avLst>
              <a:gd name="adj" fmla="val 18360"/>
            </a:avLst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5" name="S07_FolderTreeRootText"/>
          <p:cNvSpPr/>
          <p:nvPr/>
        </p:nvSpPr>
        <p:spPr>
          <a:xfrm>
            <a:off x="1645920" y="23682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openspec/&lt;service&gt;/</a:t>
            </a:r>
            <a:endParaRPr lang="en-US" sz="1320" dirty="0"/>
          </a:p>
        </p:txBody>
      </p:sp>
      <p:sp>
        <p:nvSpPr>
          <p:cNvPr id="16" name="S07_FolderTreeSpine"/>
          <p:cNvSpPr/>
          <p:nvPr/>
        </p:nvSpPr>
        <p:spPr>
          <a:xfrm>
            <a:off x="1197864" y="2724912"/>
            <a:ext cx="914" cy="2633472"/>
          </a:xfrm>
          <a:prstGeom prst="line">
            <a:avLst/>
          </a:prstGeom>
          <a:noFill/>
          <a:ln w="13970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17" name="S07_FolderTreeBranch1"/>
          <p:cNvSpPr/>
          <p:nvPr/>
        </p:nvSpPr>
        <p:spPr>
          <a:xfrm>
            <a:off x="1197864" y="3063240"/>
            <a:ext cx="320040" cy="914"/>
          </a:xfrm>
          <a:prstGeom prst="line">
            <a:avLst/>
          </a:prstGeom>
          <a:noFill/>
          <a:ln w="13970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18" name="S07_FolderTreeFolder1_Body"/>
          <p:cNvSpPr/>
          <p:nvPr/>
        </p:nvSpPr>
        <p:spPr>
          <a:xfrm>
            <a:off x="1581912" y="2966131"/>
            <a:ext cx="347472" cy="206837"/>
          </a:xfrm>
          <a:prstGeom prst="roundRect">
            <a:avLst>
              <a:gd name="adj" fmla="val 17683"/>
            </a:avLst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9" name="S07_FolderTreeFolder1_Tab"/>
          <p:cNvSpPr/>
          <p:nvPr/>
        </p:nvSpPr>
        <p:spPr>
          <a:xfrm>
            <a:off x="1655064" y="2907792"/>
            <a:ext cx="159837" cy="100767"/>
          </a:xfrm>
          <a:prstGeom prst="roundRect">
            <a:avLst>
              <a:gd name="adj" fmla="val 27223"/>
            </a:avLst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20" name="S07_FolderTreeText1"/>
          <p:cNvSpPr/>
          <p:nvPr/>
        </p:nvSpPr>
        <p:spPr>
          <a:xfrm>
            <a:off x="2066544" y="2926080"/>
            <a:ext cx="1581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3440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workflow/</a:t>
            </a:r>
            <a:endParaRPr lang="en-US" sz="1130" dirty="0"/>
          </a:p>
        </p:txBody>
      </p:sp>
      <p:sp>
        <p:nvSpPr>
          <p:cNvPr id="21" name="S07_FolderTreeBranch2"/>
          <p:cNvSpPr/>
          <p:nvPr/>
        </p:nvSpPr>
        <p:spPr>
          <a:xfrm>
            <a:off x="1197864" y="3547872"/>
            <a:ext cx="320040" cy="914"/>
          </a:xfrm>
          <a:prstGeom prst="line">
            <a:avLst/>
          </a:prstGeom>
          <a:noFill/>
          <a:ln w="13970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22" name="S07_FolderTreeFolder2_Body"/>
          <p:cNvSpPr/>
          <p:nvPr/>
        </p:nvSpPr>
        <p:spPr>
          <a:xfrm>
            <a:off x="1581912" y="3450763"/>
            <a:ext cx="347472" cy="206837"/>
          </a:xfrm>
          <a:prstGeom prst="roundRect">
            <a:avLst>
              <a:gd name="adj" fmla="val 17683"/>
            </a:avLst>
          </a:prstGeom>
          <a:solidFill>
            <a:srgbClr val="7657D5"/>
          </a:solidFill>
          <a:ln w="12700">
            <a:solidFill>
              <a:srgbClr val="7657D5">
                <a:alpha val="0"/>
              </a:srgbClr>
            </a:solidFill>
            <a:prstDash val="solid"/>
          </a:ln>
        </p:spPr>
      </p:sp>
      <p:sp>
        <p:nvSpPr>
          <p:cNvPr id="23" name="S07_FolderTreeFolder2_Tab"/>
          <p:cNvSpPr/>
          <p:nvPr/>
        </p:nvSpPr>
        <p:spPr>
          <a:xfrm>
            <a:off x="1655064" y="3392424"/>
            <a:ext cx="159837" cy="100767"/>
          </a:xfrm>
          <a:prstGeom prst="roundRect">
            <a:avLst>
              <a:gd name="adj" fmla="val 27223"/>
            </a:avLst>
          </a:prstGeom>
          <a:solidFill>
            <a:srgbClr val="7657D5"/>
          </a:solidFill>
          <a:ln w="12700">
            <a:solidFill>
              <a:srgbClr val="7657D5">
                <a:alpha val="0"/>
              </a:srgbClr>
            </a:solidFill>
            <a:prstDash val="solid"/>
          </a:ln>
        </p:spPr>
      </p:sp>
      <p:sp>
        <p:nvSpPr>
          <p:cNvPr id="24" name="S07_FolderTreeText2"/>
          <p:cNvSpPr/>
          <p:nvPr/>
        </p:nvSpPr>
        <p:spPr>
          <a:xfrm>
            <a:off x="2066544" y="3410712"/>
            <a:ext cx="1581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3440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integrations/</a:t>
            </a:r>
            <a:endParaRPr lang="en-US" sz="1130" dirty="0"/>
          </a:p>
        </p:txBody>
      </p:sp>
      <p:sp>
        <p:nvSpPr>
          <p:cNvPr id="25" name="S07_FolderTreeBranch3"/>
          <p:cNvSpPr/>
          <p:nvPr/>
        </p:nvSpPr>
        <p:spPr>
          <a:xfrm>
            <a:off x="1197864" y="4032504"/>
            <a:ext cx="320040" cy="914"/>
          </a:xfrm>
          <a:prstGeom prst="line">
            <a:avLst/>
          </a:prstGeom>
          <a:noFill/>
          <a:ln w="13970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26" name="S07_FolderTreeFolder3_Body"/>
          <p:cNvSpPr/>
          <p:nvPr/>
        </p:nvSpPr>
        <p:spPr>
          <a:xfrm>
            <a:off x="1581912" y="3935395"/>
            <a:ext cx="347472" cy="206837"/>
          </a:xfrm>
          <a:prstGeom prst="roundRect">
            <a:avLst>
              <a:gd name="adj" fmla="val 17683"/>
            </a:avLst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27" name="S07_FolderTreeFolder3_Tab"/>
          <p:cNvSpPr/>
          <p:nvPr/>
        </p:nvSpPr>
        <p:spPr>
          <a:xfrm>
            <a:off x="1655064" y="3877056"/>
            <a:ext cx="159837" cy="100767"/>
          </a:xfrm>
          <a:prstGeom prst="roundRect">
            <a:avLst>
              <a:gd name="adj" fmla="val 27223"/>
            </a:avLst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28" name="S07_FolderTreeText3"/>
          <p:cNvSpPr/>
          <p:nvPr/>
        </p:nvSpPr>
        <p:spPr>
          <a:xfrm>
            <a:off x="2066544" y="3895344"/>
            <a:ext cx="1581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3440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api/</a:t>
            </a:r>
            <a:endParaRPr lang="en-US" sz="1130" dirty="0"/>
          </a:p>
        </p:txBody>
      </p:sp>
      <p:sp>
        <p:nvSpPr>
          <p:cNvPr id="29" name="S07_FolderTreeBranch4"/>
          <p:cNvSpPr/>
          <p:nvPr/>
        </p:nvSpPr>
        <p:spPr>
          <a:xfrm>
            <a:off x="1197864" y="4517136"/>
            <a:ext cx="320040" cy="914"/>
          </a:xfrm>
          <a:prstGeom prst="line">
            <a:avLst/>
          </a:prstGeom>
          <a:noFill/>
          <a:ln w="13970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30" name="S07_FolderTreeFolder4_Body"/>
          <p:cNvSpPr/>
          <p:nvPr/>
        </p:nvSpPr>
        <p:spPr>
          <a:xfrm>
            <a:off x="1581912" y="4420027"/>
            <a:ext cx="347472" cy="206837"/>
          </a:xfrm>
          <a:prstGeom prst="roundRect">
            <a:avLst>
              <a:gd name="adj" fmla="val 17683"/>
            </a:avLst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31" name="S07_FolderTreeFolder4_Tab"/>
          <p:cNvSpPr/>
          <p:nvPr/>
        </p:nvSpPr>
        <p:spPr>
          <a:xfrm>
            <a:off x="1655064" y="4361688"/>
            <a:ext cx="159837" cy="100767"/>
          </a:xfrm>
          <a:prstGeom prst="roundRect">
            <a:avLst>
              <a:gd name="adj" fmla="val 27223"/>
            </a:avLst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32" name="S07_FolderTreeText4"/>
          <p:cNvSpPr/>
          <p:nvPr/>
        </p:nvSpPr>
        <p:spPr>
          <a:xfrm>
            <a:off x="2066544" y="4379976"/>
            <a:ext cx="1581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3440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data/ · dbml/</a:t>
            </a:r>
            <a:endParaRPr lang="en-US" sz="1130" dirty="0"/>
          </a:p>
        </p:txBody>
      </p:sp>
      <p:sp>
        <p:nvSpPr>
          <p:cNvPr id="33" name="S07_FolderTreeBranch5"/>
          <p:cNvSpPr/>
          <p:nvPr/>
        </p:nvSpPr>
        <p:spPr>
          <a:xfrm>
            <a:off x="1197864" y="5001768"/>
            <a:ext cx="320040" cy="914"/>
          </a:xfrm>
          <a:prstGeom prst="line">
            <a:avLst/>
          </a:prstGeom>
          <a:noFill/>
          <a:ln w="13970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34" name="S07_FolderTreeFolder5_Body"/>
          <p:cNvSpPr/>
          <p:nvPr/>
        </p:nvSpPr>
        <p:spPr>
          <a:xfrm>
            <a:off x="1581912" y="4904659"/>
            <a:ext cx="347472" cy="206837"/>
          </a:xfrm>
          <a:prstGeom prst="roundRect">
            <a:avLst>
              <a:gd name="adj" fmla="val 17683"/>
            </a:avLst>
          </a:prstGeom>
          <a:solidFill>
            <a:srgbClr val="F26767"/>
          </a:solidFill>
          <a:ln w="12700">
            <a:solidFill>
              <a:srgbClr val="F26767">
                <a:alpha val="0"/>
              </a:srgbClr>
            </a:solidFill>
            <a:prstDash val="solid"/>
          </a:ln>
        </p:spPr>
      </p:sp>
      <p:sp>
        <p:nvSpPr>
          <p:cNvPr id="35" name="S07_FolderTreeFolder5_Tab"/>
          <p:cNvSpPr/>
          <p:nvPr/>
        </p:nvSpPr>
        <p:spPr>
          <a:xfrm>
            <a:off x="1655064" y="4846320"/>
            <a:ext cx="159837" cy="100767"/>
          </a:xfrm>
          <a:prstGeom prst="roundRect">
            <a:avLst>
              <a:gd name="adj" fmla="val 27223"/>
            </a:avLst>
          </a:prstGeom>
          <a:solidFill>
            <a:srgbClr val="F26767"/>
          </a:solidFill>
          <a:ln w="12700">
            <a:solidFill>
              <a:srgbClr val="F26767">
                <a:alpha val="0"/>
              </a:srgbClr>
            </a:solidFill>
            <a:prstDash val="solid"/>
          </a:ln>
        </p:spPr>
      </p:sp>
      <p:sp>
        <p:nvSpPr>
          <p:cNvPr id="36" name="S07_FolderTreeText5"/>
          <p:cNvSpPr/>
          <p:nvPr/>
        </p:nvSpPr>
        <p:spPr>
          <a:xfrm>
            <a:off x="2066544" y="4864608"/>
            <a:ext cx="1581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3440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diagrams/ · settings/</a:t>
            </a:r>
            <a:endParaRPr lang="en-US" sz="1130" dirty="0"/>
          </a:p>
        </p:txBody>
      </p:sp>
      <p:sp>
        <p:nvSpPr>
          <p:cNvPr id="37" name="S07_FolderFormats_Bg"/>
          <p:cNvSpPr/>
          <p:nvPr/>
        </p:nvSpPr>
        <p:spPr>
          <a:xfrm>
            <a:off x="941832" y="5468112"/>
            <a:ext cx="269748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07_FolderFormats_Text"/>
          <p:cNvSpPr/>
          <p:nvPr/>
        </p:nvSpPr>
        <p:spPr>
          <a:xfrm>
            <a:off x="941832" y="5472684"/>
            <a:ext cx="2697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6670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MD · OpenAPI · YAML · DBML · diagrams</a:t>
            </a:r>
            <a:endParaRPr lang="en-US" sz="940" dirty="0"/>
          </a:p>
        </p:txBody>
      </p:sp>
      <p:sp>
        <p:nvSpPr>
          <p:cNvPr id="39" name="S07_FolderToIndex"/>
          <p:cNvSpPr/>
          <p:nvPr/>
        </p:nvSpPr>
        <p:spPr>
          <a:xfrm>
            <a:off x="4114800" y="3675888"/>
            <a:ext cx="292608" cy="914"/>
          </a:xfrm>
          <a:prstGeom prst="line">
            <a:avLst/>
          </a:prstGeom>
          <a:noFill/>
          <a:ln w="21590">
            <a:solidFill>
              <a:srgbClr val="00A6A6"/>
            </a:solidFill>
            <a:prstDash val="solid"/>
            <a:headEnd type="none"/>
            <a:tailEnd type="triangle"/>
          </a:ln>
        </p:spPr>
      </p:sp>
      <p:sp>
        <p:nvSpPr>
          <p:cNvPr id="40" name="S07_IndexLayerCard"/>
          <p:cNvSpPr/>
          <p:nvPr/>
        </p:nvSpPr>
        <p:spPr>
          <a:xfrm>
            <a:off x="4462272" y="1444752"/>
            <a:ext cx="3072384" cy="4507992"/>
          </a:xfrm>
          <a:prstGeom prst="roundRect">
            <a:avLst>
              <a:gd name="adj" fmla="val 2381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7.993137902482545e+28" dist="2.1315034406620118e+29" dir="1.259712e+35">
              <a:srgbClr val="22304A">
                <a:alpha val="1.2e+34"/>
              </a:srgbClr>
            </a:outerShdw>
          </a:effectLst>
        </p:spPr>
      </p:sp>
      <p:sp>
        <p:nvSpPr>
          <p:cNvPr id="41" name="S07_IndexLayerLabel_Bg"/>
          <p:cNvSpPr/>
          <p:nvPr/>
        </p:nvSpPr>
        <p:spPr>
          <a:xfrm>
            <a:off x="4736592" y="1700784"/>
            <a:ext cx="1051560" cy="365760"/>
          </a:xfrm>
          <a:prstGeom prst="roundRect">
            <a:avLst>
              <a:gd name="adj" fmla="val 20000"/>
            </a:avLst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42" name="S07_IndexLayerLabel_Text"/>
          <p:cNvSpPr/>
          <p:nvPr/>
        </p:nvSpPr>
        <p:spPr>
          <a:xfrm>
            <a:off x="4736592" y="1705356"/>
            <a:ext cx="10515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_sdd</a:t>
            </a:r>
            <a:endParaRPr lang="en-US" sz="1120" dirty="0"/>
          </a:p>
        </p:txBody>
      </p:sp>
      <p:sp>
        <p:nvSpPr>
          <p:cNvPr id="43" name="S07_IndexLayerKicker"/>
          <p:cNvSpPr/>
          <p:nvPr/>
        </p:nvSpPr>
        <p:spPr>
          <a:xfrm>
            <a:off x="5925312" y="1783080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30" b="1" spc="80" kern="0" dirty="0">
                <a:solidFill>
                  <a:srgbClr val="C5CED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НАВИГАЦИОННЫЙ СЛОЙ</a:t>
            </a:r>
            <a:endParaRPr lang="en-US" sz="830" dirty="0"/>
          </a:p>
        </p:txBody>
      </p:sp>
      <p:sp>
        <p:nvSpPr>
          <p:cNvPr id="44" name="S07_IndexFileCard1"/>
          <p:cNvSpPr/>
          <p:nvPr/>
        </p:nvSpPr>
        <p:spPr>
          <a:xfrm>
            <a:off x="4718304" y="2377440"/>
            <a:ext cx="2560320" cy="566928"/>
          </a:xfrm>
          <a:prstGeom prst="roundRect">
            <a:avLst>
              <a:gd name="adj" fmla="val 12903"/>
            </a:avLst>
          </a:prstGeom>
          <a:solidFill>
            <a:srgbClr val="1D2E4D"/>
          </a:solidFill>
          <a:ln w="12700">
            <a:solidFill>
              <a:srgbClr val="334B73"/>
            </a:solidFill>
            <a:prstDash val="solid"/>
          </a:ln>
        </p:spPr>
      </p:sp>
      <p:sp>
        <p:nvSpPr>
          <p:cNvPr id="45" name="S07_IndexFileAccent1"/>
          <p:cNvSpPr/>
          <p:nvPr/>
        </p:nvSpPr>
        <p:spPr>
          <a:xfrm>
            <a:off x="4718304" y="2377440"/>
            <a:ext cx="64008" cy="566928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6" name="S07_IndexFileTitle1"/>
          <p:cNvSpPr/>
          <p:nvPr/>
        </p:nvSpPr>
        <p:spPr>
          <a:xfrm>
            <a:off x="4937760" y="246888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manifest.yaml</a:t>
            </a:r>
            <a:endParaRPr lang="en-US" sz="1170" dirty="0"/>
          </a:p>
        </p:txBody>
      </p:sp>
      <p:sp>
        <p:nvSpPr>
          <p:cNvPr id="47" name="S07_IndexFileSubtitle1"/>
          <p:cNvSpPr/>
          <p:nvPr/>
        </p:nvSpPr>
        <p:spPr>
          <a:xfrm>
            <a:off x="4937760" y="2697480"/>
            <a:ext cx="2057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C5CE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файлы · типы · hash · связи</a:t>
            </a:r>
            <a:endParaRPr lang="en-US" sz="890" dirty="0"/>
          </a:p>
        </p:txBody>
      </p:sp>
      <p:sp>
        <p:nvSpPr>
          <p:cNvPr id="48" name="S07_IndexFileCard2"/>
          <p:cNvSpPr/>
          <p:nvPr/>
        </p:nvSpPr>
        <p:spPr>
          <a:xfrm>
            <a:off x="4718304" y="3136392"/>
            <a:ext cx="2560320" cy="566928"/>
          </a:xfrm>
          <a:prstGeom prst="roundRect">
            <a:avLst>
              <a:gd name="adj" fmla="val 12903"/>
            </a:avLst>
          </a:prstGeom>
          <a:solidFill>
            <a:srgbClr val="1D2E4D"/>
          </a:solidFill>
          <a:ln w="12700">
            <a:solidFill>
              <a:srgbClr val="334B73"/>
            </a:solidFill>
            <a:prstDash val="solid"/>
          </a:ln>
        </p:spPr>
      </p:sp>
      <p:sp>
        <p:nvSpPr>
          <p:cNvPr id="49" name="S07_IndexFileAccent2"/>
          <p:cNvSpPr/>
          <p:nvPr/>
        </p:nvSpPr>
        <p:spPr>
          <a:xfrm>
            <a:off x="4718304" y="3136392"/>
            <a:ext cx="64008" cy="56692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50" name="S07_IndexFileTitle2"/>
          <p:cNvSpPr/>
          <p:nvPr/>
        </p:nvSpPr>
        <p:spPr>
          <a:xfrm>
            <a:off x="4937760" y="322783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navigation.md</a:t>
            </a:r>
            <a:endParaRPr lang="en-US" sz="1170" dirty="0"/>
          </a:p>
        </p:txBody>
      </p:sp>
      <p:sp>
        <p:nvSpPr>
          <p:cNvPr id="51" name="S07_IndexFileSubtitle2"/>
          <p:cNvSpPr/>
          <p:nvPr/>
        </p:nvSpPr>
        <p:spPr>
          <a:xfrm>
            <a:off x="4937760" y="3456432"/>
            <a:ext cx="2057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C5CE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что читать первым</a:t>
            </a:r>
            <a:endParaRPr lang="en-US" sz="890" dirty="0"/>
          </a:p>
        </p:txBody>
      </p:sp>
      <p:sp>
        <p:nvSpPr>
          <p:cNvPr id="52" name="S07_IndexFileCard3"/>
          <p:cNvSpPr/>
          <p:nvPr/>
        </p:nvSpPr>
        <p:spPr>
          <a:xfrm>
            <a:off x="4718304" y="3895344"/>
            <a:ext cx="2560320" cy="566928"/>
          </a:xfrm>
          <a:prstGeom prst="roundRect">
            <a:avLst>
              <a:gd name="adj" fmla="val 12903"/>
            </a:avLst>
          </a:prstGeom>
          <a:solidFill>
            <a:srgbClr val="1D2E4D"/>
          </a:solidFill>
          <a:ln w="12700">
            <a:solidFill>
              <a:srgbClr val="334B73"/>
            </a:solidFill>
            <a:prstDash val="solid"/>
          </a:ln>
        </p:spPr>
      </p:sp>
      <p:sp>
        <p:nvSpPr>
          <p:cNvPr id="53" name="S07_IndexFileAccent3"/>
          <p:cNvSpPr/>
          <p:nvPr/>
        </p:nvSpPr>
        <p:spPr>
          <a:xfrm>
            <a:off x="4718304" y="3895344"/>
            <a:ext cx="64008" cy="566928"/>
          </a:xfrm>
          <a:prstGeom prst="rect">
            <a:avLst/>
          </a:prstGeom>
          <a:solidFill>
            <a:srgbClr val="7657D5"/>
          </a:solidFill>
          <a:ln w="12700">
            <a:solidFill>
              <a:srgbClr val="7657D5">
                <a:alpha val="0"/>
              </a:srgbClr>
            </a:solidFill>
            <a:prstDash val="solid"/>
          </a:ln>
        </p:spPr>
      </p:sp>
      <p:sp>
        <p:nvSpPr>
          <p:cNvPr id="54" name="S07_IndexFileTitle3"/>
          <p:cNvSpPr/>
          <p:nvPr/>
        </p:nvSpPr>
        <p:spPr>
          <a:xfrm>
            <a:off x="4937760" y="3986784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coverage.md</a:t>
            </a:r>
            <a:endParaRPr lang="en-US" sz="1170" dirty="0"/>
          </a:p>
        </p:txBody>
      </p:sp>
      <p:sp>
        <p:nvSpPr>
          <p:cNvPr id="55" name="S07_IndexFileSubtitle3"/>
          <p:cNvSpPr/>
          <p:nvPr/>
        </p:nvSpPr>
        <p:spPr>
          <a:xfrm>
            <a:off x="4937760" y="4215384"/>
            <a:ext cx="2057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C5CE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что описано / где пробел</a:t>
            </a:r>
            <a:endParaRPr lang="en-US" sz="890" dirty="0"/>
          </a:p>
        </p:txBody>
      </p:sp>
      <p:sp>
        <p:nvSpPr>
          <p:cNvPr id="56" name="S07_IndexFileCard4"/>
          <p:cNvSpPr/>
          <p:nvPr/>
        </p:nvSpPr>
        <p:spPr>
          <a:xfrm>
            <a:off x="4718304" y="4654296"/>
            <a:ext cx="2560320" cy="566928"/>
          </a:xfrm>
          <a:prstGeom prst="roundRect">
            <a:avLst>
              <a:gd name="adj" fmla="val 12903"/>
            </a:avLst>
          </a:prstGeom>
          <a:solidFill>
            <a:srgbClr val="1D2E4D"/>
          </a:solidFill>
          <a:ln w="12700">
            <a:solidFill>
              <a:srgbClr val="334B73"/>
            </a:solidFill>
            <a:prstDash val="solid"/>
          </a:ln>
        </p:spPr>
      </p:sp>
      <p:sp>
        <p:nvSpPr>
          <p:cNvPr id="57" name="S07_IndexFileAccent4"/>
          <p:cNvSpPr/>
          <p:nvPr/>
        </p:nvSpPr>
        <p:spPr>
          <a:xfrm>
            <a:off x="4718304" y="4654296"/>
            <a:ext cx="64008" cy="5669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58" name="S07_IndexFileTitle4"/>
          <p:cNvSpPr/>
          <p:nvPr/>
        </p:nvSpPr>
        <p:spPr>
          <a:xfrm>
            <a:off x="4937760" y="4745736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stale-files.md</a:t>
            </a:r>
            <a:endParaRPr lang="en-US" sz="1170" dirty="0"/>
          </a:p>
        </p:txBody>
      </p:sp>
      <p:sp>
        <p:nvSpPr>
          <p:cNvPr id="59" name="S07_IndexFileSubtitle4"/>
          <p:cNvSpPr/>
          <p:nvPr/>
        </p:nvSpPr>
        <p:spPr>
          <a:xfrm>
            <a:off x="4937760" y="4974336"/>
            <a:ext cx="2057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C5CE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added · modified · deleted</a:t>
            </a:r>
            <a:endParaRPr lang="en-US" sz="890" dirty="0"/>
          </a:p>
        </p:txBody>
      </p:sp>
      <p:sp>
        <p:nvSpPr>
          <p:cNvPr id="60" name="S07_IndexToContext"/>
          <p:cNvSpPr/>
          <p:nvPr/>
        </p:nvSpPr>
        <p:spPr>
          <a:xfrm>
            <a:off x="7534656" y="3675888"/>
            <a:ext cx="283464" cy="914"/>
          </a:xfrm>
          <a:prstGeom prst="line">
            <a:avLst/>
          </a:prstGeom>
          <a:noFill/>
          <a:ln w="21590">
            <a:solidFill>
              <a:srgbClr val="00A6A6"/>
            </a:solidFill>
            <a:prstDash val="solid"/>
            <a:headEnd type="none"/>
            <a:tailEnd type="triangle"/>
          </a:ln>
        </p:spPr>
      </p:sp>
      <p:sp>
        <p:nvSpPr>
          <p:cNvPr id="61" name="S07_ContextMapCard"/>
          <p:cNvSpPr/>
          <p:nvPr/>
        </p:nvSpPr>
        <p:spPr>
          <a:xfrm>
            <a:off x="7882128" y="1444752"/>
            <a:ext cx="3621024" cy="4507992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1.0151285136152831e+33" dist="2.707009369640755e+33" dir="7.558272e+39">
              <a:srgbClr val="22304A">
                <a:alpha val="1.1999999999999999e+39"/>
              </a:srgbClr>
            </a:outerShdw>
          </a:effectLst>
        </p:spPr>
      </p:sp>
      <p:sp>
        <p:nvSpPr>
          <p:cNvPr id="62" name="S07_ContextSelectorLabel_Bg"/>
          <p:cNvSpPr/>
          <p:nvPr/>
        </p:nvSpPr>
        <p:spPr>
          <a:xfrm>
            <a:off x="8174736" y="1700784"/>
            <a:ext cx="1883664" cy="365760"/>
          </a:xfrm>
          <a:prstGeom prst="roundRect">
            <a:avLst>
              <a:gd name="adj" fmla="val 20000"/>
            </a:avLst>
          </a:prstGeom>
          <a:solidFill>
            <a:srgbClr val="E5F8F6"/>
          </a:solidFill>
          <a:ln w="12700">
            <a:solidFill>
              <a:srgbClr val="E5F8F6">
                <a:alpha val="0"/>
              </a:srgbClr>
            </a:solidFill>
            <a:prstDash val="solid"/>
          </a:ln>
        </p:spPr>
      </p:sp>
      <p:sp>
        <p:nvSpPr>
          <p:cNvPr id="63" name="S07_ContextSelectorLabel_Text"/>
          <p:cNvSpPr/>
          <p:nvPr/>
        </p:nvSpPr>
        <p:spPr>
          <a:xfrm>
            <a:off x="8174736" y="1705356"/>
            <a:ext cx="188366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CONTEXT SELECTOR</a:t>
            </a:r>
            <a:endParaRPr lang="en-US" sz="1040" dirty="0"/>
          </a:p>
        </p:txBody>
      </p:sp>
      <p:sp>
        <p:nvSpPr>
          <p:cNvPr id="64" name="S07_SelectorEntity_Bg"/>
          <p:cNvSpPr/>
          <p:nvPr/>
        </p:nvSpPr>
        <p:spPr>
          <a:xfrm>
            <a:off x="8183880" y="2313432"/>
            <a:ext cx="658368" cy="292608"/>
          </a:xfrm>
          <a:prstGeom prst="roundRect">
            <a:avLst>
              <a:gd name="adj" fmla="val 25000"/>
            </a:avLst>
          </a:prstGeom>
          <a:solidFill>
            <a:srgbClr val="EAF0FF"/>
          </a:solidFill>
          <a:ln w="12700">
            <a:solidFill>
              <a:srgbClr val="EAF0FF">
                <a:alpha val="0"/>
              </a:srgbClr>
            </a:solidFill>
            <a:prstDash val="solid"/>
          </a:ln>
        </p:spPr>
      </p:sp>
      <p:sp>
        <p:nvSpPr>
          <p:cNvPr id="65" name="S07_SelectorEntity_Text"/>
          <p:cNvSpPr/>
          <p:nvPr/>
        </p:nvSpPr>
        <p:spPr>
          <a:xfrm>
            <a:off x="8183880" y="2318004"/>
            <a:ext cx="6583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entity</a:t>
            </a:r>
            <a:endParaRPr lang="en-US" sz="920" dirty="0"/>
          </a:p>
        </p:txBody>
      </p:sp>
      <p:sp>
        <p:nvSpPr>
          <p:cNvPr id="66" name="S07_SelectorEndpoint_Bg"/>
          <p:cNvSpPr/>
          <p:nvPr/>
        </p:nvSpPr>
        <p:spPr>
          <a:xfrm>
            <a:off x="8924544" y="2313432"/>
            <a:ext cx="749808" cy="292608"/>
          </a:xfrm>
          <a:prstGeom prst="roundRect">
            <a:avLst>
              <a:gd name="adj" fmla="val 25000"/>
            </a:avLst>
          </a:prstGeom>
          <a:solidFill>
            <a:srgbClr val="E5F8F6"/>
          </a:solidFill>
          <a:ln w="12700">
            <a:solidFill>
              <a:srgbClr val="E5F8F6">
                <a:alpha val="0"/>
              </a:srgbClr>
            </a:solidFill>
            <a:prstDash val="solid"/>
          </a:ln>
        </p:spPr>
      </p:sp>
      <p:sp>
        <p:nvSpPr>
          <p:cNvPr id="67" name="S07_SelectorEndpoint_Text"/>
          <p:cNvSpPr/>
          <p:nvPr/>
        </p:nvSpPr>
        <p:spPr>
          <a:xfrm>
            <a:off x="8924544" y="2318004"/>
            <a:ext cx="7498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endpoint</a:t>
            </a:r>
            <a:endParaRPr lang="en-US" sz="920" dirty="0"/>
          </a:p>
        </p:txBody>
      </p:sp>
      <p:sp>
        <p:nvSpPr>
          <p:cNvPr id="68" name="S07_SelectorEvent_Bg"/>
          <p:cNvSpPr/>
          <p:nvPr/>
        </p:nvSpPr>
        <p:spPr>
          <a:xfrm>
            <a:off x="9765792" y="2313432"/>
            <a:ext cx="640080" cy="292608"/>
          </a:xfrm>
          <a:prstGeom prst="roundRect">
            <a:avLst>
              <a:gd name="adj" fmla="val 25000"/>
            </a:avLst>
          </a:prstGeom>
          <a:solidFill>
            <a:srgbClr val="F0ECFF"/>
          </a:solidFill>
          <a:ln w="12700">
            <a:solidFill>
              <a:srgbClr val="F0ECFF">
                <a:alpha val="0"/>
              </a:srgbClr>
            </a:solidFill>
            <a:prstDash val="solid"/>
          </a:ln>
        </p:spPr>
      </p:sp>
      <p:sp>
        <p:nvSpPr>
          <p:cNvPr id="69" name="S07_SelectorEvent_Text"/>
          <p:cNvSpPr/>
          <p:nvPr/>
        </p:nvSpPr>
        <p:spPr>
          <a:xfrm>
            <a:off x="9765792" y="2318004"/>
            <a:ext cx="640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7657D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event</a:t>
            </a:r>
            <a:endParaRPr lang="en-US" sz="920" dirty="0"/>
          </a:p>
        </p:txBody>
      </p:sp>
      <p:sp>
        <p:nvSpPr>
          <p:cNvPr id="70" name="S07_SelectorRelation_Bg"/>
          <p:cNvSpPr/>
          <p:nvPr/>
        </p:nvSpPr>
        <p:spPr>
          <a:xfrm>
            <a:off x="10497312" y="2313432"/>
            <a:ext cx="621792" cy="292608"/>
          </a:xfrm>
          <a:prstGeom prst="roundRect">
            <a:avLst>
              <a:gd name="adj" fmla="val 25000"/>
            </a:avLst>
          </a:prstGeom>
          <a:solidFill>
            <a:srgbClr val="FFF3D9"/>
          </a:solidFill>
          <a:ln w="12700">
            <a:solidFill>
              <a:srgbClr val="FFF3D9">
                <a:alpha val="0"/>
              </a:srgbClr>
            </a:solidFill>
            <a:prstDash val="solid"/>
          </a:ln>
        </p:spPr>
      </p:sp>
      <p:sp>
        <p:nvSpPr>
          <p:cNvPr id="71" name="S07_SelectorRelation_Text"/>
          <p:cNvSpPr/>
          <p:nvPr/>
        </p:nvSpPr>
        <p:spPr>
          <a:xfrm>
            <a:off x="10497312" y="2318004"/>
            <a:ext cx="6217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9A63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relation</a:t>
            </a:r>
            <a:endParaRPr lang="en-US" sz="920" dirty="0"/>
          </a:p>
        </p:txBody>
      </p:sp>
      <p:sp>
        <p:nvSpPr>
          <p:cNvPr id="72" name="S07_ContextChangeCard"/>
          <p:cNvSpPr/>
          <p:nvPr/>
        </p:nvSpPr>
        <p:spPr>
          <a:xfrm>
            <a:off x="9189720" y="3236976"/>
            <a:ext cx="1078992" cy="731520"/>
          </a:xfrm>
          <a:prstGeom prst="roundRect">
            <a:avLst>
              <a:gd name="adj" fmla="val 1000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73" name="S07_ContextChangeText"/>
          <p:cNvSpPr/>
          <p:nvPr/>
        </p:nvSpPr>
        <p:spPr>
          <a:xfrm>
            <a:off x="9290304" y="3456432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change.md</a:t>
            </a:r>
            <a:endParaRPr lang="en-US" sz="1240" dirty="0"/>
          </a:p>
        </p:txBody>
      </p:sp>
      <p:sp>
        <p:nvSpPr>
          <p:cNvPr id="74" name="S07_ContextLink1"/>
          <p:cNvSpPr/>
          <p:nvPr/>
        </p:nvSpPr>
        <p:spPr>
          <a:xfrm flipH="1" flipV="1">
            <a:off x="8567928" y="3218688"/>
            <a:ext cx="1161288" cy="384048"/>
          </a:xfrm>
          <a:prstGeom prst="line">
            <a:avLst/>
          </a:prstGeom>
          <a:noFill/>
          <a:ln w="15240">
            <a:solidFill>
              <a:srgbClr val="2F6BFF"/>
            </a:solidFill>
            <a:prstDash val="solid"/>
            <a:headEnd type="none"/>
            <a:tailEnd type="none"/>
          </a:ln>
        </p:spPr>
      </p:sp>
      <p:sp>
        <p:nvSpPr>
          <p:cNvPr id="75" name="S07_ContextDoc1"/>
          <p:cNvSpPr/>
          <p:nvPr/>
        </p:nvSpPr>
        <p:spPr>
          <a:xfrm>
            <a:off x="8174736" y="2944368"/>
            <a:ext cx="786384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76" name="S07_ContextDocText1"/>
          <p:cNvSpPr/>
          <p:nvPr/>
        </p:nvSpPr>
        <p:spPr>
          <a:xfrm>
            <a:off x="8247888" y="3108960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workflow</a:t>
            </a:r>
            <a:endParaRPr lang="en-US" sz="1050" dirty="0"/>
          </a:p>
        </p:txBody>
      </p:sp>
      <p:sp>
        <p:nvSpPr>
          <p:cNvPr id="77" name="S07_ContextLink2"/>
          <p:cNvSpPr/>
          <p:nvPr/>
        </p:nvSpPr>
        <p:spPr>
          <a:xfrm flipV="1">
            <a:off x="9729216" y="3218688"/>
            <a:ext cx="1289304" cy="384048"/>
          </a:xfrm>
          <a:prstGeom prst="line">
            <a:avLst/>
          </a:prstGeom>
          <a:noFill/>
          <a:ln w="15240">
            <a:solidFill>
              <a:srgbClr val="00A6A6"/>
            </a:solidFill>
            <a:prstDash val="solid"/>
            <a:headEnd type="none"/>
            <a:tailEnd type="none"/>
          </a:ln>
        </p:spPr>
      </p:sp>
      <p:sp>
        <p:nvSpPr>
          <p:cNvPr id="78" name="S07_ContextDoc2"/>
          <p:cNvSpPr/>
          <p:nvPr/>
        </p:nvSpPr>
        <p:spPr>
          <a:xfrm>
            <a:off x="10625328" y="2944368"/>
            <a:ext cx="786384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79" name="S07_ContextDocText2"/>
          <p:cNvSpPr/>
          <p:nvPr/>
        </p:nvSpPr>
        <p:spPr>
          <a:xfrm>
            <a:off x="10698480" y="3108960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API</a:t>
            </a:r>
            <a:endParaRPr lang="en-US" sz="1050" dirty="0"/>
          </a:p>
        </p:txBody>
      </p:sp>
      <p:sp>
        <p:nvSpPr>
          <p:cNvPr id="80" name="S07_ContextLink3"/>
          <p:cNvSpPr/>
          <p:nvPr/>
        </p:nvSpPr>
        <p:spPr>
          <a:xfrm flipH="1">
            <a:off x="8567928" y="3602736"/>
            <a:ext cx="1161288" cy="960120"/>
          </a:xfrm>
          <a:prstGeom prst="line">
            <a:avLst/>
          </a:prstGeom>
          <a:noFill/>
          <a:ln w="15240">
            <a:solidFill>
              <a:srgbClr val="F5A623"/>
            </a:solidFill>
            <a:prstDash val="solid"/>
            <a:headEnd type="none"/>
            <a:tailEnd type="none"/>
          </a:ln>
        </p:spPr>
      </p:sp>
      <p:sp>
        <p:nvSpPr>
          <p:cNvPr id="81" name="S07_ContextDoc3"/>
          <p:cNvSpPr/>
          <p:nvPr/>
        </p:nvSpPr>
        <p:spPr>
          <a:xfrm>
            <a:off x="8174736" y="4288536"/>
            <a:ext cx="786384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2" name="S07_ContextDocText3"/>
          <p:cNvSpPr/>
          <p:nvPr/>
        </p:nvSpPr>
        <p:spPr>
          <a:xfrm>
            <a:off x="8247888" y="4453128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data</a:t>
            </a:r>
            <a:endParaRPr lang="en-US" sz="1050" dirty="0"/>
          </a:p>
        </p:txBody>
      </p:sp>
      <p:sp>
        <p:nvSpPr>
          <p:cNvPr id="83" name="S07_ContextLink4"/>
          <p:cNvSpPr/>
          <p:nvPr/>
        </p:nvSpPr>
        <p:spPr>
          <a:xfrm>
            <a:off x="9729216" y="3602736"/>
            <a:ext cx="1289304" cy="960120"/>
          </a:xfrm>
          <a:prstGeom prst="line">
            <a:avLst/>
          </a:prstGeom>
          <a:noFill/>
          <a:ln w="15240">
            <a:solidFill>
              <a:srgbClr val="7657D5"/>
            </a:solidFill>
            <a:prstDash val="solid"/>
            <a:headEnd type="none"/>
            <a:tailEnd type="none"/>
          </a:ln>
        </p:spPr>
      </p:sp>
      <p:sp>
        <p:nvSpPr>
          <p:cNvPr id="84" name="S07_ContextDoc4"/>
          <p:cNvSpPr/>
          <p:nvPr/>
        </p:nvSpPr>
        <p:spPr>
          <a:xfrm>
            <a:off x="10625328" y="4288536"/>
            <a:ext cx="786384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7657D5"/>
            </a:solidFill>
            <a:prstDash val="solid"/>
          </a:ln>
        </p:spPr>
      </p:sp>
      <p:sp>
        <p:nvSpPr>
          <p:cNvPr id="85" name="S07_ContextDocText4"/>
          <p:cNvSpPr/>
          <p:nvPr/>
        </p:nvSpPr>
        <p:spPr>
          <a:xfrm>
            <a:off x="10698480" y="4453128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657D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rules</a:t>
            </a:r>
            <a:endParaRPr lang="en-US" sz="1050" dirty="0"/>
          </a:p>
        </p:txBody>
      </p:sp>
      <p:sp>
        <p:nvSpPr>
          <p:cNvPr id="86" name="S07_ContextMapResult"/>
          <p:cNvSpPr/>
          <p:nvPr/>
        </p:nvSpPr>
        <p:spPr>
          <a:xfrm>
            <a:off x="8531352" y="5175504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34405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явный список источников</a:t>
            </a:r>
            <a:endParaRPr lang="en-US" sz="1140" dirty="0"/>
          </a:p>
          <a:p>
            <a:pPr algn="ctr" indent="0" marL="0">
              <a:buNone/>
            </a:pPr>
            <a:r>
              <a:rPr lang="en-US" sz="1140" b="1" dirty="0">
                <a:solidFill>
                  <a:srgbClr val="34405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+ причина выбора</a:t>
            </a:r>
            <a:endParaRPr lang="en-US" sz="1140" dirty="0"/>
          </a:p>
        </p:txBody>
      </p:sp>
      <p:sp>
        <p:nvSpPr>
          <p:cNvPr id="87" name="S07_IndexValue_Bg"/>
          <p:cNvSpPr/>
          <p:nvPr/>
        </p:nvSpPr>
        <p:spPr>
          <a:xfrm>
            <a:off x="868680" y="5961888"/>
            <a:ext cx="5166360" cy="365760"/>
          </a:xfrm>
          <a:prstGeom prst="roundRect">
            <a:avLst>
              <a:gd name="adj" fmla="val 20000"/>
            </a:avLst>
          </a:prstGeom>
          <a:solidFill>
            <a:srgbClr val="E5F8F6"/>
          </a:solidFill>
          <a:ln w="12700">
            <a:solidFill>
              <a:srgbClr val="E5F8F6">
                <a:alpha val="0"/>
              </a:srgbClr>
            </a:solidFill>
            <a:prstDash val="solid"/>
          </a:ln>
        </p:spPr>
      </p:sp>
      <p:sp>
        <p:nvSpPr>
          <p:cNvPr id="88" name="S07_IndexValue_Text"/>
          <p:cNvSpPr/>
          <p:nvPr/>
        </p:nvSpPr>
        <p:spPr>
          <a:xfrm>
            <a:off x="868680" y="5966460"/>
            <a:ext cx="51663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Ценность: навигация · связи · целевой контекст</a:t>
            </a:r>
            <a:endParaRPr lang="en-US" sz="1080" dirty="0"/>
          </a:p>
        </p:txBody>
      </p:sp>
      <p:sp>
        <p:nvSpPr>
          <p:cNvPr id="89" name="S07_IndexResponsibility_Bg"/>
          <p:cNvSpPr/>
          <p:nvPr/>
        </p:nvSpPr>
        <p:spPr>
          <a:xfrm>
            <a:off x="6163056" y="5961888"/>
            <a:ext cx="5166360" cy="365760"/>
          </a:xfrm>
          <a:prstGeom prst="roundRect">
            <a:avLst>
              <a:gd name="adj" fmla="val 20000"/>
            </a:avLst>
          </a:prstGeom>
          <a:solidFill>
            <a:srgbClr val="FFF3D9"/>
          </a:solidFill>
          <a:ln w="12700">
            <a:solidFill>
              <a:srgbClr val="FFF3D9">
                <a:alpha val="0"/>
              </a:srgbClr>
            </a:solidFill>
            <a:prstDash val="solid"/>
          </a:ln>
        </p:spPr>
      </p:sp>
      <p:sp>
        <p:nvSpPr>
          <p:cNvPr id="90" name="S07_IndexResponsibility_Text"/>
          <p:cNvSpPr/>
          <p:nvPr/>
        </p:nvSpPr>
        <p:spPr>
          <a:xfrm>
            <a:off x="6163056" y="5966460"/>
            <a:ext cx="51663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9A63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Ответственность: _sdd консистентен и актуален</a:t>
            </a:r>
            <a:endParaRPr lang="en-US" sz="10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8_TopAccent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3" name="S08_SectionLabel"/>
          <p:cNvSpPr/>
          <p:nvPr/>
        </p:nvSpPr>
        <p:spPr>
          <a:xfrm>
            <a:off x="621792" y="2560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ПРОЦЕСС</a:t>
            </a:r>
            <a:endParaRPr lang="en-US" sz="850" dirty="0"/>
          </a:p>
        </p:txBody>
      </p:sp>
      <p:sp>
        <p:nvSpPr>
          <p:cNvPr id="4" name="S08_Title"/>
          <p:cNvSpPr/>
          <p:nvPr/>
        </p:nvSpPr>
        <p:spPr>
          <a:xfrm>
            <a:off x="621792" y="502920"/>
            <a:ext cx="10149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OpenSpec начинается с init — дальше единый lifecycle</a:t>
            </a:r>
            <a:endParaRPr lang="en-US" sz="2850" dirty="0"/>
          </a:p>
        </p:txBody>
      </p:sp>
      <p:sp>
        <p:nvSpPr>
          <p:cNvPr id="5" name="S08_Subtitle"/>
          <p:cNvSpPr/>
          <p:nvPr/>
        </p:nvSpPr>
        <p:spPr>
          <a:xfrm>
            <a:off x="640080" y="1014984"/>
            <a:ext cx="10469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 этому моменту master specification уже существует в MD и Git.</a:t>
            </a:r>
            <a:endParaRPr lang="en-US" sz="1320" dirty="0"/>
          </a:p>
        </p:txBody>
      </p:sp>
      <p:sp>
        <p:nvSpPr>
          <p:cNvPr id="6" name="S08_DeckLabel"/>
          <p:cNvSpPr/>
          <p:nvPr/>
        </p:nvSpPr>
        <p:spPr>
          <a:xfrm>
            <a:off x="9921240" y="25603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spc="100" kern="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 SPEC · SDD</a:t>
            </a:r>
            <a:endParaRPr lang="en-US" sz="820" dirty="0"/>
          </a:p>
        </p:txBody>
      </p:sp>
      <p:sp>
        <p:nvSpPr>
          <p:cNvPr id="7" name="S08_SlideNumber"/>
          <p:cNvSpPr/>
          <p:nvPr/>
        </p:nvSpPr>
        <p:spPr>
          <a:xfrm>
            <a:off x="11375136" y="647395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3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08</a:t>
            </a:r>
            <a:endParaRPr lang="en-US" sz="830" dirty="0"/>
          </a:p>
        </p:txBody>
      </p:sp>
      <p:sp>
        <p:nvSpPr>
          <p:cNvPr id="8" name="S08_FooterLine"/>
          <p:cNvSpPr/>
          <p:nvPr/>
        </p:nvSpPr>
        <p:spPr>
          <a:xfrm>
            <a:off x="621792" y="6419088"/>
            <a:ext cx="10972800" cy="914"/>
          </a:xfrm>
          <a:prstGeom prst="line">
            <a:avLst/>
          </a:prstGeom>
          <a:noFill/>
          <a:ln w="9525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10" name="S08_WorkflowLane1"/>
          <p:cNvSpPr/>
          <p:nvPr/>
        </p:nvSpPr>
        <p:spPr>
          <a:xfrm>
            <a:off x="658368" y="1444752"/>
            <a:ext cx="7818120" cy="813816"/>
          </a:xfrm>
          <a:prstGeom prst="roundRect">
            <a:avLst>
              <a:gd name="adj" fmla="val 8989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1" name="S08_WorkflowLaneAccent1"/>
          <p:cNvSpPr/>
          <p:nvPr/>
        </p:nvSpPr>
        <p:spPr>
          <a:xfrm>
            <a:off x="658368" y="1444752"/>
            <a:ext cx="82296" cy="813816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2" name="S08_WorkflowLaneLabel1"/>
          <p:cNvSpPr/>
          <p:nvPr/>
        </p:nvSpPr>
        <p:spPr>
          <a:xfrm>
            <a:off x="932688" y="154533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spc="80" kern="0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СТАРТ OPENSPEC</a:t>
            </a:r>
            <a:endParaRPr lang="en-US" sz="820" dirty="0"/>
          </a:p>
        </p:txBody>
      </p:sp>
      <p:sp>
        <p:nvSpPr>
          <p:cNvPr id="13" name="S08_WorkflowLane1Step1_Bg"/>
          <p:cNvSpPr/>
          <p:nvPr/>
        </p:nvSpPr>
        <p:spPr>
          <a:xfrm>
            <a:off x="2423160" y="1792224"/>
            <a:ext cx="1225296" cy="310896"/>
          </a:xfrm>
          <a:prstGeom prst="roundRect">
            <a:avLst>
              <a:gd name="adj" fmla="val 23529"/>
            </a:avLst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14" name="S08_WorkflowLane1Step1_Text"/>
          <p:cNvSpPr/>
          <p:nvPr/>
        </p:nvSpPr>
        <p:spPr>
          <a:xfrm>
            <a:off x="2423160" y="1796796"/>
            <a:ext cx="12252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34405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Документы в Git</a:t>
            </a:r>
            <a:endParaRPr lang="en-US" sz="940" dirty="0"/>
          </a:p>
        </p:txBody>
      </p:sp>
      <p:sp>
        <p:nvSpPr>
          <p:cNvPr id="15" name="S08_WorkflowLane1Arrow1"/>
          <p:cNvSpPr/>
          <p:nvPr/>
        </p:nvSpPr>
        <p:spPr>
          <a:xfrm>
            <a:off x="3685032" y="1947672"/>
            <a:ext cx="219456" cy="914"/>
          </a:xfrm>
          <a:prstGeom prst="line">
            <a:avLst/>
          </a:prstGeom>
          <a:noFill/>
          <a:ln w="14605">
            <a:solidFill>
              <a:srgbClr val="2F6BFF"/>
            </a:solidFill>
            <a:prstDash val="solid"/>
            <a:headEnd type="none"/>
            <a:tailEnd type="triangle"/>
          </a:ln>
        </p:spPr>
      </p:sp>
      <p:sp>
        <p:nvSpPr>
          <p:cNvPr id="16" name="S08_WorkflowLane1Step2_Bg"/>
          <p:cNvSpPr/>
          <p:nvPr/>
        </p:nvSpPr>
        <p:spPr>
          <a:xfrm>
            <a:off x="3950208" y="1792224"/>
            <a:ext cx="1225296" cy="310896"/>
          </a:xfrm>
          <a:prstGeom prst="roundRect">
            <a:avLst>
              <a:gd name="adj" fmla="val 23529"/>
            </a:avLst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17" name="S08_WorkflowLane1Step2_Text"/>
          <p:cNvSpPr/>
          <p:nvPr/>
        </p:nvSpPr>
        <p:spPr>
          <a:xfrm>
            <a:off x="3950208" y="1796796"/>
            <a:ext cx="12252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34405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init-master-spec</a:t>
            </a:r>
            <a:endParaRPr lang="en-US" sz="940" dirty="0"/>
          </a:p>
        </p:txBody>
      </p:sp>
      <p:sp>
        <p:nvSpPr>
          <p:cNvPr id="18" name="S08_WorkflowLane1Arrow2"/>
          <p:cNvSpPr/>
          <p:nvPr/>
        </p:nvSpPr>
        <p:spPr>
          <a:xfrm>
            <a:off x="5212080" y="1947672"/>
            <a:ext cx="219456" cy="914"/>
          </a:xfrm>
          <a:prstGeom prst="line">
            <a:avLst/>
          </a:prstGeom>
          <a:noFill/>
          <a:ln w="14605">
            <a:solidFill>
              <a:srgbClr val="2F6BFF"/>
            </a:solidFill>
            <a:prstDash val="solid"/>
            <a:headEnd type="none"/>
            <a:tailEnd type="triangle"/>
          </a:ln>
        </p:spPr>
      </p:sp>
      <p:sp>
        <p:nvSpPr>
          <p:cNvPr id="19" name="S08_WorkflowLane1Step3_Bg"/>
          <p:cNvSpPr/>
          <p:nvPr/>
        </p:nvSpPr>
        <p:spPr>
          <a:xfrm>
            <a:off x="5477256" y="1792224"/>
            <a:ext cx="1225296" cy="310896"/>
          </a:xfrm>
          <a:prstGeom prst="roundRect">
            <a:avLst>
              <a:gd name="adj" fmla="val 23529"/>
            </a:avLst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20" name="S08_WorkflowLane1Step3_Text"/>
          <p:cNvSpPr/>
          <p:nvPr/>
        </p:nvSpPr>
        <p:spPr>
          <a:xfrm>
            <a:off x="5477256" y="1796796"/>
            <a:ext cx="12252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34405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_sdd index</a:t>
            </a:r>
            <a:endParaRPr lang="en-US" sz="940" dirty="0"/>
          </a:p>
        </p:txBody>
      </p:sp>
      <p:sp>
        <p:nvSpPr>
          <p:cNvPr id="21" name="S08_WorkflowLane1Arrow3"/>
          <p:cNvSpPr/>
          <p:nvPr/>
        </p:nvSpPr>
        <p:spPr>
          <a:xfrm>
            <a:off x="6739128" y="1947672"/>
            <a:ext cx="219456" cy="914"/>
          </a:xfrm>
          <a:prstGeom prst="line">
            <a:avLst/>
          </a:prstGeom>
          <a:noFill/>
          <a:ln w="14605">
            <a:solidFill>
              <a:srgbClr val="2F6BFF"/>
            </a:solidFill>
            <a:prstDash val="solid"/>
            <a:headEnd type="none"/>
            <a:tailEnd type="triangle"/>
          </a:ln>
        </p:spPr>
      </p:sp>
      <p:sp>
        <p:nvSpPr>
          <p:cNvPr id="22" name="S08_WorkflowLane1Step4_Bg"/>
          <p:cNvSpPr/>
          <p:nvPr/>
        </p:nvSpPr>
        <p:spPr>
          <a:xfrm>
            <a:off x="7004304" y="1792224"/>
            <a:ext cx="1225296" cy="310896"/>
          </a:xfrm>
          <a:prstGeom prst="roundRect">
            <a:avLst>
              <a:gd name="adj" fmla="val 23529"/>
            </a:avLst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23" name="S08_WorkflowLane1Step4_Text"/>
          <p:cNvSpPr/>
          <p:nvPr/>
        </p:nvSpPr>
        <p:spPr>
          <a:xfrm>
            <a:off x="7004304" y="1796796"/>
            <a:ext cx="12252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spec подключена</a:t>
            </a:r>
            <a:endParaRPr lang="en-US" sz="940" dirty="0"/>
          </a:p>
        </p:txBody>
      </p:sp>
      <p:sp>
        <p:nvSpPr>
          <p:cNvPr id="24" name="S08_WorkflowLane2"/>
          <p:cNvSpPr/>
          <p:nvPr/>
        </p:nvSpPr>
        <p:spPr>
          <a:xfrm>
            <a:off x="658368" y="2468880"/>
            <a:ext cx="7818120" cy="813816"/>
          </a:xfrm>
          <a:prstGeom prst="roundRect">
            <a:avLst>
              <a:gd name="adj" fmla="val 8989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25" name="S08_WorkflowLaneAccent2"/>
          <p:cNvSpPr/>
          <p:nvPr/>
        </p:nvSpPr>
        <p:spPr>
          <a:xfrm>
            <a:off x="658368" y="2468880"/>
            <a:ext cx="82296" cy="813816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26" name="S08_WorkflowLaneLabel2"/>
          <p:cNvSpPr/>
          <p:nvPr/>
        </p:nvSpPr>
        <p:spPr>
          <a:xfrm>
            <a:off x="932688" y="256946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spc="80" kern="0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ОСНОВНОЙ ПУТЬ</a:t>
            </a:r>
            <a:endParaRPr lang="en-US" sz="820" dirty="0"/>
          </a:p>
        </p:txBody>
      </p:sp>
      <p:sp>
        <p:nvSpPr>
          <p:cNvPr id="27" name="S08_WorkflowLane2Step1_Bg"/>
          <p:cNvSpPr/>
          <p:nvPr/>
        </p:nvSpPr>
        <p:spPr>
          <a:xfrm>
            <a:off x="2423160" y="2816352"/>
            <a:ext cx="1591056" cy="310896"/>
          </a:xfrm>
          <a:prstGeom prst="roundRect">
            <a:avLst>
              <a:gd name="adj" fmla="val 23529"/>
            </a:avLst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28" name="S08_WorkflowLane2Step1_Text"/>
          <p:cNvSpPr/>
          <p:nvPr/>
        </p:nvSpPr>
        <p:spPr>
          <a:xfrm>
            <a:off x="2423160" y="2820924"/>
            <a:ext cx="15910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34405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Новое требование</a:t>
            </a:r>
            <a:endParaRPr lang="en-US" sz="940" dirty="0"/>
          </a:p>
        </p:txBody>
      </p:sp>
      <p:sp>
        <p:nvSpPr>
          <p:cNvPr id="29" name="S08_WorkflowLane2Arrow1"/>
          <p:cNvSpPr/>
          <p:nvPr/>
        </p:nvSpPr>
        <p:spPr>
          <a:xfrm>
            <a:off x="4050792" y="2971800"/>
            <a:ext cx="393192" cy="914"/>
          </a:xfrm>
          <a:prstGeom prst="line">
            <a:avLst/>
          </a:prstGeom>
          <a:noFill/>
          <a:ln w="14605">
            <a:solidFill>
              <a:srgbClr val="00A6A6"/>
            </a:solidFill>
            <a:prstDash val="solid"/>
            <a:headEnd type="none"/>
            <a:tailEnd type="triangle"/>
          </a:ln>
        </p:spPr>
      </p:sp>
      <p:sp>
        <p:nvSpPr>
          <p:cNvPr id="30" name="S08_WorkflowLane2Step2_Bg"/>
          <p:cNvSpPr/>
          <p:nvPr/>
        </p:nvSpPr>
        <p:spPr>
          <a:xfrm>
            <a:off x="4489704" y="2816352"/>
            <a:ext cx="1591056" cy="310896"/>
          </a:xfrm>
          <a:prstGeom prst="roundRect">
            <a:avLst>
              <a:gd name="adj" fmla="val 23529"/>
            </a:avLst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31" name="S08_WorkflowLane2Step2_Text"/>
          <p:cNvSpPr/>
          <p:nvPr/>
        </p:nvSpPr>
        <p:spPr>
          <a:xfrm>
            <a:off x="4489704" y="2820924"/>
            <a:ext cx="15910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34405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propose</a:t>
            </a:r>
            <a:endParaRPr lang="en-US" sz="940" dirty="0"/>
          </a:p>
        </p:txBody>
      </p:sp>
      <p:sp>
        <p:nvSpPr>
          <p:cNvPr id="32" name="S08_WorkflowLane2Arrow2"/>
          <p:cNvSpPr/>
          <p:nvPr/>
        </p:nvSpPr>
        <p:spPr>
          <a:xfrm>
            <a:off x="6117336" y="2971800"/>
            <a:ext cx="393192" cy="914"/>
          </a:xfrm>
          <a:prstGeom prst="line">
            <a:avLst/>
          </a:prstGeom>
          <a:noFill/>
          <a:ln w="14605">
            <a:solidFill>
              <a:srgbClr val="00A6A6"/>
            </a:solidFill>
            <a:prstDash val="solid"/>
            <a:headEnd type="none"/>
            <a:tailEnd type="triangle"/>
          </a:ln>
        </p:spPr>
      </p:sp>
      <p:sp>
        <p:nvSpPr>
          <p:cNvPr id="33" name="S08_WorkflowLane2Step3_Bg"/>
          <p:cNvSpPr/>
          <p:nvPr/>
        </p:nvSpPr>
        <p:spPr>
          <a:xfrm>
            <a:off x="6556248" y="2816352"/>
            <a:ext cx="1591056" cy="310896"/>
          </a:xfrm>
          <a:prstGeom prst="roundRect">
            <a:avLst>
              <a:gd name="adj" fmla="val 23529"/>
            </a:avLst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34" name="S08_WorkflowLane2Step3_Text"/>
          <p:cNvSpPr/>
          <p:nvPr/>
        </p:nvSpPr>
        <p:spPr>
          <a:xfrm>
            <a:off x="6556248" y="2820924"/>
            <a:ext cx="15910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change.md</a:t>
            </a:r>
            <a:endParaRPr lang="en-US" sz="940" dirty="0"/>
          </a:p>
        </p:txBody>
      </p:sp>
      <p:sp>
        <p:nvSpPr>
          <p:cNvPr id="35" name="S08_WorkflowConverge2"/>
          <p:cNvSpPr/>
          <p:nvPr/>
        </p:nvSpPr>
        <p:spPr>
          <a:xfrm flipV="1">
            <a:off x="8476488" y="2807208"/>
            <a:ext cx="429768" cy="73152"/>
          </a:xfrm>
          <a:prstGeom prst="line">
            <a:avLst/>
          </a:prstGeom>
          <a:noFill/>
          <a:ln w="15875">
            <a:solidFill>
              <a:srgbClr val="00A6A6"/>
            </a:solidFill>
            <a:prstDash val="solid"/>
            <a:headEnd type="none"/>
            <a:tailEnd type="triangle"/>
          </a:ln>
        </p:spPr>
      </p:sp>
      <p:sp>
        <p:nvSpPr>
          <p:cNvPr id="36" name="S08_WorkflowLane3"/>
          <p:cNvSpPr/>
          <p:nvPr/>
        </p:nvSpPr>
        <p:spPr>
          <a:xfrm>
            <a:off x="658368" y="3493008"/>
            <a:ext cx="7818120" cy="813816"/>
          </a:xfrm>
          <a:prstGeom prst="roundRect">
            <a:avLst>
              <a:gd name="adj" fmla="val 8989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37" name="S08_WorkflowLaneAccent3"/>
          <p:cNvSpPr/>
          <p:nvPr/>
        </p:nvSpPr>
        <p:spPr>
          <a:xfrm>
            <a:off x="658368" y="3493008"/>
            <a:ext cx="82296" cy="81381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38" name="S08_WorkflowLaneLabel3"/>
          <p:cNvSpPr/>
          <p:nvPr/>
        </p:nvSpPr>
        <p:spPr>
          <a:xfrm>
            <a:off x="932688" y="359359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spc="80" kern="0" dirty="0">
                <a:solidFill>
                  <a:srgbClr val="F5A62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ДОПОЛНИТЕЛЬНЫЙ ВХОД</a:t>
            </a:r>
            <a:endParaRPr lang="en-US" sz="820" dirty="0"/>
          </a:p>
        </p:txBody>
      </p:sp>
      <p:sp>
        <p:nvSpPr>
          <p:cNvPr id="39" name="S08_WorkflowLane3Step1_Bg"/>
          <p:cNvSpPr/>
          <p:nvPr/>
        </p:nvSpPr>
        <p:spPr>
          <a:xfrm>
            <a:off x="2423160" y="3840480"/>
            <a:ext cx="1591056" cy="310896"/>
          </a:xfrm>
          <a:prstGeom prst="roundRect">
            <a:avLst>
              <a:gd name="adj" fmla="val 23529"/>
            </a:avLst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40" name="S08_WorkflowLane3Step1_Text"/>
          <p:cNvSpPr/>
          <p:nvPr/>
        </p:nvSpPr>
        <p:spPr>
          <a:xfrm>
            <a:off x="2423160" y="3845052"/>
            <a:ext cx="15910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34405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Изменённые docs</a:t>
            </a:r>
            <a:endParaRPr lang="en-US" sz="940" dirty="0"/>
          </a:p>
        </p:txBody>
      </p:sp>
      <p:sp>
        <p:nvSpPr>
          <p:cNvPr id="41" name="S08_WorkflowLane3Arrow1"/>
          <p:cNvSpPr/>
          <p:nvPr/>
        </p:nvSpPr>
        <p:spPr>
          <a:xfrm>
            <a:off x="4050792" y="3995928"/>
            <a:ext cx="393192" cy="914"/>
          </a:xfrm>
          <a:prstGeom prst="line">
            <a:avLst/>
          </a:prstGeom>
          <a:noFill/>
          <a:ln w="14605">
            <a:solidFill>
              <a:srgbClr val="F5A623"/>
            </a:solidFill>
            <a:prstDash val="solid"/>
            <a:headEnd type="none"/>
            <a:tailEnd type="triangle"/>
          </a:ln>
        </p:spPr>
      </p:sp>
      <p:sp>
        <p:nvSpPr>
          <p:cNvPr id="42" name="S08_WorkflowLane3Step2_Bg"/>
          <p:cNvSpPr/>
          <p:nvPr/>
        </p:nvSpPr>
        <p:spPr>
          <a:xfrm>
            <a:off x="4489704" y="3840480"/>
            <a:ext cx="1591056" cy="310896"/>
          </a:xfrm>
          <a:prstGeom prst="roundRect">
            <a:avLst>
              <a:gd name="adj" fmla="val 23529"/>
            </a:avLst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43" name="S08_WorkflowLane3Step2_Text"/>
          <p:cNvSpPr/>
          <p:nvPr/>
        </p:nvSpPr>
        <p:spPr>
          <a:xfrm>
            <a:off x="4489704" y="3845052"/>
            <a:ext cx="15910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34405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change-from-diff</a:t>
            </a:r>
            <a:endParaRPr lang="en-US" sz="940" dirty="0"/>
          </a:p>
        </p:txBody>
      </p:sp>
      <p:sp>
        <p:nvSpPr>
          <p:cNvPr id="44" name="S08_WorkflowLane3Arrow2"/>
          <p:cNvSpPr/>
          <p:nvPr/>
        </p:nvSpPr>
        <p:spPr>
          <a:xfrm>
            <a:off x="6117336" y="3995928"/>
            <a:ext cx="393192" cy="914"/>
          </a:xfrm>
          <a:prstGeom prst="line">
            <a:avLst/>
          </a:prstGeom>
          <a:noFill/>
          <a:ln w="14605">
            <a:solidFill>
              <a:srgbClr val="F5A623"/>
            </a:solidFill>
            <a:prstDash val="solid"/>
            <a:headEnd type="none"/>
            <a:tailEnd type="triangle"/>
          </a:ln>
        </p:spPr>
      </p:sp>
      <p:sp>
        <p:nvSpPr>
          <p:cNvPr id="45" name="S08_WorkflowLane3Step3_Bg"/>
          <p:cNvSpPr/>
          <p:nvPr/>
        </p:nvSpPr>
        <p:spPr>
          <a:xfrm>
            <a:off x="6556248" y="3840480"/>
            <a:ext cx="1591056" cy="310896"/>
          </a:xfrm>
          <a:prstGeom prst="roundRect">
            <a:avLst>
              <a:gd name="adj" fmla="val 23529"/>
            </a:avLst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46" name="S08_WorkflowLane3Step3_Text"/>
          <p:cNvSpPr/>
          <p:nvPr/>
        </p:nvSpPr>
        <p:spPr>
          <a:xfrm>
            <a:off x="6556248" y="3845052"/>
            <a:ext cx="15910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change.md + evidence</a:t>
            </a:r>
            <a:endParaRPr lang="en-US" sz="940" dirty="0"/>
          </a:p>
        </p:txBody>
      </p:sp>
      <p:sp>
        <p:nvSpPr>
          <p:cNvPr id="47" name="S08_WorkflowConverge3"/>
          <p:cNvSpPr/>
          <p:nvPr/>
        </p:nvSpPr>
        <p:spPr>
          <a:xfrm flipV="1">
            <a:off x="8476488" y="2807208"/>
            <a:ext cx="429768" cy="1097280"/>
          </a:xfrm>
          <a:prstGeom prst="line">
            <a:avLst/>
          </a:prstGeom>
          <a:noFill/>
          <a:ln w="15875">
            <a:solidFill>
              <a:srgbClr val="F5A623"/>
            </a:solidFill>
            <a:prstDash val="solid"/>
            <a:headEnd type="none"/>
            <a:tailEnd type="triangle"/>
          </a:ln>
        </p:spPr>
      </p:sp>
      <p:sp>
        <p:nvSpPr>
          <p:cNvPr id="48" name="S08_UnifiedChangeCard"/>
          <p:cNvSpPr/>
          <p:nvPr/>
        </p:nvSpPr>
        <p:spPr>
          <a:xfrm>
            <a:off x="8979408" y="1993392"/>
            <a:ext cx="2523744" cy="1627632"/>
          </a:xfrm>
          <a:prstGeom prst="roundRect">
            <a:avLst>
              <a:gd name="adj" fmla="val 4494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1.2892132122914095e+37" dist="3.437901899443759e+37" dir="4.5349632000000006e+44">
              <a:srgbClr val="22304A">
                <a:alpha val="1.1999999999999999e+44"/>
              </a:srgbClr>
            </a:outerShdw>
          </a:effectLst>
        </p:spPr>
      </p:sp>
      <p:sp>
        <p:nvSpPr>
          <p:cNvPr id="49" name="S08_UnifiedChangeLabel_Bg"/>
          <p:cNvSpPr/>
          <p:nvPr/>
        </p:nvSpPr>
        <p:spPr>
          <a:xfrm>
            <a:off x="9491472" y="2267712"/>
            <a:ext cx="1499616" cy="347472"/>
          </a:xfrm>
          <a:prstGeom prst="roundRect">
            <a:avLst>
              <a:gd name="adj" fmla="val 21053"/>
            </a:avLst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50" name="S08_UnifiedChangeLabel_Text"/>
          <p:cNvSpPr/>
          <p:nvPr/>
        </p:nvSpPr>
        <p:spPr>
          <a:xfrm>
            <a:off x="9491472" y="2272284"/>
            <a:ext cx="14996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ЕДИНАЯ ДЕЛЬТА</a:t>
            </a:r>
            <a:endParaRPr lang="en-US" sz="1020" dirty="0"/>
          </a:p>
        </p:txBody>
      </p:sp>
      <p:sp>
        <p:nvSpPr>
          <p:cNvPr id="51" name="S08_UnifiedChangeTitle"/>
          <p:cNvSpPr/>
          <p:nvPr/>
        </p:nvSpPr>
        <p:spPr>
          <a:xfrm>
            <a:off x="9400032" y="2761488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change.md</a:t>
            </a:r>
            <a:endParaRPr lang="en-US" sz="1900" dirty="0"/>
          </a:p>
        </p:txBody>
      </p:sp>
      <p:sp>
        <p:nvSpPr>
          <p:cNvPr id="52" name="S08_UnifiedChangeSubtitle"/>
          <p:cNvSpPr/>
          <p:nvPr/>
        </p:nvSpPr>
        <p:spPr>
          <a:xfrm>
            <a:off x="9290304" y="3182112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C5CE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sources · mode · evidence</a:t>
            </a:r>
            <a:endParaRPr lang="en-US" sz="950" dirty="0"/>
          </a:p>
        </p:txBody>
      </p:sp>
      <p:sp>
        <p:nvSpPr>
          <p:cNvPr id="53" name="S08_SharedLifecycleLabel"/>
          <p:cNvSpPr/>
          <p:nvPr/>
        </p:nvSpPr>
        <p:spPr>
          <a:xfrm>
            <a:off x="658368" y="459943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ОБЩИЙ LIFECYCLE</a:t>
            </a:r>
            <a:endParaRPr lang="en-US" sz="850" dirty="0"/>
          </a:p>
        </p:txBody>
      </p:sp>
      <p:sp>
        <p:nvSpPr>
          <p:cNvPr id="54" name="S08_CommonLifecycleCard1"/>
          <p:cNvSpPr/>
          <p:nvPr/>
        </p:nvSpPr>
        <p:spPr>
          <a:xfrm>
            <a:off x="1298448" y="4956048"/>
            <a:ext cx="157276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7657D5"/>
            </a:solidFill>
            <a:prstDash val="solid"/>
          </a:ln>
        </p:spPr>
      </p:sp>
      <p:sp>
        <p:nvSpPr>
          <p:cNvPr id="55" name="S08_CommonLifecycleText1"/>
          <p:cNvSpPr/>
          <p:nvPr/>
        </p:nvSpPr>
        <p:spPr>
          <a:xfrm>
            <a:off x="1371600" y="5138928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7657D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review / approve</a:t>
            </a:r>
            <a:endParaRPr lang="en-US" sz="1180" dirty="0"/>
          </a:p>
        </p:txBody>
      </p:sp>
      <p:sp>
        <p:nvSpPr>
          <p:cNvPr id="56" name="S08_CommonLifecycleArrow1"/>
          <p:cNvSpPr/>
          <p:nvPr/>
        </p:nvSpPr>
        <p:spPr>
          <a:xfrm>
            <a:off x="2926080" y="5294376"/>
            <a:ext cx="356616" cy="914"/>
          </a:xfrm>
          <a:prstGeom prst="line">
            <a:avLst/>
          </a:prstGeom>
          <a:noFill/>
          <a:ln w="1651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57" name="S08_CommonLifecycleCard2"/>
          <p:cNvSpPr/>
          <p:nvPr/>
        </p:nvSpPr>
        <p:spPr>
          <a:xfrm>
            <a:off x="3374136" y="4956048"/>
            <a:ext cx="157276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7657D5"/>
            </a:solidFill>
            <a:prstDash val="solid"/>
          </a:ln>
        </p:spPr>
      </p:sp>
      <p:sp>
        <p:nvSpPr>
          <p:cNvPr id="58" name="S08_CommonLifecycleText2"/>
          <p:cNvSpPr/>
          <p:nvPr/>
        </p:nvSpPr>
        <p:spPr>
          <a:xfrm>
            <a:off x="3447288" y="5138928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7657D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design?</a:t>
            </a:r>
            <a:endParaRPr lang="en-US" sz="1180" dirty="0"/>
          </a:p>
        </p:txBody>
      </p:sp>
      <p:sp>
        <p:nvSpPr>
          <p:cNvPr id="59" name="S08_CommonLifecycleArrow2"/>
          <p:cNvSpPr/>
          <p:nvPr/>
        </p:nvSpPr>
        <p:spPr>
          <a:xfrm>
            <a:off x="5001768" y="5294376"/>
            <a:ext cx="356616" cy="914"/>
          </a:xfrm>
          <a:prstGeom prst="line">
            <a:avLst/>
          </a:prstGeom>
          <a:noFill/>
          <a:ln w="1651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60" name="S08_CommonLifecycleCard3"/>
          <p:cNvSpPr/>
          <p:nvPr/>
        </p:nvSpPr>
        <p:spPr>
          <a:xfrm>
            <a:off x="5449824" y="4956048"/>
            <a:ext cx="157276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61" name="S08_CommonLifecycleText3"/>
          <p:cNvSpPr/>
          <p:nvPr/>
        </p:nvSpPr>
        <p:spPr>
          <a:xfrm>
            <a:off x="5522976" y="5138928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implement</a:t>
            </a:r>
            <a:endParaRPr lang="en-US" sz="1180" dirty="0"/>
          </a:p>
        </p:txBody>
      </p:sp>
      <p:sp>
        <p:nvSpPr>
          <p:cNvPr id="62" name="S08_CommonLifecycleArrow3"/>
          <p:cNvSpPr/>
          <p:nvPr/>
        </p:nvSpPr>
        <p:spPr>
          <a:xfrm>
            <a:off x="7077456" y="5294376"/>
            <a:ext cx="356616" cy="914"/>
          </a:xfrm>
          <a:prstGeom prst="line">
            <a:avLst/>
          </a:prstGeom>
          <a:noFill/>
          <a:ln w="1651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63" name="S08_CommonLifecycleCard4"/>
          <p:cNvSpPr/>
          <p:nvPr/>
        </p:nvSpPr>
        <p:spPr>
          <a:xfrm>
            <a:off x="7525512" y="4956048"/>
            <a:ext cx="157276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64" name="S08_CommonLifecycleText4"/>
          <p:cNvSpPr/>
          <p:nvPr/>
        </p:nvSpPr>
        <p:spPr>
          <a:xfrm>
            <a:off x="7598664" y="5138928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apply / verify</a:t>
            </a:r>
            <a:endParaRPr lang="en-US" sz="1180" dirty="0"/>
          </a:p>
        </p:txBody>
      </p:sp>
      <p:sp>
        <p:nvSpPr>
          <p:cNvPr id="65" name="S08_CommonLifecycleArrow4"/>
          <p:cNvSpPr/>
          <p:nvPr/>
        </p:nvSpPr>
        <p:spPr>
          <a:xfrm>
            <a:off x="9153144" y="5294376"/>
            <a:ext cx="356616" cy="914"/>
          </a:xfrm>
          <a:prstGeom prst="line">
            <a:avLst/>
          </a:prstGeom>
          <a:noFill/>
          <a:ln w="1651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66" name="S08_CommonLifecycleCard5"/>
          <p:cNvSpPr/>
          <p:nvPr/>
        </p:nvSpPr>
        <p:spPr>
          <a:xfrm>
            <a:off x="9601200" y="4956048"/>
            <a:ext cx="157276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67" name="S08_CommonLifecycleText5"/>
          <p:cNvSpPr/>
          <p:nvPr/>
        </p:nvSpPr>
        <p:spPr>
          <a:xfrm>
            <a:off x="9674352" y="5138928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archive</a:t>
            </a:r>
            <a:endParaRPr lang="en-US" sz="1180" dirty="0"/>
          </a:p>
        </p:txBody>
      </p:sp>
      <p:sp>
        <p:nvSpPr>
          <p:cNvPr id="68" name="S08_ModeHint_Bg"/>
          <p:cNvSpPr/>
          <p:nvPr/>
        </p:nvSpPr>
        <p:spPr>
          <a:xfrm>
            <a:off x="1993392" y="5879592"/>
            <a:ext cx="8202168" cy="384048"/>
          </a:xfrm>
          <a:prstGeom prst="roundRect">
            <a:avLst>
              <a:gd name="adj" fmla="val 19048"/>
            </a:avLst>
          </a:prstGeom>
          <a:solidFill>
            <a:srgbClr val="E5F8F6"/>
          </a:solidFill>
          <a:ln w="12700">
            <a:solidFill>
              <a:srgbClr val="E5F8F6">
                <a:alpha val="0"/>
              </a:srgbClr>
            </a:solidFill>
            <a:prstDash val="solid"/>
          </a:ln>
        </p:spPr>
      </p:sp>
      <p:sp>
        <p:nvSpPr>
          <p:cNvPr id="69" name="S08_ModeHint_Text"/>
          <p:cNvSpPr/>
          <p:nvPr/>
        </p:nvSpPr>
        <p:spPr>
          <a:xfrm>
            <a:off x="1993392" y="5884164"/>
            <a:ext cx="82021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apply: одна delta → несколько выбранных документов master spec → актуальный _sdd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9_TopAccent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3" name="S09_SectionLabel"/>
          <p:cNvSpPr/>
          <p:nvPr/>
        </p:nvSpPr>
        <p:spPr>
          <a:xfrm>
            <a:off x="621792" y="2560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ЭФФЕКТ И ЗРЕЛОСТЬ</a:t>
            </a:r>
            <a:endParaRPr lang="en-US" sz="850" dirty="0"/>
          </a:p>
        </p:txBody>
      </p:sp>
      <p:sp>
        <p:nvSpPr>
          <p:cNvPr id="4" name="S09_Title"/>
          <p:cNvSpPr/>
          <p:nvPr/>
        </p:nvSpPr>
        <p:spPr>
          <a:xfrm>
            <a:off x="621792" y="502920"/>
            <a:ext cx="10149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Навигационный слой: управляемый контекст и новая дисциплина</a:t>
            </a:r>
            <a:endParaRPr lang="en-US" sz="2850" dirty="0"/>
          </a:p>
        </p:txBody>
      </p:sp>
      <p:sp>
        <p:nvSpPr>
          <p:cNvPr id="5" name="S09_Subtitle"/>
          <p:cNvSpPr/>
          <p:nvPr/>
        </p:nvSpPr>
        <p:spPr>
          <a:xfrm>
            <a:off x="640080" y="1014984"/>
            <a:ext cx="10469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_sdd помогает собирать контекст задачи — и должен оставаться согласованным с документами.</a:t>
            </a:r>
            <a:endParaRPr lang="en-US" sz="1320" dirty="0"/>
          </a:p>
        </p:txBody>
      </p:sp>
      <p:sp>
        <p:nvSpPr>
          <p:cNvPr id="6" name="S09_DeckLabel"/>
          <p:cNvSpPr/>
          <p:nvPr/>
        </p:nvSpPr>
        <p:spPr>
          <a:xfrm>
            <a:off x="9921240" y="25603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spc="100" kern="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 SPEC · SDD</a:t>
            </a:r>
            <a:endParaRPr lang="en-US" sz="820" dirty="0"/>
          </a:p>
        </p:txBody>
      </p:sp>
      <p:sp>
        <p:nvSpPr>
          <p:cNvPr id="7" name="S09_SlideNumber"/>
          <p:cNvSpPr/>
          <p:nvPr/>
        </p:nvSpPr>
        <p:spPr>
          <a:xfrm>
            <a:off x="11375136" y="647395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3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09</a:t>
            </a:r>
            <a:endParaRPr lang="en-US" sz="830" dirty="0"/>
          </a:p>
        </p:txBody>
      </p:sp>
      <p:sp>
        <p:nvSpPr>
          <p:cNvPr id="8" name="S09_FooterLine"/>
          <p:cNvSpPr/>
          <p:nvPr/>
        </p:nvSpPr>
        <p:spPr>
          <a:xfrm>
            <a:off x="621792" y="6419088"/>
            <a:ext cx="10972800" cy="914"/>
          </a:xfrm>
          <a:prstGeom prst="line">
            <a:avLst/>
          </a:prstGeom>
          <a:noFill/>
          <a:ln w="9525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10" name="S09_BenefitCard1"/>
          <p:cNvSpPr/>
          <p:nvPr/>
        </p:nvSpPr>
        <p:spPr>
          <a:xfrm>
            <a:off x="658368" y="1472184"/>
            <a:ext cx="3054096" cy="1408176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1" name="S09_BenefitIcon1_Bg"/>
          <p:cNvSpPr/>
          <p:nvPr/>
        </p:nvSpPr>
        <p:spPr>
          <a:xfrm>
            <a:off x="877824" y="1700784"/>
            <a:ext cx="576072" cy="438912"/>
          </a:xfrm>
          <a:prstGeom prst="roundRect">
            <a:avLst>
              <a:gd name="adj" fmla="val 16667"/>
            </a:avLst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2" name="S09_BenefitIcon1_Text"/>
          <p:cNvSpPr/>
          <p:nvPr/>
        </p:nvSpPr>
        <p:spPr>
          <a:xfrm>
            <a:off x="877824" y="1705356"/>
            <a:ext cx="5760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↳</a:t>
            </a:r>
            <a:endParaRPr lang="en-US" sz="1320" dirty="0"/>
          </a:p>
        </p:txBody>
      </p:sp>
      <p:sp>
        <p:nvSpPr>
          <p:cNvPr id="13" name="S09_BenefitTitle1"/>
          <p:cNvSpPr/>
          <p:nvPr/>
        </p:nvSpPr>
        <p:spPr>
          <a:xfrm>
            <a:off x="1600200" y="170078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Единая карта документов</a:t>
            </a:r>
            <a:endParaRPr lang="en-US" sz="1450" dirty="0"/>
          </a:p>
        </p:txBody>
      </p:sp>
      <p:sp>
        <p:nvSpPr>
          <p:cNvPr id="14" name="S09_BenefitText1"/>
          <p:cNvSpPr/>
          <p:nvPr/>
        </p:nvSpPr>
        <p:spPr>
          <a:xfrm>
            <a:off x="877824" y="225856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структура docs-hub понятна человеку и агенту</a:t>
            </a:r>
            <a:endParaRPr lang="en-US" sz="1120" dirty="0"/>
          </a:p>
        </p:txBody>
      </p:sp>
      <p:sp>
        <p:nvSpPr>
          <p:cNvPr id="15" name="S09_BenefitCard2"/>
          <p:cNvSpPr/>
          <p:nvPr/>
        </p:nvSpPr>
        <p:spPr>
          <a:xfrm>
            <a:off x="4005072" y="1472184"/>
            <a:ext cx="3054096" cy="1408176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6" name="S09_BenefitIcon2_Bg"/>
          <p:cNvSpPr/>
          <p:nvPr/>
        </p:nvSpPr>
        <p:spPr>
          <a:xfrm>
            <a:off x="4224528" y="1700784"/>
            <a:ext cx="576072" cy="438912"/>
          </a:xfrm>
          <a:prstGeom prst="roundRect">
            <a:avLst>
              <a:gd name="adj" fmla="val 16667"/>
            </a:avLst>
          </a:prstGeom>
          <a:solidFill>
            <a:srgbClr val="7657D5"/>
          </a:solidFill>
          <a:ln w="12700">
            <a:solidFill>
              <a:srgbClr val="7657D5">
                <a:alpha val="0"/>
              </a:srgbClr>
            </a:solidFill>
            <a:prstDash val="solid"/>
          </a:ln>
        </p:spPr>
      </p:sp>
      <p:sp>
        <p:nvSpPr>
          <p:cNvPr id="17" name="S09_BenefitIcon2_Text"/>
          <p:cNvSpPr/>
          <p:nvPr/>
        </p:nvSpPr>
        <p:spPr>
          <a:xfrm>
            <a:off x="4224528" y="1705356"/>
            <a:ext cx="5760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{}</a:t>
            </a:r>
            <a:endParaRPr lang="en-US" sz="1320" dirty="0"/>
          </a:p>
        </p:txBody>
      </p:sp>
      <p:sp>
        <p:nvSpPr>
          <p:cNvPr id="18" name="S09_BenefitTitle2"/>
          <p:cNvSpPr/>
          <p:nvPr/>
        </p:nvSpPr>
        <p:spPr>
          <a:xfrm>
            <a:off x="4946904" y="170078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Разные форматы вместе</a:t>
            </a:r>
            <a:endParaRPr lang="en-US" sz="1450" dirty="0"/>
          </a:p>
        </p:txBody>
      </p:sp>
      <p:sp>
        <p:nvSpPr>
          <p:cNvPr id="19" name="S09_BenefitText2"/>
          <p:cNvSpPr/>
          <p:nvPr/>
        </p:nvSpPr>
        <p:spPr>
          <a:xfrm>
            <a:off x="4224528" y="225856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MD, OpenAPI, YAML, DBML и диаграммы входят в общий контекст</a:t>
            </a:r>
            <a:endParaRPr lang="en-US" sz="1120" dirty="0"/>
          </a:p>
        </p:txBody>
      </p:sp>
      <p:sp>
        <p:nvSpPr>
          <p:cNvPr id="20" name="S09_BenefitCard3"/>
          <p:cNvSpPr/>
          <p:nvPr/>
        </p:nvSpPr>
        <p:spPr>
          <a:xfrm>
            <a:off x="658368" y="3182112"/>
            <a:ext cx="3054096" cy="1408176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21" name="S09_BenefitIcon3_Bg"/>
          <p:cNvSpPr/>
          <p:nvPr/>
        </p:nvSpPr>
        <p:spPr>
          <a:xfrm>
            <a:off x="877824" y="3410712"/>
            <a:ext cx="576072" cy="438912"/>
          </a:xfrm>
          <a:prstGeom prst="roundRect">
            <a:avLst>
              <a:gd name="adj" fmla="val 16667"/>
            </a:avLst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22" name="S09_BenefitIcon3_Text"/>
          <p:cNvSpPr/>
          <p:nvPr/>
        </p:nvSpPr>
        <p:spPr>
          <a:xfrm>
            <a:off x="877824" y="3415284"/>
            <a:ext cx="5760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git</a:t>
            </a:r>
            <a:endParaRPr lang="en-US" sz="1320" dirty="0"/>
          </a:p>
        </p:txBody>
      </p:sp>
      <p:sp>
        <p:nvSpPr>
          <p:cNvPr id="23" name="S09_BenefitTitle3"/>
          <p:cNvSpPr/>
          <p:nvPr/>
        </p:nvSpPr>
        <p:spPr>
          <a:xfrm>
            <a:off x="1600200" y="341071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Понятные источники</a:t>
            </a:r>
            <a:endParaRPr lang="en-US" sz="1450" dirty="0"/>
          </a:p>
        </p:txBody>
      </p:sp>
      <p:sp>
        <p:nvSpPr>
          <p:cNvPr id="24" name="S09_BenefitText3"/>
          <p:cNvSpPr/>
          <p:nvPr/>
        </p:nvSpPr>
        <p:spPr>
          <a:xfrm>
            <a:off x="877824" y="3968496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видно, какие материалы повлияли на change</a:t>
            </a:r>
            <a:endParaRPr lang="en-US" sz="1120" dirty="0"/>
          </a:p>
        </p:txBody>
      </p:sp>
      <p:sp>
        <p:nvSpPr>
          <p:cNvPr id="25" name="S09_BenefitCard4"/>
          <p:cNvSpPr/>
          <p:nvPr/>
        </p:nvSpPr>
        <p:spPr>
          <a:xfrm>
            <a:off x="4005072" y="3182112"/>
            <a:ext cx="3054096" cy="1408176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26" name="S09_BenefitIcon4_Bg"/>
          <p:cNvSpPr/>
          <p:nvPr/>
        </p:nvSpPr>
        <p:spPr>
          <a:xfrm>
            <a:off x="4224528" y="3410712"/>
            <a:ext cx="576072" cy="438912"/>
          </a:xfrm>
          <a:prstGeom prst="roundRect">
            <a:avLst>
              <a:gd name="adj" fmla="val 16667"/>
            </a:avLst>
          </a:prstGeom>
          <a:solidFill>
            <a:srgbClr val="16A36A"/>
          </a:solidFill>
          <a:ln w="12700">
            <a:solidFill>
              <a:srgbClr val="16A36A">
                <a:alpha val="0"/>
              </a:srgbClr>
            </a:solidFill>
            <a:prstDash val="solid"/>
          </a:ln>
        </p:spPr>
      </p:sp>
      <p:sp>
        <p:nvSpPr>
          <p:cNvPr id="27" name="S09_BenefitIcon4_Text"/>
          <p:cNvSpPr/>
          <p:nvPr/>
        </p:nvSpPr>
        <p:spPr>
          <a:xfrm>
            <a:off x="4224528" y="3415284"/>
            <a:ext cx="5760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⇄</a:t>
            </a:r>
            <a:endParaRPr lang="en-US" sz="1320" dirty="0"/>
          </a:p>
        </p:txBody>
      </p:sp>
      <p:sp>
        <p:nvSpPr>
          <p:cNvPr id="28" name="S09_BenefitTitle4"/>
          <p:cNvSpPr/>
          <p:nvPr/>
        </p:nvSpPr>
        <p:spPr>
          <a:xfrm>
            <a:off x="4946904" y="341071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Гибкий путь change</a:t>
            </a:r>
            <a:endParaRPr lang="en-US" sz="1450" dirty="0"/>
          </a:p>
        </p:txBody>
      </p:sp>
      <p:sp>
        <p:nvSpPr>
          <p:cNvPr id="29" name="S09_BenefitText4"/>
          <p:cNvSpPr/>
          <p:nvPr/>
        </p:nvSpPr>
        <p:spPr>
          <a:xfrm>
            <a:off x="4224528" y="3968496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через диалог или уже изменённую ветку аналитика</a:t>
            </a:r>
            <a:endParaRPr lang="en-US" sz="1120" dirty="0"/>
          </a:p>
        </p:txBody>
      </p:sp>
      <p:sp>
        <p:nvSpPr>
          <p:cNvPr id="30" name="S09_TradeoffsCard"/>
          <p:cNvSpPr/>
          <p:nvPr/>
        </p:nvSpPr>
        <p:spPr>
          <a:xfrm>
            <a:off x="7333488" y="1472184"/>
            <a:ext cx="4169664" cy="3118104"/>
          </a:xfrm>
          <a:prstGeom prst="roundRect">
            <a:avLst>
              <a:gd name="adj" fmla="val 2346"/>
            </a:avLst>
          </a:prstGeom>
          <a:solidFill>
            <a:srgbClr val="FFF3D9"/>
          </a:solidFill>
          <a:ln w="12700">
            <a:solidFill>
              <a:srgbClr val="F1D28B"/>
            </a:solidFill>
            <a:prstDash val="solid"/>
          </a:ln>
        </p:spPr>
      </p:sp>
      <p:sp>
        <p:nvSpPr>
          <p:cNvPr id="31" name="S09_TradeoffsLabel_Bg"/>
          <p:cNvSpPr/>
          <p:nvPr/>
        </p:nvSpPr>
        <p:spPr>
          <a:xfrm>
            <a:off x="7626096" y="1737360"/>
            <a:ext cx="2066544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09_TradeoffsLabel_Text"/>
          <p:cNvSpPr/>
          <p:nvPr/>
        </p:nvSpPr>
        <p:spPr>
          <a:xfrm>
            <a:off x="7626096" y="1741932"/>
            <a:ext cx="206654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8A5A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ОСОЗНАННАЯ ЦЕНА</a:t>
            </a:r>
            <a:endParaRPr lang="en-US" sz="980" dirty="0"/>
          </a:p>
        </p:txBody>
      </p:sp>
      <p:sp>
        <p:nvSpPr>
          <p:cNvPr id="33" name="S09_Tradeoff1_Dot"/>
          <p:cNvSpPr/>
          <p:nvPr/>
        </p:nvSpPr>
        <p:spPr>
          <a:xfrm>
            <a:off x="7635240" y="2450592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34" name="S09_Tradeoff1_Text"/>
          <p:cNvSpPr/>
          <p:nvPr/>
        </p:nvSpPr>
        <p:spPr>
          <a:xfrm>
            <a:off x="7818120" y="2331720"/>
            <a:ext cx="3337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появляется отдельный навигационный слой</a:t>
            </a:r>
            <a:endParaRPr lang="en-US" sz="1230" dirty="0"/>
          </a:p>
        </p:txBody>
      </p:sp>
      <p:sp>
        <p:nvSpPr>
          <p:cNvPr id="35" name="S09_Tradeoff2_Dot"/>
          <p:cNvSpPr/>
          <p:nvPr/>
        </p:nvSpPr>
        <p:spPr>
          <a:xfrm>
            <a:off x="7635240" y="2944368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36" name="S09_Tradeoff2_Text"/>
          <p:cNvSpPr/>
          <p:nvPr/>
        </p:nvSpPr>
        <p:spPr>
          <a:xfrm>
            <a:off x="7818120" y="2825496"/>
            <a:ext cx="3337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_sdd обновляется вместе с master spec</a:t>
            </a:r>
            <a:endParaRPr lang="en-US" sz="1230" dirty="0"/>
          </a:p>
        </p:txBody>
      </p:sp>
      <p:sp>
        <p:nvSpPr>
          <p:cNvPr id="37" name="S09_Tradeoff3_Dot"/>
          <p:cNvSpPr/>
          <p:nvPr/>
        </p:nvSpPr>
        <p:spPr>
          <a:xfrm>
            <a:off x="7635240" y="3438144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38" name="S09_Tradeoff3_Text"/>
          <p:cNvSpPr/>
          <p:nvPr/>
        </p:nvSpPr>
        <p:spPr>
          <a:xfrm>
            <a:off x="7818120" y="3319272"/>
            <a:ext cx="3337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изменение структуры требует проверки связей</a:t>
            </a:r>
            <a:endParaRPr lang="en-US" sz="1230" dirty="0"/>
          </a:p>
        </p:txBody>
      </p:sp>
      <p:sp>
        <p:nvSpPr>
          <p:cNvPr id="39" name="S09_Tradeoff4_Dot"/>
          <p:cNvSpPr/>
          <p:nvPr/>
        </p:nvSpPr>
        <p:spPr>
          <a:xfrm>
            <a:off x="7635240" y="3931920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40" name="S09_Tradeoff4_Text"/>
          <p:cNvSpPr/>
          <p:nvPr/>
        </p:nvSpPr>
        <p:spPr>
          <a:xfrm>
            <a:off x="7818120" y="3813048"/>
            <a:ext cx="3337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устаревшая карта снижает качество контекста</a:t>
            </a:r>
            <a:endParaRPr lang="en-US" sz="1230" dirty="0"/>
          </a:p>
        </p:txBody>
      </p:sp>
      <p:sp>
        <p:nvSpPr>
          <p:cNvPr id="41" name="S09_RoadmapCard"/>
          <p:cNvSpPr/>
          <p:nvPr/>
        </p:nvSpPr>
        <p:spPr>
          <a:xfrm>
            <a:off x="658368" y="4928616"/>
            <a:ext cx="10844784" cy="1115568"/>
          </a:xfrm>
          <a:prstGeom prst="roundRect">
            <a:avLst>
              <a:gd name="adj" fmla="val 6557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1.6373007796100902e+41" dist="4.366135412293574e+41" dir="2.72097792e+49">
              <a:srgbClr val="22304A">
                <a:alpha val="1.2e+49"/>
              </a:srgbClr>
            </a:outerShdw>
          </a:effectLst>
        </p:spPr>
      </p:sp>
      <p:sp>
        <p:nvSpPr>
          <p:cNvPr id="42" name="S09_RoadmapLabel"/>
          <p:cNvSpPr/>
          <p:nvPr/>
        </p:nvSpPr>
        <p:spPr>
          <a:xfrm>
            <a:off x="896112" y="515721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100" kern="0" dirty="0">
                <a:solidFill>
                  <a:srgbClr val="C5CED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ROADMAP</a:t>
            </a:r>
            <a:endParaRPr lang="en-US" sz="840" dirty="0"/>
          </a:p>
        </p:txBody>
      </p:sp>
      <p:sp>
        <p:nvSpPr>
          <p:cNvPr id="43" name="S09_RoadmapNode1"/>
          <p:cNvSpPr/>
          <p:nvPr/>
        </p:nvSpPr>
        <p:spPr>
          <a:xfrm>
            <a:off x="1828800" y="5239512"/>
            <a:ext cx="246888" cy="246888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4" name="S09_RoadmapTitle1"/>
          <p:cNvSpPr/>
          <p:nvPr/>
        </p:nvSpPr>
        <p:spPr>
          <a:xfrm>
            <a:off x="2185416" y="5093208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Сейчас</a:t>
            </a:r>
            <a:endParaRPr lang="en-US" sz="1030" dirty="0"/>
          </a:p>
        </p:txBody>
      </p:sp>
      <p:sp>
        <p:nvSpPr>
          <p:cNvPr id="45" name="S09_RoadmapText1"/>
          <p:cNvSpPr/>
          <p:nvPr/>
        </p:nvSpPr>
        <p:spPr>
          <a:xfrm>
            <a:off x="2185416" y="5376672"/>
            <a:ext cx="1947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файловая навигация</a:t>
            </a:r>
            <a:endParaRPr lang="en-US" sz="1120" dirty="0"/>
          </a:p>
        </p:txBody>
      </p:sp>
      <p:sp>
        <p:nvSpPr>
          <p:cNvPr id="46" name="S09_RoadmapArrow1"/>
          <p:cNvSpPr/>
          <p:nvPr/>
        </p:nvSpPr>
        <p:spPr>
          <a:xfrm>
            <a:off x="4133088" y="5367528"/>
            <a:ext cx="384048" cy="914"/>
          </a:xfrm>
          <a:prstGeom prst="line">
            <a:avLst/>
          </a:prstGeom>
          <a:noFill/>
          <a:ln w="15875">
            <a:solidFill>
              <a:srgbClr val="667A9B"/>
            </a:solidFill>
            <a:prstDash val="solid"/>
            <a:headEnd type="none"/>
            <a:tailEnd type="triangle"/>
          </a:ln>
        </p:spPr>
      </p:sp>
      <p:sp>
        <p:nvSpPr>
          <p:cNvPr id="47" name="S09_RoadmapNode2"/>
          <p:cNvSpPr/>
          <p:nvPr/>
        </p:nvSpPr>
        <p:spPr>
          <a:xfrm>
            <a:off x="4663440" y="5239512"/>
            <a:ext cx="246888" cy="24688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48" name="S09_RoadmapTitle2"/>
          <p:cNvSpPr/>
          <p:nvPr/>
        </p:nvSpPr>
        <p:spPr>
          <a:xfrm>
            <a:off x="5020056" y="5093208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Следом</a:t>
            </a:r>
            <a:endParaRPr lang="en-US" sz="1030" dirty="0"/>
          </a:p>
        </p:txBody>
      </p:sp>
      <p:sp>
        <p:nvSpPr>
          <p:cNvPr id="49" name="S09_RoadmapText2"/>
          <p:cNvSpPr/>
          <p:nvPr/>
        </p:nvSpPr>
        <p:spPr>
          <a:xfrm>
            <a:off x="5020056" y="5376672"/>
            <a:ext cx="21579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консистентность + точные связи</a:t>
            </a:r>
            <a:endParaRPr lang="en-US" sz="1120" dirty="0"/>
          </a:p>
        </p:txBody>
      </p:sp>
      <p:sp>
        <p:nvSpPr>
          <p:cNvPr id="50" name="S09_RoadmapArrow2"/>
          <p:cNvSpPr/>
          <p:nvPr/>
        </p:nvSpPr>
        <p:spPr>
          <a:xfrm>
            <a:off x="7178040" y="5367528"/>
            <a:ext cx="374904" cy="914"/>
          </a:xfrm>
          <a:prstGeom prst="line">
            <a:avLst/>
          </a:prstGeom>
          <a:noFill/>
          <a:ln w="15875">
            <a:solidFill>
              <a:srgbClr val="667A9B"/>
            </a:solidFill>
            <a:prstDash val="solid"/>
            <a:headEnd type="none"/>
            <a:tailEnd type="triangle"/>
          </a:ln>
        </p:spPr>
      </p:sp>
      <p:sp>
        <p:nvSpPr>
          <p:cNvPr id="51" name="S09_RoadmapNode3"/>
          <p:cNvSpPr/>
          <p:nvPr/>
        </p:nvSpPr>
        <p:spPr>
          <a:xfrm>
            <a:off x="7699248" y="5239512"/>
            <a:ext cx="246888" cy="246888"/>
          </a:xfrm>
          <a:prstGeom prst="ellipse">
            <a:avLst/>
          </a:prstGeom>
          <a:solidFill>
            <a:srgbClr val="7657D5"/>
          </a:solidFill>
          <a:ln w="12700">
            <a:solidFill>
              <a:srgbClr val="7657D5">
                <a:alpha val="0"/>
              </a:srgbClr>
            </a:solidFill>
            <a:prstDash val="solid"/>
          </a:ln>
        </p:spPr>
      </p:sp>
      <p:sp>
        <p:nvSpPr>
          <p:cNvPr id="52" name="S09_RoadmapTitle3"/>
          <p:cNvSpPr/>
          <p:nvPr/>
        </p:nvSpPr>
        <p:spPr>
          <a:xfrm>
            <a:off x="8055864" y="5093208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7657D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Потенциал</a:t>
            </a:r>
            <a:endParaRPr lang="en-US" sz="1030" dirty="0"/>
          </a:p>
        </p:txBody>
      </p:sp>
      <p:sp>
        <p:nvSpPr>
          <p:cNvPr id="53" name="S09_RoadmapText3"/>
          <p:cNvSpPr/>
          <p:nvPr/>
        </p:nvSpPr>
        <p:spPr>
          <a:xfrm>
            <a:off x="8055864" y="5376672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кристаллизация контекста</a:t>
            </a:r>
            <a:endParaRPr lang="en-US" sz="11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0_TopAccent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3" name="S10_SectionLabel"/>
          <p:cNvSpPr/>
          <p:nvPr/>
        </p:nvSpPr>
        <p:spPr>
          <a:xfrm>
            <a:off x="621792" y="2560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ВЫВОД</a:t>
            </a:r>
            <a:endParaRPr lang="en-US" sz="850" dirty="0"/>
          </a:p>
        </p:txBody>
      </p:sp>
      <p:sp>
        <p:nvSpPr>
          <p:cNvPr id="4" name="S10_Title"/>
          <p:cNvSpPr/>
          <p:nvPr/>
        </p:nvSpPr>
        <p:spPr>
          <a:xfrm>
            <a:off x="621792" y="502920"/>
            <a:ext cx="10149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Пошагово развиваем OpenSpec на реальных задачах</a:t>
            </a:r>
            <a:endParaRPr lang="en-US" sz="2850" dirty="0"/>
          </a:p>
        </p:txBody>
      </p:sp>
      <p:sp>
        <p:nvSpPr>
          <p:cNvPr id="5" name="S10_Subtitle"/>
          <p:cNvSpPr/>
          <p:nvPr/>
        </p:nvSpPr>
        <p:spPr>
          <a:xfrm>
            <a:off x="640080" y="1014984"/>
            <a:ext cx="10469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 подготовленной базы знаний в docs-hub — к управляемым изменениям folder-based specification.</a:t>
            </a:r>
            <a:endParaRPr lang="en-US" sz="1320" dirty="0"/>
          </a:p>
        </p:txBody>
      </p:sp>
      <p:sp>
        <p:nvSpPr>
          <p:cNvPr id="6" name="S10_DeckLabel"/>
          <p:cNvSpPr/>
          <p:nvPr/>
        </p:nvSpPr>
        <p:spPr>
          <a:xfrm>
            <a:off x="9921240" y="25603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spc="100" kern="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 SPEC · SDD</a:t>
            </a:r>
            <a:endParaRPr lang="en-US" sz="820" dirty="0"/>
          </a:p>
        </p:txBody>
      </p:sp>
      <p:sp>
        <p:nvSpPr>
          <p:cNvPr id="7" name="S10_SlideNumber"/>
          <p:cNvSpPr/>
          <p:nvPr/>
        </p:nvSpPr>
        <p:spPr>
          <a:xfrm>
            <a:off x="11375136" y="647395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3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10</a:t>
            </a:r>
            <a:endParaRPr lang="en-US" sz="830" dirty="0"/>
          </a:p>
        </p:txBody>
      </p:sp>
      <p:sp>
        <p:nvSpPr>
          <p:cNvPr id="8" name="S10_FooterLine"/>
          <p:cNvSpPr/>
          <p:nvPr/>
        </p:nvSpPr>
        <p:spPr>
          <a:xfrm>
            <a:off x="621792" y="6419088"/>
            <a:ext cx="10972800" cy="914"/>
          </a:xfrm>
          <a:prstGeom prst="line">
            <a:avLst/>
          </a:prstGeom>
          <a:noFill/>
          <a:ln w="9525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10" name="S10_RolloutCard1"/>
          <p:cNvSpPr/>
          <p:nvPr/>
        </p:nvSpPr>
        <p:spPr>
          <a:xfrm>
            <a:off x="658368" y="1481328"/>
            <a:ext cx="3493008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1" name="S10_RolloutLabel1_Bg"/>
          <p:cNvSpPr/>
          <p:nvPr/>
        </p:nvSpPr>
        <p:spPr>
          <a:xfrm>
            <a:off x="932688" y="1773936"/>
            <a:ext cx="1115568" cy="384048"/>
          </a:xfrm>
          <a:prstGeom prst="roundRect">
            <a:avLst>
              <a:gd name="adj" fmla="val 19048"/>
            </a:avLst>
          </a:prstGeom>
          <a:solidFill>
            <a:srgbClr val="EAF0FF"/>
          </a:solidFill>
          <a:ln w="12700">
            <a:solidFill>
              <a:srgbClr val="EAF0FF">
                <a:alpha val="0"/>
              </a:srgbClr>
            </a:solidFill>
            <a:prstDash val="solid"/>
          </a:ln>
        </p:spPr>
      </p:sp>
      <p:sp>
        <p:nvSpPr>
          <p:cNvPr id="12" name="S10_RolloutLabel1_Text"/>
          <p:cNvSpPr/>
          <p:nvPr/>
        </p:nvSpPr>
        <p:spPr>
          <a:xfrm>
            <a:off x="932688" y="1778508"/>
            <a:ext cx="11155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СДЕЛАНО</a:t>
            </a:r>
            <a:endParaRPr lang="en-US" sz="1050" dirty="0"/>
          </a:p>
        </p:txBody>
      </p:sp>
      <p:sp>
        <p:nvSpPr>
          <p:cNvPr id="13" name="S10_RolloutTitle1"/>
          <p:cNvSpPr/>
          <p:nvPr/>
        </p:nvSpPr>
        <p:spPr>
          <a:xfrm>
            <a:off x="932688" y="2395728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Подготовлена MD-база</a:t>
            </a:r>
            <a:endParaRPr lang="en-US" sz="1800" dirty="0"/>
          </a:p>
        </p:txBody>
      </p:sp>
      <p:sp>
        <p:nvSpPr>
          <p:cNvPr id="14" name="S10_RolloutBullet1A_Dot"/>
          <p:cNvSpPr/>
          <p:nvPr/>
        </p:nvSpPr>
        <p:spPr>
          <a:xfrm>
            <a:off x="941832" y="3090672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5" name="S10_RolloutBullet1A_Text"/>
          <p:cNvSpPr/>
          <p:nvPr/>
        </p:nvSpPr>
        <p:spPr>
          <a:xfrm>
            <a:off x="1124712" y="2971800"/>
            <a:ext cx="2651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созданы pipeline конвертации и docs-hub</a:t>
            </a:r>
            <a:endParaRPr lang="en-US" sz="1230" dirty="0"/>
          </a:p>
        </p:txBody>
      </p:sp>
      <p:sp>
        <p:nvSpPr>
          <p:cNvPr id="16" name="S10_RolloutBullet1B_Dot"/>
          <p:cNvSpPr/>
          <p:nvPr/>
        </p:nvSpPr>
        <p:spPr>
          <a:xfrm>
            <a:off x="941832" y="3639312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7" name="S10_RolloutBullet1B_Text"/>
          <p:cNvSpPr/>
          <p:nvPr/>
        </p:nvSpPr>
        <p:spPr>
          <a:xfrm>
            <a:off x="1124712" y="3520440"/>
            <a:ext cx="2651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переведён сервис, справочники и библиотеки</a:t>
            </a:r>
            <a:endParaRPr lang="en-US" sz="1230" dirty="0"/>
          </a:p>
        </p:txBody>
      </p:sp>
      <p:sp>
        <p:nvSpPr>
          <p:cNvPr id="18" name="S10_RolloutCard2"/>
          <p:cNvSpPr/>
          <p:nvPr/>
        </p:nvSpPr>
        <p:spPr>
          <a:xfrm>
            <a:off x="4334256" y="1481328"/>
            <a:ext cx="3493008" cy="2880360"/>
          </a:xfrm>
          <a:prstGeom prst="roundRect">
            <a:avLst>
              <a:gd name="adj" fmla="val 2540"/>
            </a:avLst>
          </a:prstGeom>
          <a:solidFill>
            <a:srgbClr val="E5F8F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9" name="S10_RolloutLabel2_Bg"/>
          <p:cNvSpPr/>
          <p:nvPr/>
        </p:nvSpPr>
        <p:spPr>
          <a:xfrm>
            <a:off x="4608576" y="1773936"/>
            <a:ext cx="1115568" cy="384048"/>
          </a:xfrm>
          <a:prstGeom prst="roundRect">
            <a:avLst>
              <a:gd name="adj" fmla="val 19048"/>
            </a:avLst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20" name="S10_RolloutLabel2_Text"/>
          <p:cNvSpPr/>
          <p:nvPr/>
        </p:nvSpPr>
        <p:spPr>
          <a:xfrm>
            <a:off x="4608576" y="1778508"/>
            <a:ext cx="11155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СЕЙЧАС</a:t>
            </a:r>
            <a:endParaRPr lang="en-US" sz="1050" dirty="0"/>
          </a:p>
        </p:txBody>
      </p:sp>
      <p:sp>
        <p:nvSpPr>
          <p:cNvPr id="21" name="S10_RolloutTitle2"/>
          <p:cNvSpPr/>
          <p:nvPr/>
        </p:nvSpPr>
        <p:spPr>
          <a:xfrm>
            <a:off x="4608576" y="2395728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Внедряем OpenSpec</a:t>
            </a:r>
            <a:endParaRPr lang="en-US" sz="1800" dirty="0"/>
          </a:p>
        </p:txBody>
      </p:sp>
      <p:sp>
        <p:nvSpPr>
          <p:cNvPr id="22" name="S10_RolloutBullet2A_Dot"/>
          <p:cNvSpPr/>
          <p:nvPr/>
        </p:nvSpPr>
        <p:spPr>
          <a:xfrm>
            <a:off x="4617720" y="3090672"/>
            <a:ext cx="91440" cy="91440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23" name="S10_RolloutBullet2A_Text"/>
          <p:cNvSpPr/>
          <p:nvPr/>
        </p:nvSpPr>
        <p:spPr>
          <a:xfrm>
            <a:off x="4800600" y="2971800"/>
            <a:ext cx="2651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подключаем готовые документы через init</a:t>
            </a:r>
            <a:endParaRPr lang="en-US" sz="1230" dirty="0"/>
          </a:p>
        </p:txBody>
      </p:sp>
      <p:sp>
        <p:nvSpPr>
          <p:cNvPr id="24" name="S10_RolloutBullet2B_Dot"/>
          <p:cNvSpPr/>
          <p:nvPr/>
        </p:nvSpPr>
        <p:spPr>
          <a:xfrm>
            <a:off x="4617720" y="3639312"/>
            <a:ext cx="91440" cy="91440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25" name="S10_RolloutBullet2B_Text"/>
          <p:cNvSpPr/>
          <p:nvPr/>
        </p:nvSpPr>
        <p:spPr>
          <a:xfrm>
            <a:off x="4800600" y="3520440"/>
            <a:ext cx="2651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folder-based propose / apply и актуальный _sdd</a:t>
            </a:r>
            <a:endParaRPr lang="en-US" sz="1230" dirty="0"/>
          </a:p>
        </p:txBody>
      </p:sp>
      <p:sp>
        <p:nvSpPr>
          <p:cNvPr id="26" name="S10_RolloutCard3"/>
          <p:cNvSpPr/>
          <p:nvPr/>
        </p:nvSpPr>
        <p:spPr>
          <a:xfrm>
            <a:off x="8010144" y="1481328"/>
            <a:ext cx="3493008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7657D5"/>
            </a:solidFill>
            <a:prstDash val="solid"/>
          </a:ln>
        </p:spPr>
      </p:sp>
      <p:sp>
        <p:nvSpPr>
          <p:cNvPr id="27" name="S10_RolloutLabel3_Bg"/>
          <p:cNvSpPr/>
          <p:nvPr/>
        </p:nvSpPr>
        <p:spPr>
          <a:xfrm>
            <a:off x="8284464" y="1773936"/>
            <a:ext cx="1115568" cy="384048"/>
          </a:xfrm>
          <a:prstGeom prst="roundRect">
            <a:avLst>
              <a:gd name="adj" fmla="val 19048"/>
            </a:avLst>
          </a:prstGeom>
          <a:solidFill>
            <a:srgbClr val="F0ECFF"/>
          </a:solidFill>
          <a:ln w="12700">
            <a:solidFill>
              <a:srgbClr val="F0ECFF">
                <a:alpha val="0"/>
              </a:srgbClr>
            </a:solidFill>
            <a:prstDash val="solid"/>
          </a:ln>
        </p:spPr>
      </p:sp>
      <p:sp>
        <p:nvSpPr>
          <p:cNvPr id="28" name="S10_RolloutLabel3_Text"/>
          <p:cNvSpPr/>
          <p:nvPr/>
        </p:nvSpPr>
        <p:spPr>
          <a:xfrm>
            <a:off x="8284464" y="1778508"/>
            <a:ext cx="11155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657D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ДАЛЬШЕ</a:t>
            </a:r>
            <a:endParaRPr lang="en-US" sz="1050" dirty="0"/>
          </a:p>
        </p:txBody>
      </p:sp>
      <p:sp>
        <p:nvSpPr>
          <p:cNvPr id="29" name="S10_RolloutTitle3"/>
          <p:cNvSpPr/>
          <p:nvPr/>
        </p:nvSpPr>
        <p:spPr>
          <a:xfrm>
            <a:off x="8284464" y="2395728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Снижаем стоимость управления</a:t>
            </a:r>
            <a:endParaRPr lang="en-US" sz="1800" dirty="0"/>
          </a:p>
        </p:txBody>
      </p:sp>
      <p:sp>
        <p:nvSpPr>
          <p:cNvPr id="30" name="S10_RolloutBullet3A_Dot"/>
          <p:cNvSpPr/>
          <p:nvPr/>
        </p:nvSpPr>
        <p:spPr>
          <a:xfrm>
            <a:off x="8293608" y="3090672"/>
            <a:ext cx="91440" cy="91440"/>
          </a:xfrm>
          <a:prstGeom prst="ellipse">
            <a:avLst/>
          </a:prstGeom>
          <a:solidFill>
            <a:srgbClr val="7657D5"/>
          </a:solidFill>
          <a:ln w="12700">
            <a:solidFill>
              <a:srgbClr val="7657D5">
                <a:alpha val="0"/>
              </a:srgbClr>
            </a:solidFill>
            <a:prstDash val="solid"/>
          </a:ln>
        </p:spPr>
      </p:sp>
      <p:sp>
        <p:nvSpPr>
          <p:cNvPr id="31" name="S10_RolloutBullet3A_Text"/>
          <p:cNvSpPr/>
          <p:nvPr/>
        </p:nvSpPr>
        <p:spPr>
          <a:xfrm>
            <a:off x="8476488" y="2971800"/>
            <a:ext cx="2651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упрощаем поддержку консистентности _sdd</a:t>
            </a:r>
            <a:endParaRPr lang="en-US" sz="1230" dirty="0"/>
          </a:p>
        </p:txBody>
      </p:sp>
      <p:sp>
        <p:nvSpPr>
          <p:cNvPr id="32" name="S10_RolloutBullet3B_Dot"/>
          <p:cNvSpPr/>
          <p:nvPr/>
        </p:nvSpPr>
        <p:spPr>
          <a:xfrm>
            <a:off x="8293608" y="3639312"/>
            <a:ext cx="91440" cy="91440"/>
          </a:xfrm>
          <a:prstGeom prst="ellipse">
            <a:avLst/>
          </a:prstGeom>
          <a:solidFill>
            <a:srgbClr val="7657D5"/>
          </a:solidFill>
          <a:ln w="12700">
            <a:solidFill>
              <a:srgbClr val="7657D5">
                <a:alpha val="0"/>
              </a:srgbClr>
            </a:solidFill>
            <a:prstDash val="solid"/>
          </a:ln>
        </p:spPr>
      </p:sp>
      <p:sp>
        <p:nvSpPr>
          <p:cNvPr id="33" name="S10_RolloutBullet3B_Text"/>
          <p:cNvSpPr/>
          <p:nvPr/>
        </p:nvSpPr>
        <p:spPr>
          <a:xfrm>
            <a:off x="8476488" y="3520440"/>
            <a:ext cx="2651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улучшаем связи и кристаллизацию контекста</a:t>
            </a:r>
            <a:endParaRPr lang="en-US" sz="1230" dirty="0"/>
          </a:p>
        </p:txBody>
      </p:sp>
      <p:sp>
        <p:nvSpPr>
          <p:cNvPr id="34" name="S10_FinalPositionCard"/>
          <p:cNvSpPr/>
          <p:nvPr/>
        </p:nvSpPr>
        <p:spPr>
          <a:xfrm>
            <a:off x="658368" y="4681728"/>
            <a:ext cx="10844784" cy="1252728"/>
          </a:xfrm>
          <a:prstGeom prst="roundRect">
            <a:avLst>
              <a:gd name="adj" fmla="val 5839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2.0793719901048145e+45" dist="5.544991973612839e+45" dir="1.6325867520000003e+54">
              <a:srgbClr val="22304A">
                <a:alpha val="1.2e+54"/>
              </a:srgbClr>
            </a:outerShdw>
          </a:effectLst>
        </p:spPr>
      </p:sp>
      <p:sp>
        <p:nvSpPr>
          <p:cNvPr id="35" name="S10_FinalPositionTitle"/>
          <p:cNvSpPr/>
          <p:nvPr/>
        </p:nvSpPr>
        <p:spPr>
          <a:xfrm>
            <a:off x="960120" y="49377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Расширяем OpenSpec под систему документов.</a:t>
            </a:r>
            <a:endParaRPr lang="en-US" sz="1820" dirty="0"/>
          </a:p>
        </p:txBody>
      </p:sp>
      <p:sp>
        <p:nvSpPr>
          <p:cNvPr id="36" name="S10_FinalPositionText"/>
          <p:cNvSpPr/>
          <p:nvPr/>
        </p:nvSpPr>
        <p:spPr>
          <a:xfrm>
            <a:off x="960120" y="5394960"/>
            <a:ext cx="5321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5CE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Change-first ядро + folder-based spec + _sdd + multi-file apply.</a:t>
            </a:r>
            <a:endParaRPr lang="en-US" sz="1250" dirty="0"/>
          </a:p>
        </p:txBody>
      </p:sp>
      <p:sp>
        <p:nvSpPr>
          <p:cNvPr id="37" name="S10_FinalPositionPill1_Bg"/>
          <p:cNvSpPr/>
          <p:nvPr/>
        </p:nvSpPr>
        <p:spPr>
          <a:xfrm>
            <a:off x="6510528" y="4965192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38" name="S10_FinalPositionPill1_Text"/>
          <p:cNvSpPr/>
          <p:nvPr/>
        </p:nvSpPr>
        <p:spPr>
          <a:xfrm>
            <a:off x="6510528" y="4969764"/>
            <a:ext cx="1463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новые возможности</a:t>
            </a:r>
            <a:endParaRPr lang="en-US" sz="980" dirty="0"/>
          </a:p>
        </p:txBody>
      </p:sp>
      <p:sp>
        <p:nvSpPr>
          <p:cNvPr id="39" name="S10_FinalPositionPill2_Bg"/>
          <p:cNvSpPr/>
          <p:nvPr/>
        </p:nvSpPr>
        <p:spPr>
          <a:xfrm>
            <a:off x="8101584" y="4965192"/>
            <a:ext cx="1755648" cy="365760"/>
          </a:xfrm>
          <a:prstGeom prst="roundRect">
            <a:avLst>
              <a:gd name="adj" fmla="val 20000"/>
            </a:avLst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40" name="S10_FinalPositionPill2_Text"/>
          <p:cNvSpPr/>
          <p:nvPr/>
        </p:nvSpPr>
        <p:spPr>
          <a:xfrm>
            <a:off x="8101584" y="4969764"/>
            <a:ext cx="17556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новая ответственность</a:t>
            </a:r>
            <a:endParaRPr lang="en-US" sz="950" dirty="0"/>
          </a:p>
        </p:txBody>
      </p:sp>
      <p:sp>
        <p:nvSpPr>
          <p:cNvPr id="41" name="S10_FinalPositionPill3_Bg"/>
          <p:cNvSpPr/>
          <p:nvPr/>
        </p:nvSpPr>
        <p:spPr>
          <a:xfrm>
            <a:off x="9985248" y="4965192"/>
            <a:ext cx="1207008" cy="365760"/>
          </a:xfrm>
          <a:prstGeom prst="roundRect">
            <a:avLst>
              <a:gd name="adj" fmla="val 20000"/>
            </a:avLst>
          </a:prstGeom>
          <a:solidFill>
            <a:srgbClr val="7657D5"/>
          </a:solidFill>
          <a:ln w="12700">
            <a:solidFill>
              <a:srgbClr val="7657D5">
                <a:alpha val="0"/>
              </a:srgbClr>
            </a:solidFill>
            <a:prstDash val="solid"/>
          </a:ln>
        </p:spPr>
      </p:sp>
      <p:sp>
        <p:nvSpPr>
          <p:cNvPr id="42" name="S10_FinalPositionPill3_Text"/>
          <p:cNvSpPr/>
          <p:nvPr/>
        </p:nvSpPr>
        <p:spPr>
          <a:xfrm>
            <a:off x="9985248" y="4969764"/>
            <a:ext cx="12070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реальные задачи</a:t>
            </a:r>
            <a:endParaRPr lang="en-US" sz="980" dirty="0"/>
          </a:p>
        </p:txBody>
      </p:sp>
      <p:sp>
        <p:nvSpPr>
          <p:cNvPr id="43" name="S10_FinalPositionNext"/>
          <p:cNvSpPr/>
          <p:nvPr/>
        </p:nvSpPr>
        <p:spPr>
          <a:xfrm>
            <a:off x="6547104" y="54681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Больше управляемости — вместе с дисциплиной актуальности.</a:t>
            </a:r>
            <a:endParaRPr lang="en-US" sz="1100" dirty="0"/>
          </a:p>
        </p:txBody>
      </p:sp>
      <p:sp>
        <p:nvSpPr>
          <p:cNvPr id="44" name="S10_FinalNoMandate"/>
          <p:cNvSpPr/>
          <p:nvPr/>
        </p:nvSpPr>
        <p:spPr>
          <a:xfrm>
            <a:off x="1874520" y="6144768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70" b="1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Folder-based OpenSpec — рабочая эволюция идеи для большой системы документации.</a:t>
            </a:r>
            <a:endParaRPr lang="en-US" sz="127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1_TopAccent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3" name="S11_SectionLabel"/>
          <p:cNvSpPr/>
          <p:nvPr/>
        </p:nvSpPr>
        <p:spPr>
          <a:xfrm>
            <a:off x="621792" y="2560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ДОПОЛНИТЕЛЬНЫЙ МАРШРУТ</a:t>
            </a:r>
            <a:endParaRPr lang="en-US" sz="850" dirty="0"/>
          </a:p>
        </p:txBody>
      </p:sp>
      <p:sp>
        <p:nvSpPr>
          <p:cNvPr id="4" name="S11_Title"/>
          <p:cNvSpPr/>
          <p:nvPr/>
        </p:nvSpPr>
        <p:spPr>
          <a:xfrm>
            <a:off x="621792" y="502920"/>
            <a:ext cx="10149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change-from-diff — рабочий дополнительный инструмент</a:t>
            </a:r>
            <a:endParaRPr lang="en-US" sz="2850" dirty="0"/>
          </a:p>
        </p:txBody>
      </p:sp>
      <p:sp>
        <p:nvSpPr>
          <p:cNvPr id="5" name="S11_Subtitle"/>
          <p:cNvSpPr/>
          <p:nvPr/>
        </p:nvSpPr>
        <p:spPr>
          <a:xfrm>
            <a:off x="640080" y="1014984"/>
            <a:ext cx="10469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Не основной путь: полезен, когда целевое состояние master specification уже оформлено в ветке.</a:t>
            </a:r>
            <a:endParaRPr lang="en-US" sz="1320" dirty="0"/>
          </a:p>
        </p:txBody>
      </p:sp>
      <p:sp>
        <p:nvSpPr>
          <p:cNvPr id="6" name="S11_DeckLabel"/>
          <p:cNvSpPr/>
          <p:nvPr/>
        </p:nvSpPr>
        <p:spPr>
          <a:xfrm>
            <a:off x="9921240" y="25603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spc="100" kern="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 SPEC · SDD</a:t>
            </a:r>
            <a:endParaRPr lang="en-US" sz="820" dirty="0"/>
          </a:p>
        </p:txBody>
      </p:sp>
      <p:sp>
        <p:nvSpPr>
          <p:cNvPr id="7" name="S11_SlideNumber"/>
          <p:cNvSpPr/>
          <p:nvPr/>
        </p:nvSpPr>
        <p:spPr>
          <a:xfrm>
            <a:off x="11375136" y="647395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3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11</a:t>
            </a:r>
            <a:endParaRPr lang="en-US" sz="830" dirty="0"/>
          </a:p>
        </p:txBody>
      </p:sp>
      <p:sp>
        <p:nvSpPr>
          <p:cNvPr id="8" name="S11_FooterLine"/>
          <p:cNvSpPr/>
          <p:nvPr/>
        </p:nvSpPr>
        <p:spPr>
          <a:xfrm>
            <a:off x="621792" y="6419088"/>
            <a:ext cx="10972800" cy="914"/>
          </a:xfrm>
          <a:prstGeom prst="line">
            <a:avLst/>
          </a:prstGeom>
          <a:noFill/>
          <a:ln w="9525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10" name="S11_DiffBaseCard"/>
          <p:cNvSpPr/>
          <p:nvPr/>
        </p:nvSpPr>
        <p:spPr>
          <a:xfrm>
            <a:off x="658368" y="1444752"/>
            <a:ext cx="2029968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1" name="S11_DiffBaseText"/>
          <p:cNvSpPr/>
          <p:nvPr/>
        </p:nvSpPr>
        <p:spPr>
          <a:xfrm>
            <a:off x="777240" y="1554480"/>
            <a:ext cx="17922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Базовая master spec</a:t>
            </a:r>
            <a:endParaRPr lang="en-US" sz="1080" dirty="0"/>
          </a:p>
        </p:txBody>
      </p:sp>
      <p:sp>
        <p:nvSpPr>
          <p:cNvPr id="12" name="S11_DiffAnalystCard"/>
          <p:cNvSpPr/>
          <p:nvPr/>
        </p:nvSpPr>
        <p:spPr>
          <a:xfrm>
            <a:off x="658368" y="1956816"/>
            <a:ext cx="2029968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S11_DiffAnalystText"/>
          <p:cNvSpPr/>
          <p:nvPr/>
        </p:nvSpPr>
        <p:spPr>
          <a:xfrm>
            <a:off x="777240" y="2066544"/>
            <a:ext cx="17922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9A63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Ветка аналитика</a:t>
            </a:r>
            <a:endParaRPr lang="en-US" sz="1080" dirty="0"/>
          </a:p>
        </p:txBody>
      </p:sp>
      <p:sp>
        <p:nvSpPr>
          <p:cNvPr id="14" name="S11_DiffBaseArrow"/>
          <p:cNvSpPr/>
          <p:nvPr/>
        </p:nvSpPr>
        <p:spPr>
          <a:xfrm>
            <a:off x="2688336" y="1655064"/>
            <a:ext cx="438912" cy="237744"/>
          </a:xfrm>
          <a:prstGeom prst="line">
            <a:avLst/>
          </a:prstGeom>
          <a:noFill/>
          <a:ln w="17780">
            <a:solidFill>
              <a:srgbClr val="2F6BFF"/>
            </a:solidFill>
            <a:prstDash val="solid"/>
            <a:headEnd type="none"/>
            <a:tailEnd type="triangle"/>
          </a:ln>
        </p:spPr>
      </p:sp>
      <p:sp>
        <p:nvSpPr>
          <p:cNvPr id="15" name="S11_DiffAnalystArrow"/>
          <p:cNvSpPr/>
          <p:nvPr/>
        </p:nvSpPr>
        <p:spPr>
          <a:xfrm flipV="1">
            <a:off x="2688336" y="1892808"/>
            <a:ext cx="438912" cy="274320"/>
          </a:xfrm>
          <a:prstGeom prst="line">
            <a:avLst/>
          </a:prstGeom>
          <a:noFill/>
          <a:ln w="17780">
            <a:solidFill>
              <a:srgbClr val="F5A623"/>
            </a:solidFill>
            <a:prstDash val="solid"/>
            <a:headEnd type="none"/>
            <a:tailEnd type="triangle"/>
          </a:ln>
        </p:spPr>
      </p:sp>
      <p:sp>
        <p:nvSpPr>
          <p:cNvPr id="16" name="S11_DiffTool_Bg"/>
          <p:cNvSpPr/>
          <p:nvPr/>
        </p:nvSpPr>
        <p:spPr>
          <a:xfrm>
            <a:off x="3182112" y="1609344"/>
            <a:ext cx="1965960" cy="566928"/>
          </a:xfrm>
          <a:prstGeom prst="roundRect">
            <a:avLst>
              <a:gd name="adj" fmla="val 12903"/>
            </a:avLst>
          </a:prstGeom>
          <a:solidFill>
            <a:srgbClr val="FFF3D9"/>
          </a:solidFill>
          <a:ln w="12700">
            <a:solidFill>
              <a:srgbClr val="FFF3D9">
                <a:alpha val="0"/>
              </a:srgbClr>
            </a:solidFill>
            <a:prstDash val="solid"/>
          </a:ln>
        </p:spPr>
      </p:sp>
      <p:sp>
        <p:nvSpPr>
          <p:cNvPr id="17" name="S11_DiffTool_Text"/>
          <p:cNvSpPr/>
          <p:nvPr/>
        </p:nvSpPr>
        <p:spPr>
          <a:xfrm>
            <a:off x="3182112" y="1613916"/>
            <a:ext cx="19659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63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change-from-diff</a:t>
            </a:r>
            <a:endParaRPr lang="en-US" sz="1200" dirty="0"/>
          </a:p>
        </p:txBody>
      </p:sp>
      <p:sp>
        <p:nvSpPr>
          <p:cNvPr id="18" name="S11_DiffToolArrow"/>
          <p:cNvSpPr/>
          <p:nvPr/>
        </p:nvSpPr>
        <p:spPr>
          <a:xfrm>
            <a:off x="5202936" y="1892808"/>
            <a:ext cx="512064" cy="914"/>
          </a:xfrm>
          <a:prstGeom prst="line">
            <a:avLst/>
          </a:prstGeom>
          <a:noFill/>
          <a:ln w="1905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19" name="S11_DiffChange_Bg"/>
          <p:cNvSpPr/>
          <p:nvPr/>
        </p:nvSpPr>
        <p:spPr>
          <a:xfrm>
            <a:off x="5788152" y="1609344"/>
            <a:ext cx="2011680" cy="566928"/>
          </a:xfrm>
          <a:prstGeom prst="roundRect">
            <a:avLst>
              <a:gd name="adj" fmla="val 12903"/>
            </a:avLst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20" name="S11_DiffChange_Text"/>
          <p:cNvSpPr/>
          <p:nvPr/>
        </p:nvSpPr>
        <p:spPr>
          <a:xfrm>
            <a:off x="5788152" y="1613916"/>
            <a:ext cx="20116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change.md + sources</a:t>
            </a:r>
            <a:endParaRPr lang="en-US" sz="1180" dirty="0"/>
          </a:p>
        </p:txBody>
      </p:sp>
      <p:sp>
        <p:nvSpPr>
          <p:cNvPr id="21" name="S11_DiffChangeArrow"/>
          <p:cNvSpPr/>
          <p:nvPr/>
        </p:nvSpPr>
        <p:spPr>
          <a:xfrm>
            <a:off x="7854696" y="1892808"/>
            <a:ext cx="502920" cy="914"/>
          </a:xfrm>
          <a:prstGeom prst="line">
            <a:avLst/>
          </a:prstGeom>
          <a:noFill/>
          <a:ln w="1905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22" name="S11_DiffLifecycle_Bg"/>
          <p:cNvSpPr/>
          <p:nvPr/>
        </p:nvSpPr>
        <p:spPr>
          <a:xfrm>
            <a:off x="8430768" y="1609344"/>
            <a:ext cx="2889504" cy="566928"/>
          </a:xfrm>
          <a:prstGeom prst="roundRect">
            <a:avLst>
              <a:gd name="adj" fmla="val 12903"/>
            </a:avLst>
          </a:prstGeom>
          <a:solidFill>
            <a:srgbClr val="E5F8F6"/>
          </a:solidFill>
          <a:ln w="12700">
            <a:solidFill>
              <a:srgbClr val="E5F8F6">
                <a:alpha val="0"/>
              </a:srgbClr>
            </a:solidFill>
            <a:prstDash val="solid"/>
          </a:ln>
        </p:spPr>
      </p:sp>
      <p:sp>
        <p:nvSpPr>
          <p:cNvPr id="23" name="S11_DiffLifecycle_Text"/>
          <p:cNvSpPr/>
          <p:nvPr/>
        </p:nvSpPr>
        <p:spPr>
          <a:xfrm>
            <a:off x="8430768" y="1613916"/>
            <a:ext cx="288950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review → design → implement</a:t>
            </a:r>
            <a:endParaRPr lang="en-US" sz="1140" dirty="0"/>
          </a:p>
        </p:txBody>
      </p:sp>
      <p:sp>
        <p:nvSpPr>
          <p:cNvPr id="24" name="S11_DiffSimpleCard"/>
          <p:cNvSpPr/>
          <p:nvPr/>
        </p:nvSpPr>
        <p:spPr>
          <a:xfrm>
            <a:off x="658368" y="2743200"/>
            <a:ext cx="5230368" cy="2523744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12700">
            <a:solidFill>
              <a:srgbClr val="2F6BFF"/>
            </a:solidFill>
            <a:prstDash val="solid"/>
          </a:ln>
          <a:effectLst>
            <a:outerShdw sx="100000" sy="100000" kx="0" ky="0" algn="bl" rotWithShape="0" blurRad="2.640802427433114e+49" dist="7.042139806488305e+49" dir="9.795520512000002e+58">
              <a:srgbClr val="22304A">
                <a:alpha val="1.2e+59"/>
              </a:srgbClr>
            </a:outerShdw>
          </a:effectLst>
        </p:spPr>
      </p:sp>
      <p:sp>
        <p:nvSpPr>
          <p:cNvPr id="25" name="S11_DiffSimpleLabel_Bg"/>
          <p:cNvSpPr/>
          <p:nvPr/>
        </p:nvSpPr>
        <p:spPr>
          <a:xfrm>
            <a:off x="941832" y="3017520"/>
            <a:ext cx="1481328" cy="384048"/>
          </a:xfrm>
          <a:prstGeom prst="roundRect">
            <a:avLst>
              <a:gd name="adj" fmla="val 19048"/>
            </a:avLst>
          </a:prstGeom>
          <a:solidFill>
            <a:srgbClr val="EAF0FF"/>
          </a:solidFill>
          <a:ln w="12700">
            <a:solidFill>
              <a:srgbClr val="EAF0FF">
                <a:alpha val="0"/>
              </a:srgbClr>
            </a:solidFill>
            <a:prstDash val="solid"/>
          </a:ln>
        </p:spPr>
      </p:sp>
      <p:sp>
        <p:nvSpPr>
          <p:cNvPr id="26" name="S11_DiffSimpleLabel_Text"/>
          <p:cNvSpPr/>
          <p:nvPr/>
        </p:nvSpPr>
        <p:spPr>
          <a:xfrm>
            <a:off x="941832" y="3022092"/>
            <a:ext cx="148132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ПРОСТЫЕ СЛУЧАИ</a:t>
            </a:r>
            <a:endParaRPr lang="en-US" sz="1020" dirty="0"/>
          </a:p>
        </p:txBody>
      </p:sp>
      <p:sp>
        <p:nvSpPr>
          <p:cNvPr id="27" name="S11_DiffSimpleTitle"/>
          <p:cNvSpPr/>
          <p:nvPr/>
        </p:nvSpPr>
        <p:spPr>
          <a:xfrm>
            <a:off x="950976" y="3593592"/>
            <a:ext cx="4315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Сократить повторное описание</a:t>
            </a:r>
            <a:endParaRPr lang="en-US" sz="1720" dirty="0"/>
          </a:p>
        </p:txBody>
      </p:sp>
      <p:sp>
        <p:nvSpPr>
          <p:cNvPr id="28" name="S11_DiffSimple1_Dot"/>
          <p:cNvSpPr/>
          <p:nvPr/>
        </p:nvSpPr>
        <p:spPr>
          <a:xfrm>
            <a:off x="960120" y="4206240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29" name="S11_DiffSimple1_Text"/>
          <p:cNvSpPr/>
          <p:nvPr/>
        </p:nvSpPr>
        <p:spPr>
          <a:xfrm>
            <a:off x="1143000" y="4087368"/>
            <a:ext cx="426110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точечная правка уже внесена в документы</a:t>
            </a:r>
            <a:endParaRPr lang="en-US" sz="1230" dirty="0"/>
          </a:p>
        </p:txBody>
      </p:sp>
      <p:sp>
        <p:nvSpPr>
          <p:cNvPr id="30" name="S11_DiffSimple2_Dot"/>
          <p:cNvSpPr/>
          <p:nvPr/>
        </p:nvSpPr>
        <p:spPr>
          <a:xfrm>
            <a:off x="960120" y="4654296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31" name="S11_DiffSimple2_Text"/>
          <p:cNvSpPr/>
          <p:nvPr/>
        </p:nvSpPr>
        <p:spPr>
          <a:xfrm>
            <a:off x="1143000" y="4535424"/>
            <a:ext cx="426110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серия однотипных изменений в нескольких файлах</a:t>
            </a:r>
            <a:endParaRPr lang="en-US" sz="1230" dirty="0"/>
          </a:p>
        </p:txBody>
      </p:sp>
      <p:sp>
        <p:nvSpPr>
          <p:cNvPr id="32" name="S11_DiffSimple3_Dot"/>
          <p:cNvSpPr/>
          <p:nvPr/>
        </p:nvSpPr>
        <p:spPr>
          <a:xfrm>
            <a:off x="960120" y="5102352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33" name="S11_DiffSimple3_Text"/>
          <p:cNvSpPr/>
          <p:nvPr/>
        </p:nvSpPr>
        <p:spPr>
          <a:xfrm>
            <a:off x="1143000" y="4983480"/>
            <a:ext cx="426110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восстановление change по уже готовой дельте</a:t>
            </a:r>
            <a:endParaRPr lang="en-US" sz="1230" dirty="0"/>
          </a:p>
        </p:txBody>
      </p:sp>
      <p:sp>
        <p:nvSpPr>
          <p:cNvPr id="34" name="S11_DiffComplexCard"/>
          <p:cNvSpPr/>
          <p:nvPr/>
        </p:nvSpPr>
        <p:spPr>
          <a:xfrm>
            <a:off x="6144768" y="2743200"/>
            <a:ext cx="5358384" cy="2523744"/>
          </a:xfrm>
          <a:prstGeom prst="roundRect">
            <a:avLst>
              <a:gd name="adj" fmla="val 2899"/>
            </a:avLst>
          </a:prstGeom>
          <a:solidFill>
            <a:srgbClr val="E5F8F6"/>
          </a:solidFill>
          <a:ln w="12700">
            <a:solidFill>
              <a:srgbClr val="00A6A6"/>
            </a:solidFill>
            <a:prstDash val="solid"/>
          </a:ln>
          <a:effectLst>
            <a:outerShdw sx="100000" sy="100000" kx="0" ky="0" algn="bl" rotWithShape="0" blurRad="3.353819082840055e+53" dist="8.943517554240149e+53" dir="5.877312307200001e+63">
              <a:srgbClr val="22304A">
                <a:alpha val="1.2000000000000001e+64"/>
              </a:srgbClr>
            </a:outerShdw>
          </a:effectLst>
        </p:spPr>
      </p:sp>
      <p:sp>
        <p:nvSpPr>
          <p:cNvPr id="35" name="S11_DiffComplexLabel_Bg"/>
          <p:cNvSpPr/>
          <p:nvPr/>
        </p:nvSpPr>
        <p:spPr>
          <a:xfrm>
            <a:off x="6428232" y="3017520"/>
            <a:ext cx="1572768" cy="384048"/>
          </a:xfrm>
          <a:prstGeom prst="roundRect">
            <a:avLst>
              <a:gd name="adj" fmla="val 19048"/>
            </a:avLst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36" name="S11_DiffComplexLabel_Text"/>
          <p:cNvSpPr/>
          <p:nvPr/>
        </p:nvSpPr>
        <p:spPr>
          <a:xfrm>
            <a:off x="6428232" y="3022092"/>
            <a:ext cx="15727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СЛОЖНЫЕ СЛУЧАИ</a:t>
            </a:r>
            <a:endParaRPr lang="en-US" sz="1020" dirty="0"/>
          </a:p>
        </p:txBody>
      </p:sp>
      <p:sp>
        <p:nvSpPr>
          <p:cNvPr id="37" name="S11_DiffComplexTitle"/>
          <p:cNvSpPr/>
          <p:nvPr/>
        </p:nvSpPr>
        <p:spPr>
          <a:xfrm>
            <a:off x="6437376" y="3593592"/>
            <a:ext cx="4407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Кристаллизовать целевое состояние</a:t>
            </a:r>
            <a:endParaRPr lang="en-US" sz="1720" dirty="0"/>
          </a:p>
        </p:txBody>
      </p:sp>
      <p:sp>
        <p:nvSpPr>
          <p:cNvPr id="38" name="S11_DiffComplex1_Dot"/>
          <p:cNvSpPr/>
          <p:nvPr/>
        </p:nvSpPr>
        <p:spPr>
          <a:xfrm>
            <a:off x="6446520" y="4206240"/>
            <a:ext cx="91440" cy="91440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39" name="S11_DiffComplex1_Text"/>
          <p:cNvSpPr/>
          <p:nvPr/>
        </p:nvSpPr>
        <p:spPr>
          <a:xfrm>
            <a:off x="6629400" y="4087368"/>
            <a:ext cx="426110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сквозное изменение затрагивает несколько ФО</a:t>
            </a:r>
            <a:endParaRPr lang="en-US" sz="1230" dirty="0"/>
          </a:p>
        </p:txBody>
      </p:sp>
      <p:sp>
        <p:nvSpPr>
          <p:cNvPr id="40" name="S11_DiffComplex2_Dot"/>
          <p:cNvSpPr/>
          <p:nvPr/>
        </p:nvSpPr>
        <p:spPr>
          <a:xfrm>
            <a:off x="6446520" y="4654296"/>
            <a:ext cx="91440" cy="91440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41" name="S11_DiffComplex2_Text"/>
          <p:cNvSpPr/>
          <p:nvPr/>
        </p:nvSpPr>
        <p:spPr>
          <a:xfrm>
            <a:off x="6629400" y="4535424"/>
            <a:ext cx="426110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крупная миграция или перестройка master spec</a:t>
            </a:r>
            <a:endParaRPr lang="en-US" sz="1230" dirty="0"/>
          </a:p>
        </p:txBody>
      </p:sp>
      <p:sp>
        <p:nvSpPr>
          <p:cNvPr id="42" name="S11_DiffComplex3_Dot"/>
          <p:cNvSpPr/>
          <p:nvPr/>
        </p:nvSpPr>
        <p:spPr>
          <a:xfrm>
            <a:off x="6446520" y="5102352"/>
            <a:ext cx="91440" cy="91440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43" name="S11_DiffComplex3_Text"/>
          <p:cNvSpPr/>
          <p:nvPr/>
        </p:nvSpPr>
        <p:spPr>
          <a:xfrm>
            <a:off x="6629400" y="4983480"/>
            <a:ext cx="426110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передача аналитической ветки с единым контекстом</a:t>
            </a:r>
            <a:endParaRPr lang="en-US" sz="1230" dirty="0"/>
          </a:p>
        </p:txBody>
      </p:sp>
      <p:sp>
        <p:nvSpPr>
          <p:cNvPr id="44" name="S11_DiffBoundaryCard"/>
          <p:cNvSpPr/>
          <p:nvPr/>
        </p:nvSpPr>
        <p:spPr>
          <a:xfrm>
            <a:off x="658368" y="5596128"/>
            <a:ext cx="10844784" cy="566928"/>
          </a:xfrm>
          <a:prstGeom prst="roundRect">
            <a:avLst>
              <a:gd name="adj" fmla="val 12903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45" name="S11_DiffBoundaryText"/>
          <p:cNvSpPr/>
          <p:nvPr/>
        </p:nvSpPr>
        <p:spPr>
          <a:xfrm>
            <a:off x="960120" y="5751576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Не заменяет propose: diff хорошо показывает «что изменилось», а смысл и мотивация остаются предметом аналитического ревью.</a:t>
            </a:r>
            <a:endParaRPr lang="en-US" sz="12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 Semi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Internal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OpenSpec на масштабе большого brownfield-сервиса</dc:title>
  <dc:subject>Эволюционное расширение OpenSpec для больших brownfield-сервисов</dc:subject>
  <dc:creator>Команда НСиР</dc:creator>
  <cp:lastModifiedBy>Команда НСиР</cp:lastModifiedBy>
  <cp:revision>1</cp:revision>
  <dcterms:created xsi:type="dcterms:W3CDTF">2026-07-09T23:39:08Z</dcterms:created>
  <dcterms:modified xsi:type="dcterms:W3CDTF">2026-07-09T23:39:08Z</dcterms:modified>
</cp:coreProperties>
</file>
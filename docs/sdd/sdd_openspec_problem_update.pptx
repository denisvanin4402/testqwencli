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wide"/>
  <p:notesSz cx="6858000" cy="9144000"/>
  <p:defaultTextStyle>
    <a:defPPr>
      <a:defRPr lang="ru-RU"/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000">
          <a:solidFill>
            <a:schemeClr val="tx1"/>
          </a:solidFill>
          <a:latin typeface="Aptos"/>
        </a:defRPr>
      </a:lvl1pPr>
    </p:titleStyle>
    <p:bodyStyle>
      <a:lvl1pPr algn="l">
        <a:defRPr sz="1800">
          <a:solidFill>
            <a:schemeClr val="tx1"/>
          </a:solidFill>
          <a:latin typeface="Aptos"/>
        </a:defRPr>
      </a:lvl1pPr>
    </p:bodyStyle>
    <p:otherStyle>
      <a:lvl1pPr algn="l">
        <a:defRPr sz="1800">
          <a:solidFill>
            <a:schemeClr val="tx1"/>
          </a:solidFill>
          <a:latin typeface="Apto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 w="12000">
            <a:solidFill>
              <a:srgbClr val="2563EB"/>
            </a:solidFill>
          </a:ln>
        </p:spPr>
      </p:sp>
      <p:sp>
        <p:nvSpPr>
          <p:cNvPr id="3" name="Text 3"/>
          <p:cNvSpPr/>
          <p:nvPr/>
        </p:nvSpPr>
        <p:spPr>
          <a:xfrm>
            <a:off x="502920" y="2286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/>
          <a:lstStyle/>
          <a:p>
            <a:pPr algn="l"/>
            <a:r>
              <a:rPr lang="ru-RU" sz="3000" b="1" dirty="0">
                <a:solidFill>
                  <a:srgbClr val="0F172A"/>
                </a:solidFill>
                <a:latin typeface="Aptos"/>
                <a:cs typeface="Aptos"/>
              </a:rPr>
              <a:t>SDD/OpenSpec: зачем менять workflow</a:t>
            </a:r>
          </a:p>
        </p:txBody>
      </p:sp>
      <p:sp>
        <p:nvSpPr>
          <p:cNvPr id="4" name="Text 4"/>
          <p:cNvSpPr/>
          <p:nvPr/>
        </p:nvSpPr>
        <p:spPr>
          <a:xfrm>
            <a:off x="548640" y="960120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/>
          <a:lstStyle/>
          <a:p>
            <a:pPr algn="l"/>
            <a:r>
              <a:rPr lang="ru-RU" sz="1400" b="1" dirty="0">
                <a:solidFill>
                  <a:srgbClr val="2563EB"/>
                </a:solidFill>
                <a:latin typeface="Aptos"/>
                <a:cs typeface="Aptos"/>
              </a:rPr>
              <a:t>Проблема из PROBLEM.md</a:t>
            </a:r>
          </a:p>
        </p:txBody>
      </p:sp>
      <p:sp>
        <p:nvSpPr>
          <p:cNvPr id="5" name="Text 5"/>
          <p:cNvSpPr/>
          <p:nvPr/>
        </p:nvSpPr>
        <p:spPr>
          <a:xfrm>
            <a:off x="685800" y="1371600"/>
            <a:ext cx="6263640" cy="23317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/>
          <a:lstStyle/>
          <a:p>
            <a:pPr algn="l"/>
            <a:r>
              <a:rPr lang="ru-RU" sz="1600" dirty="0">
                <a:solidFill>
                  <a:srgbClr val="334155"/>
                </a:solidFill>
                <a:latin typeface="Aptos"/>
                <a:cs typeface="Aptos"/>
              </a:rPr>
              <a:t>• Старый фрейм требовал создать мастер-спецификацию сервиса как один большой Markdown.</a:t>
            </a:r>
          </a:p>
          <a:p>
            <a:pPr algn="l"/>
            <a:r>
              <a:rPr lang="ru-RU" sz="1600" dirty="0">
                <a:solidFill>
                  <a:srgbClr val="334155"/>
                </a:solidFill>
                <a:latin typeface="Aptos"/>
                <a:cs typeface="Aptos"/>
              </a:rPr>
              <a:t>• Для больших сервисов это превращается в монструозный документ и перегружает контекст агента.</a:t>
            </a:r>
          </a:p>
          <a:p>
            <a:pPr algn="l"/>
            <a:r>
              <a:rPr lang="ru-RU" sz="1600" dirty="0">
                <a:solidFill>
                  <a:srgbClr val="334155"/>
                </a:solidFill>
                <a:latin typeface="Aptos"/>
                <a:cs typeface="Aptos"/>
              </a:rPr>
              <a:t>• На проектах уже часто есть нормальная документация в папках: workflow, integrations, api, data.</a:t>
            </a:r>
          </a:p>
          <a:p>
            <a:pPr algn="l"/>
            <a:r>
              <a:rPr lang="ru-RU" sz="1600" dirty="0">
                <a:solidFill>
                  <a:srgbClr val="334155"/>
                </a:solidFill>
                <a:latin typeface="Aptos"/>
                <a:cs typeface="Aptos"/>
              </a:rPr>
              <a:t>• Нужен сценарий, где аналитик меняет документы в своей ветке, а разработчик получает change.md по diff.</a:t>
            </a:r>
          </a:p>
        </p:txBody>
      </p:sp>
      <p:sp>
        <p:nvSpPr>
          <p:cNvPr id="6" name="Goal panel"/>
          <p:cNvSpPr/>
          <p:nvPr/>
        </p:nvSpPr>
        <p:spPr>
          <a:xfrm>
            <a:off x="7360920" y="1005840"/>
            <a:ext cx="4251960" cy="4251960"/>
          </a:xfrm>
          <a:prstGeom prst="roundRect">
            <a:avLst/>
          </a:prstGeom>
          <a:solidFill>
            <a:srgbClr val="EFF6FF"/>
          </a:solidFill>
          <a:ln w="16000">
            <a:solidFill>
              <a:srgbClr val="BFDBFE"/>
            </a:solidFill>
          </a:ln>
        </p:spPr>
      </p:sp>
      <p:sp>
        <p:nvSpPr>
          <p:cNvPr id="7" name="Text 7"/>
          <p:cNvSpPr/>
          <p:nvPr/>
        </p:nvSpPr>
        <p:spPr>
          <a:xfrm>
            <a:off x="7635240" y="1325880"/>
            <a:ext cx="374904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/>
          <a:lstStyle/>
          <a:p>
            <a:pPr algn="l"/>
            <a:r>
              <a:rPr lang="ru-RU" sz="1600" b="1" dirty="0">
                <a:solidFill>
                  <a:srgbClr val="1D4ED8"/>
                </a:solidFill>
                <a:latin typeface="Aptos"/>
                <a:cs typeface="Aptos"/>
              </a:rPr>
              <a:t>Что должно измениться</a:t>
            </a:r>
          </a:p>
        </p:txBody>
      </p:sp>
      <p:sp>
        <p:nvSpPr>
          <p:cNvPr id="8" name="Flow 1. Master spec = папка документов"/>
          <p:cNvSpPr/>
          <p:nvPr/>
        </p:nvSpPr>
        <p:spPr>
          <a:xfrm>
            <a:off x="7662672" y="1920240"/>
            <a:ext cx="3611880" cy="640080"/>
          </a:xfrm>
          <a:prstGeom prst="roundRect">
            <a:avLst/>
          </a:prstGeom>
          <a:solidFill>
            <a:srgbClr val="DBEAFE"/>
          </a:solidFill>
          <a:ln w="14000">
            <a:solidFill>
              <a:srgbClr val="60A5FA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ru-RU" sz="1300" b="1" dirty="0">
                <a:solidFill>
                  <a:srgbClr val="1E3A8A"/>
                </a:solidFill>
                <a:latin typeface="Aptos"/>
                <a:cs typeface="Aptos"/>
              </a:rPr>
              <a:t>1. Master spec = папка документов</a:t>
            </a:r>
          </a:p>
        </p:txBody>
      </p:sp>
      <p:sp>
        <p:nvSpPr>
          <p:cNvPr id="9" name="Flow 2. Навигация через _sdd/manifest"/>
          <p:cNvSpPr/>
          <p:nvPr/>
        </p:nvSpPr>
        <p:spPr>
          <a:xfrm>
            <a:off x="7662672" y="2788920"/>
            <a:ext cx="3611880" cy="640080"/>
          </a:xfrm>
          <a:prstGeom prst="roundRect">
            <a:avLst/>
          </a:prstGeom>
          <a:solidFill>
            <a:srgbClr val="E0F2FE"/>
          </a:solidFill>
          <a:ln w="14000">
            <a:solidFill>
              <a:srgbClr val="38BDF8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ru-RU" sz="1300" b="1" dirty="0">
                <a:solidFill>
                  <a:srgbClr val="075985"/>
                </a:solidFill>
                <a:latin typeface="Aptos"/>
                <a:cs typeface="Aptos"/>
              </a:rPr>
              <a:t>2. Навигация через _sdd/manifest</a:t>
            </a:r>
          </a:p>
        </p:txBody>
      </p:sp>
      <p:sp>
        <p:nvSpPr>
          <p:cNvPr id="10" name="Flow 3. change.md из diff веток"/>
          <p:cNvSpPr/>
          <p:nvPr/>
        </p:nvSpPr>
        <p:spPr>
          <a:xfrm>
            <a:off x="7662672" y="3657600"/>
            <a:ext cx="3611880" cy="640080"/>
          </a:xfrm>
          <a:prstGeom prst="roundRect">
            <a:avLst/>
          </a:prstGeom>
          <a:solidFill>
            <a:srgbClr val="DCFCE7"/>
          </a:solidFill>
          <a:ln w="14000">
            <a:solidFill>
              <a:srgbClr val="22C55E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ru-RU" sz="1300" b="1" dirty="0">
                <a:solidFill>
                  <a:srgbClr val="166534"/>
                </a:solidFill>
                <a:latin typeface="Aptos"/>
                <a:cs typeface="Aptos"/>
              </a:rPr>
              <a:t>3. change.md из diff веток</a:t>
            </a:r>
          </a:p>
        </p:txBody>
      </p:sp>
      <p:sp>
        <p:nvSpPr>
          <p:cNvPr id="11" name="Text 11"/>
          <p:cNvSpPr/>
          <p:nvPr/>
        </p:nvSpPr>
        <p:spPr>
          <a:xfrm>
            <a:off x="685800" y="512064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/>
          <a:lstStyle/>
          <a:p>
            <a:pPr algn="l"/>
            <a:r>
              <a:rPr lang="ru-RU" sz="1300" b="1" dirty="0">
                <a:solidFill>
                  <a:srgbClr val="475569"/>
                </a:solidFill>
                <a:latin typeface="Aptos"/>
                <a:cs typeface="Aptos"/>
              </a:rPr>
              <a:t>История доработок: c0ec340 — планы → e54f0a2 — фаза 1 → e0ec3e1 — фаза 2</a:t>
            </a:r>
          </a:p>
        </p:txBody>
      </p:sp>
      <p:sp>
        <p:nvSpPr>
          <p:cNvPr id="12" name="Text 12"/>
          <p:cNvSpPr/>
          <p:nvPr/>
        </p:nvSpPr>
        <p:spPr>
          <a:xfrm>
            <a:off x="502920" y="651052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/>
          <a:lstStyle/>
          <a:p>
            <a:pPr algn="l"/>
            <a:r>
              <a:rPr lang="ru-RU" sz="700" dirty="0">
                <a:solidFill>
                  <a:srgbClr val="64748B"/>
                </a:solidFill>
                <a:latin typeface="Aptos"/>
                <a:cs typeface="Aptos"/>
              </a:rPr>
              <a:t>Источник: docs/sdd/PROBLEM.md, docs/sdd/SDD_DETAILS.md, docs/sdd/skills/README.md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C2626"/>
          </a:solidFill>
          <a:ln w="12000">
            <a:solidFill>
              <a:srgbClr val="DC2626"/>
            </a:solidFill>
          </a:ln>
        </p:spPr>
      </p:sp>
      <p:sp>
        <p:nvSpPr>
          <p:cNvPr id="3" name="Text 3"/>
          <p:cNvSpPr/>
          <p:nvPr/>
        </p:nvSpPr>
        <p:spPr>
          <a:xfrm>
            <a:off x="502920" y="2286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/>
          <a:lstStyle/>
          <a:p>
            <a:pPr algn="l"/>
            <a:r>
              <a:rPr lang="ru-RU" sz="3000" b="1" dirty="0">
                <a:solidFill>
                  <a:srgbClr val="0F172A"/>
                </a:solidFill>
                <a:latin typeface="Aptos"/>
                <a:cs typeface="Aptos"/>
              </a:rPr>
              <a:t>До доработки: процесс упирался в single-file master spec</a:t>
            </a:r>
          </a:p>
        </p:txBody>
      </p:sp>
      <p:sp>
        <p:nvSpPr>
          <p:cNvPr id="4" name="Text 4"/>
          <p:cNvSpPr/>
          <p:nvPr/>
        </p:nvSpPr>
        <p:spPr>
          <a:xfrm>
            <a:off x="640080" y="960120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/>
          <a:lstStyle/>
          <a:p>
            <a:pPr algn="l"/>
            <a:r>
              <a:rPr lang="ru-RU" sz="1800" dirty="0">
                <a:solidFill>
                  <a:srgbClr val="334155"/>
                </a:solidFill>
                <a:latin typeface="Aptos"/>
                <a:cs typeface="Aptos"/>
              </a:rPr>
              <a:t>Исходная модель сохраняла полезную цепочку change → design → tasks, но source of truth был одним файлом.</a:t>
            </a:r>
          </a:p>
        </p:txBody>
      </p:sp>
      <p:sp>
        <p:nvSpPr>
          <p:cNvPr id="20" name="Flow teach"/>
          <p:cNvSpPr/>
          <p:nvPr/>
        </p:nvSpPr>
        <p:spPr>
          <a:xfrm>
            <a:off x="320040" y="2743200"/>
            <a:ext cx="1115568" cy="566928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ru-RU" sz="900" b="1" dirty="0">
                <a:solidFill>
                  <a:srgbClr val="0F172A"/>
                </a:solidFill>
                <a:latin typeface="Aptos"/>
                <a:cs typeface="Aptos"/>
              </a:rPr>
              <a:t>teach</a:t>
            </a:r>
          </a:p>
        </p:txBody>
      </p:sp>
      <p:sp>
        <p:nvSpPr>
          <p:cNvPr id="21" name="Arrow 21"/>
          <p:cNvSpPr/>
          <p:nvPr/>
        </p:nvSpPr>
        <p:spPr>
          <a:xfrm>
            <a:off x="1481328" y="2953512"/>
            <a:ext cx="228600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22" name="Flow new-spec"/>
          <p:cNvSpPr/>
          <p:nvPr/>
        </p:nvSpPr>
        <p:spPr>
          <a:xfrm>
            <a:off x="1755648" y="2743200"/>
            <a:ext cx="1115568" cy="566928"/>
          </a:xfrm>
          <a:prstGeom prst="roundRect">
            <a:avLst/>
          </a:prstGeom>
          <a:solidFill>
            <a:srgbClr val="FEE2E2"/>
          </a:solidFill>
          <a:ln w="14000">
            <a:solidFill>
              <a:srgbClr val="F87171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ru-RU" sz="900" b="1" dirty="0">
                <a:solidFill>
                  <a:srgbClr val="991B1B"/>
                </a:solidFill>
                <a:latin typeface="Aptos"/>
                <a:cs typeface="Aptos"/>
              </a:rPr>
              <a:t>new-spec</a:t>
            </a:r>
          </a:p>
        </p:txBody>
      </p:sp>
      <p:sp>
        <p:nvSpPr>
          <p:cNvPr id="23" name="Arrow 23"/>
          <p:cNvSpPr/>
          <p:nvPr/>
        </p:nvSpPr>
        <p:spPr>
          <a:xfrm>
            <a:off x="2916936" y="2953512"/>
            <a:ext cx="228600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24" name="Flow propose"/>
          <p:cNvSpPr/>
          <p:nvPr/>
        </p:nvSpPr>
        <p:spPr>
          <a:xfrm>
            <a:off x="3191256" y="2743200"/>
            <a:ext cx="1115568" cy="566928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ru-RU" sz="900" b="1" dirty="0">
                <a:solidFill>
                  <a:srgbClr val="0F172A"/>
                </a:solidFill>
                <a:latin typeface="Aptos"/>
                <a:cs typeface="Aptos"/>
              </a:rPr>
              <a:t>propose</a:t>
            </a:r>
          </a:p>
        </p:txBody>
      </p:sp>
      <p:sp>
        <p:nvSpPr>
          <p:cNvPr id="25" name="Arrow 25"/>
          <p:cNvSpPr/>
          <p:nvPr/>
        </p:nvSpPr>
        <p:spPr>
          <a:xfrm>
            <a:off x="4352544" y="2953512"/>
            <a:ext cx="228600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26" name="Flow review/approve"/>
          <p:cNvSpPr/>
          <p:nvPr/>
        </p:nvSpPr>
        <p:spPr>
          <a:xfrm>
            <a:off x="4626864" y="2743200"/>
            <a:ext cx="1115568" cy="566928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ru-RU" sz="900" b="1" dirty="0">
                <a:solidFill>
                  <a:srgbClr val="0F172A"/>
                </a:solidFill>
                <a:latin typeface="Aptos"/>
                <a:cs typeface="Aptos"/>
              </a:rPr>
              <a:t>review/approve</a:t>
            </a:r>
          </a:p>
        </p:txBody>
      </p:sp>
      <p:sp>
        <p:nvSpPr>
          <p:cNvPr id="27" name="Arrow 27"/>
          <p:cNvSpPr/>
          <p:nvPr/>
        </p:nvSpPr>
        <p:spPr>
          <a:xfrm>
            <a:off x="5788152" y="2953512"/>
            <a:ext cx="228600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28" name="Flow design?"/>
          <p:cNvSpPr/>
          <p:nvPr/>
        </p:nvSpPr>
        <p:spPr>
          <a:xfrm>
            <a:off x="6062472" y="2743200"/>
            <a:ext cx="1115568" cy="566928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ru-RU" sz="900" b="1" dirty="0">
                <a:solidFill>
                  <a:srgbClr val="0F172A"/>
                </a:solidFill>
                <a:latin typeface="Aptos"/>
                <a:cs typeface="Aptos"/>
              </a:rPr>
              <a:t>design?</a:t>
            </a:r>
          </a:p>
        </p:txBody>
      </p:sp>
      <p:sp>
        <p:nvSpPr>
          <p:cNvPr id="29" name="Arrow 29"/>
          <p:cNvSpPr/>
          <p:nvPr/>
        </p:nvSpPr>
        <p:spPr>
          <a:xfrm>
            <a:off x="7223760" y="2953512"/>
            <a:ext cx="228600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30" name="Flow implement"/>
          <p:cNvSpPr/>
          <p:nvPr/>
        </p:nvSpPr>
        <p:spPr>
          <a:xfrm>
            <a:off x="7498080" y="2743200"/>
            <a:ext cx="1115568" cy="566928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ru-RU" sz="900" b="1" dirty="0">
                <a:solidFill>
                  <a:srgbClr val="0F172A"/>
                </a:solidFill>
                <a:latin typeface="Aptos"/>
                <a:cs typeface="Aptos"/>
              </a:rPr>
              <a:t>implement</a:t>
            </a:r>
          </a:p>
        </p:txBody>
      </p:sp>
      <p:sp>
        <p:nvSpPr>
          <p:cNvPr id="31" name="Arrow 31"/>
          <p:cNvSpPr/>
          <p:nvPr/>
        </p:nvSpPr>
        <p:spPr>
          <a:xfrm>
            <a:off x="8659368" y="2953512"/>
            <a:ext cx="228600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32" name="Flow apply-change"/>
          <p:cNvSpPr/>
          <p:nvPr/>
        </p:nvSpPr>
        <p:spPr>
          <a:xfrm>
            <a:off x="8933688" y="2743200"/>
            <a:ext cx="1115568" cy="566928"/>
          </a:xfrm>
          <a:prstGeom prst="roundRect">
            <a:avLst/>
          </a:prstGeom>
          <a:solidFill>
            <a:srgbClr val="FFEDD5"/>
          </a:solidFill>
          <a:ln w="14000">
            <a:solidFill>
              <a:srgbClr val="FB923C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ru-RU" sz="900" b="1" dirty="0">
                <a:solidFill>
                  <a:srgbClr val="9A3412"/>
                </a:solidFill>
                <a:latin typeface="Aptos"/>
                <a:cs typeface="Aptos"/>
              </a:rPr>
              <a:t>apply-change</a:t>
            </a:r>
          </a:p>
        </p:txBody>
      </p:sp>
      <p:sp>
        <p:nvSpPr>
          <p:cNvPr id="33" name="Arrow 33"/>
          <p:cNvSpPr/>
          <p:nvPr/>
        </p:nvSpPr>
        <p:spPr>
          <a:xfrm>
            <a:off x="10094976" y="2953512"/>
            <a:ext cx="228600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34" name="Flow archive"/>
          <p:cNvSpPr/>
          <p:nvPr/>
        </p:nvSpPr>
        <p:spPr>
          <a:xfrm>
            <a:off x="10369296" y="2743200"/>
            <a:ext cx="1115568" cy="566928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ru-RU" sz="900" b="1" dirty="0">
                <a:solidFill>
                  <a:srgbClr val="0F172A"/>
                </a:solidFill>
                <a:latin typeface="Aptos"/>
                <a:cs typeface="Aptos"/>
              </a:rPr>
              <a:t>archive</a:t>
            </a:r>
          </a:p>
        </p:txBody>
      </p:sp>
      <p:sp>
        <p:nvSpPr>
          <p:cNvPr id="60" name="Explore before"/>
          <p:cNvSpPr/>
          <p:nvPr/>
        </p:nvSpPr>
        <p:spPr>
          <a:xfrm>
            <a:off x="2834640" y="3886200"/>
            <a:ext cx="4983480" cy="475488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94A3B8"/>
            </a:solidFill>
            <a:prstDash val="dash"/>
          </a:ln>
        </p:spPr>
        <p:txBody>
          <a:bodyPr wrap="square" anchor="ctr" lIns="73152" rIns="73152" tIns="73152" bIns="73152"/>
          <a:lstStyle/>
          <a:p>
            <a:pPr algn="ctr"/>
            <a:r>
              <a:rPr lang="ru-RU" sz="1200" b="1" dirty="0">
                <a:solidFill>
                  <a:srgbClr val="475569"/>
                </a:solidFill>
                <a:latin typeface="Aptos"/>
                <a:cs typeface="Aptos"/>
              </a:rPr>
              <a:t>explore (read-only)</a:t>
            </a:r>
          </a:p>
        </p:txBody>
      </p:sp>
      <p:sp>
        <p:nvSpPr>
          <p:cNvPr id="61" name="Label узкое место: один огромный md"/>
          <p:cNvSpPr/>
          <p:nvPr/>
        </p:nvSpPr>
        <p:spPr>
          <a:xfrm>
            <a:off x="1280160" y="3566160"/>
            <a:ext cx="2514600" cy="292608"/>
          </a:xfrm>
          <a:prstGeom prst="roundRect">
            <a:avLst/>
          </a:prstGeom>
          <a:solidFill>
            <a:srgbClr val="FEE2E2"/>
          </a:solidFill>
          <a:ln w="9000">
            <a:solidFill>
              <a:srgbClr val="F87171"/>
            </a:solidFill>
          </a:ln>
        </p:spPr>
        <p:txBody>
          <a:bodyPr wrap="square" anchor="ctr" lIns="27432" rIns="27432" tIns="27432" bIns="27432"/>
          <a:lstStyle/>
          <a:p>
            <a:pPr algn="ctr"/>
            <a:r>
              <a:rPr lang="ru-RU" sz="1000" b="1" dirty="0">
                <a:solidFill>
                  <a:srgbClr val="991B1B"/>
                </a:solidFill>
                <a:latin typeface="Aptos"/>
                <a:cs typeface="Aptos"/>
              </a:rPr>
              <a:t>узкое место: один огромный md</a:t>
            </a:r>
          </a:p>
        </p:txBody>
      </p:sp>
      <p:sp>
        <p:nvSpPr>
          <p:cNvPr id="62" name="Label финальный merge в spec file"/>
          <p:cNvSpPr/>
          <p:nvPr/>
        </p:nvSpPr>
        <p:spPr>
          <a:xfrm>
            <a:off x="8275320" y="3566160"/>
            <a:ext cx="2331720" cy="292608"/>
          </a:xfrm>
          <a:prstGeom prst="roundRect">
            <a:avLst/>
          </a:prstGeom>
          <a:solidFill>
            <a:srgbClr val="FFEDD5"/>
          </a:solidFill>
          <a:ln w="9000">
            <a:solidFill>
              <a:srgbClr val="FB923C"/>
            </a:solidFill>
          </a:ln>
        </p:spPr>
        <p:txBody>
          <a:bodyPr wrap="square" anchor="ctr" lIns="27432" rIns="27432" tIns="27432" bIns="27432"/>
          <a:lstStyle/>
          <a:p>
            <a:pPr algn="ctr"/>
            <a:r>
              <a:rPr lang="ru-RU" sz="1000" b="1" dirty="0">
                <a:solidFill>
                  <a:srgbClr val="9A3412"/>
                </a:solidFill>
                <a:latin typeface="Aptos"/>
                <a:cs typeface="Aptos"/>
              </a:rPr>
              <a:t>финальный merge в spec file</a:t>
            </a:r>
          </a:p>
        </p:txBody>
      </p:sp>
      <p:sp>
        <p:nvSpPr>
          <p:cNvPr id="63" name="Problems"/>
          <p:cNvSpPr/>
          <p:nvPr/>
        </p:nvSpPr>
        <p:spPr>
          <a:xfrm>
            <a:off x="640080" y="4800600"/>
            <a:ext cx="11018520" cy="109728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E2E8F0"/>
            </a:solidFill>
          </a:ln>
        </p:spPr>
        <p:txBody>
          <a:bodyPr wrap="square" anchor="t" lIns="91440" rIns="91440" tIns="91440" bIns="91440"/>
          <a:lstStyle/>
          <a:p>
            <a:pPr algn="l"/>
            <a:r>
              <a:rPr lang="ru-RU" sz="1500" b="1" dirty="0">
                <a:solidFill>
                  <a:srgbClr val="0F172A"/>
                </a:solidFill>
                <a:latin typeface="Aptos"/>
                <a:cs typeface="Aptos"/>
              </a:rPr>
              <a:t>Почему это не закрывает специальные сценарии</a:t>
            </a:r>
          </a:p>
          <a:p>
            <a:pPr algn="l"/>
            <a:r>
              <a:rPr lang="ru-RU" sz="1300" dirty="0">
                <a:solidFill>
                  <a:srgbClr val="334155"/>
                </a:solidFill>
                <a:latin typeface="Aptos"/>
                <a:cs typeface="Aptos"/>
              </a:rPr>
              <a:t>• папочная документация команды не подключается как полноценная master specification</a:t>
            </a:r>
          </a:p>
          <a:p>
            <a:pPr algn="l"/>
            <a:r>
              <a:rPr lang="ru-RU" sz="1300" dirty="0">
                <a:solidFill>
                  <a:srgbClr val="334155"/>
                </a:solidFill>
                <a:latin typeface="Aptos"/>
                <a:cs typeface="Aptos"/>
              </a:rPr>
              <a:t>• change.md нельзя получить из уже сделанных правок аналитика в отдельной ветке</a:t>
            </a:r>
          </a:p>
          <a:p>
            <a:pPr algn="l"/>
            <a:r>
              <a:rPr lang="ru-RU" sz="1300" dirty="0">
                <a:solidFill>
                  <a:srgbClr val="334155"/>
                </a:solidFill>
                <a:latin typeface="Aptos"/>
                <a:cs typeface="Aptos"/>
              </a:rPr>
              <a:t>• apply-change может пытаться повторно вливать то, что уже является source of truth в ветке аналитика</a:t>
            </a:r>
          </a:p>
        </p:txBody>
      </p:sp>
      <p:sp>
        <p:nvSpPr>
          <p:cNvPr id="64" name="Text 64"/>
          <p:cNvSpPr/>
          <p:nvPr/>
        </p:nvSpPr>
        <p:spPr>
          <a:xfrm>
            <a:off x="502920" y="651052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/>
          <a:lstStyle/>
          <a:p>
            <a:pPr algn="l"/>
            <a:r>
              <a:rPr lang="ru-RU" sz="700" dirty="0">
                <a:solidFill>
                  <a:srgbClr val="64748B"/>
                </a:solidFill>
                <a:latin typeface="Aptos"/>
                <a:cs typeface="Aptos"/>
              </a:rPr>
              <a:t>Источник: docs/sdd/PROBLEM.md, docs/sdd/SDD_DETAILS.md, docs/sdd/skills/README.md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 w="12000">
            <a:solidFill>
              <a:srgbClr val="2563EB"/>
            </a:solidFill>
          </a:ln>
        </p:spPr>
      </p:sp>
      <p:sp>
        <p:nvSpPr>
          <p:cNvPr id="3" name="Text 3"/>
          <p:cNvSpPr/>
          <p:nvPr/>
        </p:nvSpPr>
        <p:spPr>
          <a:xfrm>
            <a:off x="502920" y="2286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/>
          <a:lstStyle/>
          <a:p>
            <a:pPr algn="l"/>
            <a:r>
              <a:rPr lang="ru-RU" sz="3000" b="1" dirty="0">
                <a:solidFill>
                  <a:srgbClr val="0F172A"/>
                </a:solidFill>
                <a:latin typeface="Aptos"/>
                <a:cs typeface="Aptos"/>
              </a:rPr>
              <a:t>Фаза 1: master specification становится папкой</a:t>
            </a:r>
          </a:p>
        </p:txBody>
      </p:sp>
      <p:sp>
        <p:nvSpPr>
          <p:cNvPr id="4" name="Text 4"/>
          <p:cNvSpPr/>
          <p:nvPr/>
        </p:nvSpPr>
        <p:spPr>
          <a:xfrm>
            <a:off x="640080" y="96012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/>
          <a:lstStyle/>
          <a:p>
            <a:pPr algn="l"/>
            <a:r>
              <a:rPr lang="ru-RU" sz="1700" dirty="0">
                <a:solidFill>
                  <a:srgbClr val="334155"/>
                </a:solidFill>
                <a:latin typeface="Aptos"/>
                <a:cs typeface="Aptos"/>
              </a:rPr>
              <a:t>Первое изменение снимает требование “собрать один полный Markdown” и вводит навигационный слой для агентов.</a:t>
            </a:r>
          </a:p>
        </p:txBody>
      </p:sp>
      <p:sp>
        <p:nvSpPr>
          <p:cNvPr id="5" name="Folder tree"/>
          <p:cNvSpPr/>
          <p:nvPr/>
        </p:nvSpPr>
        <p:spPr>
          <a:xfrm>
            <a:off x="640080" y="1691640"/>
            <a:ext cx="3931920" cy="4251960"/>
          </a:xfrm>
          <a:prstGeom prst="roundRect">
            <a:avLst/>
          </a:prstGeom>
          <a:solidFill>
            <a:srgbClr val="0F172A"/>
          </a:solidFill>
          <a:ln w="12000">
            <a:solidFill>
              <a:srgbClr val="1E293B"/>
            </a:solidFill>
          </a:ln>
        </p:spPr>
        <p:txBody>
          <a:bodyPr wrap="square" anchor="t" lIns="146304" rIns="146304" tIns="146304" bIns="146304"/>
          <a:lstStyle/>
          <a:p>
            <a:pPr algn="l"/>
            <a:r>
              <a:rPr lang="ru-RU" sz="1500" b="1" dirty="0">
                <a:solidFill>
                  <a:srgbClr val="E2E8F0"/>
                </a:solidFill>
                <a:latin typeface="Aptos"/>
                <a:cs typeface="Aptos"/>
              </a:rPr>
              <a:t>openspec/&lt;service&gt;/</a:t>
            </a:r>
          </a:p>
          <a:p>
            <a:pPr algn="l"/>
            <a:r>
              <a:rPr lang="ru-RU" sz="1300" b="1" dirty="0">
                <a:solidFill>
                  <a:srgbClr val="93C5FD"/>
                </a:solidFill>
                <a:latin typeface="Aptos"/>
                <a:cs typeface="Aptos"/>
              </a:rPr>
              <a:t>  _sdd/</a:t>
            </a:r>
          </a:p>
          <a:p>
            <a:pPr algn="l"/>
            <a:r>
              <a:rPr lang="ru-RU" sz="1200" dirty="0">
                <a:solidFill>
                  <a:srgbClr val="BFDBFE"/>
                </a:solidFill>
                <a:latin typeface="Aptos"/>
                <a:cs typeface="Aptos"/>
              </a:rPr>
              <a:t>    manifest.yaml</a:t>
            </a:r>
          </a:p>
          <a:p>
            <a:pPr algn="l"/>
            <a:r>
              <a:rPr lang="ru-RU" sz="1200" dirty="0">
                <a:solidFill>
                  <a:srgbClr val="BFDBFE"/>
                </a:solidFill>
                <a:latin typeface="Aptos"/>
                <a:cs typeface="Aptos"/>
              </a:rPr>
              <a:t>    navigation.md</a:t>
            </a:r>
          </a:p>
          <a:p>
            <a:pPr algn="l"/>
            <a:r>
              <a:rPr lang="ru-RU" sz="1200" dirty="0">
                <a:solidFill>
                  <a:srgbClr val="BFDBFE"/>
                </a:solidFill>
                <a:latin typeface="Aptos"/>
                <a:cs typeface="Aptos"/>
              </a:rPr>
              <a:t>    coverage.md</a:t>
            </a:r>
          </a:p>
          <a:p>
            <a:pPr algn="l"/>
            <a:r>
              <a:rPr lang="ru-RU" sz="1200" dirty="0">
                <a:solidFill>
                  <a:srgbClr val="BFDBFE"/>
                </a:solidFill>
                <a:latin typeface="Aptos"/>
                <a:cs typeface="Aptos"/>
              </a:rPr>
              <a:t>    stale-files.md</a:t>
            </a:r>
          </a:p>
          <a:p>
            <a:pPr algn="l"/>
            <a:r>
              <a:rPr lang="ru-RU" sz="1200" dirty="0">
                <a:solidFill>
                  <a:srgbClr val="E2E8F0"/>
                </a:solidFill>
                <a:latin typeface="Aptos"/>
                <a:cs typeface="Aptos"/>
              </a:rPr>
              <a:t>  workflow/</a:t>
            </a:r>
          </a:p>
          <a:p>
            <a:pPr algn="l"/>
            <a:r>
              <a:rPr lang="ru-RU" sz="1200" dirty="0">
                <a:solidFill>
                  <a:srgbClr val="E2E8F0"/>
                </a:solidFill>
                <a:latin typeface="Aptos"/>
                <a:cs typeface="Aptos"/>
              </a:rPr>
              <a:t>  integrations/</a:t>
            </a:r>
          </a:p>
          <a:p>
            <a:pPr algn="l"/>
            <a:r>
              <a:rPr lang="ru-RU" sz="1200" dirty="0">
                <a:solidFill>
                  <a:srgbClr val="E2E8F0"/>
                </a:solidFill>
                <a:latin typeface="Aptos"/>
                <a:cs typeface="Aptos"/>
              </a:rPr>
              <a:t>  api/ data/ security/ ...</a:t>
            </a:r>
          </a:p>
        </p:txBody>
      </p:sp>
      <p:sp>
        <p:nvSpPr>
          <p:cNvPr id="6" name="Flow документы команды"/>
          <p:cNvSpPr/>
          <p:nvPr/>
        </p:nvSpPr>
        <p:spPr>
          <a:xfrm>
            <a:off x="5029200" y="1920240"/>
            <a:ext cx="1874520" cy="59436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ru-RU" sz="1300" b="1" dirty="0">
                <a:solidFill>
                  <a:srgbClr val="0F172A"/>
                </a:solidFill>
                <a:latin typeface="Aptos"/>
                <a:cs typeface="Aptos"/>
              </a:rPr>
              <a:t>документы команды</a:t>
            </a:r>
          </a:p>
        </p:txBody>
      </p:sp>
      <p:sp>
        <p:nvSpPr>
          <p:cNvPr id="7" name="Arrow 7"/>
          <p:cNvSpPr/>
          <p:nvPr/>
        </p:nvSpPr>
        <p:spPr>
          <a:xfrm>
            <a:off x="7086600" y="2130552"/>
            <a:ext cx="411480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8" name="Flow init-master-spec"/>
          <p:cNvSpPr/>
          <p:nvPr/>
        </p:nvSpPr>
        <p:spPr>
          <a:xfrm>
            <a:off x="7726680" y="1920240"/>
            <a:ext cx="1965960" cy="594360"/>
          </a:xfrm>
          <a:prstGeom prst="roundRect">
            <a:avLst/>
          </a:prstGeom>
          <a:solidFill>
            <a:srgbClr val="DBEAFE"/>
          </a:solidFill>
          <a:ln w="14000">
            <a:solidFill>
              <a:srgbClr val="60A5FA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ru-RU" sz="1300" b="1" dirty="0">
                <a:solidFill>
                  <a:srgbClr val="1E3A8A"/>
                </a:solidFill>
                <a:latin typeface="Aptos"/>
                <a:cs typeface="Aptos"/>
              </a:rPr>
              <a:t>init-master-spec</a:t>
            </a:r>
          </a:p>
        </p:txBody>
      </p:sp>
      <p:sp>
        <p:nvSpPr>
          <p:cNvPr id="9" name="Arrow 9"/>
          <p:cNvSpPr/>
          <p:nvPr/>
        </p:nvSpPr>
        <p:spPr>
          <a:xfrm>
            <a:off x="9875520" y="2130552"/>
            <a:ext cx="411480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10" name="Flow _sdd индекс"/>
          <p:cNvSpPr/>
          <p:nvPr/>
        </p:nvSpPr>
        <p:spPr>
          <a:xfrm>
            <a:off x="10515600" y="1920240"/>
            <a:ext cx="1554480" cy="594360"/>
          </a:xfrm>
          <a:prstGeom prst="roundRect">
            <a:avLst/>
          </a:prstGeom>
          <a:solidFill>
            <a:srgbClr val="E0F2FE"/>
          </a:solidFill>
          <a:ln w="14000">
            <a:solidFill>
              <a:srgbClr val="38BDF8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ru-RU" sz="1300" b="1" dirty="0">
                <a:solidFill>
                  <a:srgbClr val="075985"/>
                </a:solidFill>
                <a:latin typeface="Aptos"/>
                <a:cs typeface="Aptos"/>
              </a:rPr>
              <a:t>_sdd индекс</a:t>
            </a:r>
          </a:p>
        </p:txBody>
      </p:sp>
      <p:sp>
        <p:nvSpPr>
          <p:cNvPr id="11" name="Benefits"/>
          <p:cNvSpPr/>
          <p:nvPr/>
        </p:nvSpPr>
        <p:spPr>
          <a:xfrm>
            <a:off x="5029200" y="2971800"/>
            <a:ext cx="6583680" cy="233172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E2E8F0"/>
            </a:solidFill>
          </a:ln>
        </p:spPr>
        <p:txBody>
          <a:bodyPr wrap="square" anchor="t" lIns="109728" rIns="109728" tIns="109728" bIns="109728"/>
          <a:lstStyle/>
          <a:p>
            <a:pPr algn="l"/>
            <a:r>
              <a:rPr lang="ru-RU" sz="1500" b="1" dirty="0">
                <a:solidFill>
                  <a:srgbClr val="0F172A"/>
                </a:solidFill>
                <a:latin typeface="Aptos"/>
                <a:cs typeface="Aptos"/>
              </a:rPr>
              <a:t>Что получает workflow</a:t>
            </a:r>
          </a:p>
          <a:p>
            <a:pPr algn="l"/>
            <a:r>
              <a:rPr lang="ru-RU" sz="1300" dirty="0">
                <a:solidFill>
                  <a:srgbClr val="334155"/>
                </a:solidFill>
                <a:latin typeface="Aptos"/>
                <a:cs typeface="Aptos"/>
              </a:rPr>
              <a:t>• агент сначала читает navigation.md и manifest.yaml, а не всю папку рекурсивно</a:t>
            </a:r>
          </a:p>
          <a:p>
            <a:pPr algn="l"/>
            <a:r>
              <a:rPr lang="ru-RU" sz="1300" dirty="0">
                <a:solidFill>
                  <a:srgbClr val="334155"/>
                </a:solidFill>
                <a:latin typeface="Aptos"/>
                <a:cs typeface="Aptos"/>
              </a:rPr>
              <a:t>• coverage.md честно фиксирует пробелы и противоречия документации</a:t>
            </a:r>
          </a:p>
          <a:p>
            <a:pPr algn="l"/>
            <a:r>
              <a:rPr lang="ru-RU" sz="1300" dirty="0">
                <a:solidFill>
                  <a:srgbClr val="334155"/>
                </a:solidFill>
                <a:latin typeface="Aptos"/>
                <a:cs typeface="Aptos"/>
              </a:rPr>
              <a:t>• stale-files.md предупреждает, если manifest не соответствует файлам</a:t>
            </a:r>
          </a:p>
          <a:p>
            <a:pPr algn="l"/>
            <a:r>
              <a:rPr lang="ru-RU" sz="1300" dirty="0">
                <a:solidFill>
                  <a:srgbClr val="334155"/>
                </a:solidFill>
                <a:latin typeface="Aptos"/>
                <a:cs typeface="Aptos"/>
              </a:rPr>
              <a:t>• propose/design/implement могут ссылаться на конкретные документы master spec</a:t>
            </a:r>
          </a:p>
        </p:txBody>
      </p:sp>
      <p:sp>
        <p:nvSpPr>
          <p:cNvPr id="12" name="Label разница: source of truth = folder, не single md"/>
          <p:cNvSpPr/>
          <p:nvPr/>
        </p:nvSpPr>
        <p:spPr>
          <a:xfrm>
            <a:off x="5532120" y="5532120"/>
            <a:ext cx="5349240" cy="292608"/>
          </a:xfrm>
          <a:prstGeom prst="roundRect">
            <a:avLst/>
          </a:prstGeom>
          <a:solidFill>
            <a:srgbClr val="DBEAFE"/>
          </a:solidFill>
          <a:ln w="9000">
            <a:solidFill>
              <a:srgbClr val="60A5FA"/>
            </a:solidFill>
          </a:ln>
        </p:spPr>
        <p:txBody>
          <a:bodyPr wrap="square" anchor="ctr" lIns="27432" rIns="27432" tIns="27432" bIns="27432"/>
          <a:lstStyle/>
          <a:p>
            <a:pPr algn="ctr"/>
            <a:r>
              <a:rPr lang="ru-RU" sz="1000" b="1" dirty="0">
                <a:solidFill>
                  <a:srgbClr val="1E3A8A"/>
                </a:solidFill>
                <a:latin typeface="Aptos"/>
                <a:cs typeface="Aptos"/>
              </a:rPr>
              <a:t>разница: source of truth = folder, не single md</a:t>
            </a:r>
          </a:p>
        </p:txBody>
      </p:sp>
      <p:sp>
        <p:nvSpPr>
          <p:cNvPr id="13" name="Text 13"/>
          <p:cNvSpPr/>
          <p:nvPr/>
        </p:nvSpPr>
        <p:spPr>
          <a:xfrm>
            <a:off x="502920" y="651052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/>
          <a:lstStyle/>
          <a:p>
            <a:pPr algn="l"/>
            <a:r>
              <a:rPr lang="ru-RU" sz="700" dirty="0">
                <a:solidFill>
                  <a:srgbClr val="64748B"/>
                </a:solidFill>
                <a:latin typeface="Aptos"/>
                <a:cs typeface="Aptos"/>
              </a:rPr>
              <a:t>Источник: docs/sdd/PROBLEM.md, docs/sdd/SDD_DETAILS.md, docs/sdd/skills/README.md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6A34A"/>
          </a:solidFill>
          <a:ln w="12000">
            <a:solidFill>
              <a:srgbClr val="16A34A"/>
            </a:solidFill>
          </a:ln>
        </p:spPr>
      </p:sp>
      <p:sp>
        <p:nvSpPr>
          <p:cNvPr id="3" name="Text 3"/>
          <p:cNvSpPr/>
          <p:nvPr/>
        </p:nvSpPr>
        <p:spPr>
          <a:xfrm>
            <a:off x="502920" y="2286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/>
          <a:lstStyle/>
          <a:p>
            <a:pPr algn="l"/>
            <a:r>
              <a:rPr lang="ru-RU" sz="3000" b="1" dirty="0">
                <a:solidFill>
                  <a:srgbClr val="0F172A"/>
                </a:solidFill>
                <a:latin typeface="Aptos"/>
                <a:cs typeface="Aptos"/>
              </a:rPr>
              <a:t>Фаза 2: change.md из diff веток аналитика</a:t>
            </a:r>
          </a:p>
        </p:txBody>
      </p:sp>
      <p:sp>
        <p:nvSpPr>
          <p:cNvPr id="4" name="Text 4"/>
          <p:cNvSpPr/>
          <p:nvPr/>
        </p:nvSpPr>
        <p:spPr>
          <a:xfrm>
            <a:off x="640080" y="960120"/>
            <a:ext cx="109728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/>
          <a:lstStyle/>
          <a:p>
            <a:pPr algn="l"/>
            <a:r>
              <a:rPr lang="ru-RU" sz="1700" dirty="0">
                <a:solidFill>
                  <a:srgbClr val="334155"/>
                </a:solidFill>
                <a:latin typeface="Aptos"/>
                <a:cs typeface="Aptos"/>
              </a:rPr>
              <a:t>Второе изменение закрывает сценарий, где аналитик уже изменил master-spec documents в отдельной локальной ветке/ref.</a:t>
            </a:r>
          </a:p>
        </p:txBody>
      </p:sp>
      <p:sp>
        <p:nvSpPr>
          <p:cNvPr id="5" name="Flow base_ref: релизная/базовая ветка"/>
          <p:cNvSpPr/>
          <p:nvPr/>
        </p:nvSpPr>
        <p:spPr>
          <a:xfrm>
            <a:off x="731520" y="1874520"/>
            <a:ext cx="2423160" cy="640080"/>
          </a:xfrm>
          <a:prstGeom prst="roundRect">
            <a:avLst/>
          </a:prstGeom>
          <a:solidFill>
            <a:srgbClr val="F1F5F9"/>
          </a:solidFill>
          <a:ln w="14000">
            <a:solidFill>
              <a:srgbClr val="CBD5E1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ru-RU" sz="1200" b="1" dirty="0">
                <a:solidFill>
                  <a:srgbClr val="0F172A"/>
                </a:solidFill>
                <a:latin typeface="Aptos"/>
                <a:cs typeface="Aptos"/>
              </a:rPr>
              <a:t>base_ref: релизная/базовая ветка</a:t>
            </a:r>
          </a:p>
        </p:txBody>
      </p:sp>
      <p:sp>
        <p:nvSpPr>
          <p:cNvPr id="6" name="Flow analyst_ref: ветка с измененной master spec"/>
          <p:cNvSpPr/>
          <p:nvPr/>
        </p:nvSpPr>
        <p:spPr>
          <a:xfrm>
            <a:off x="731520" y="2743200"/>
            <a:ext cx="2423160" cy="640080"/>
          </a:xfrm>
          <a:prstGeom prst="roundRect">
            <a:avLst/>
          </a:prstGeom>
          <a:solidFill>
            <a:srgbClr val="DCFCE7"/>
          </a:solidFill>
          <a:ln w="14000">
            <a:solidFill>
              <a:srgbClr val="22C55E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ru-RU" sz="1200" b="1" dirty="0">
                <a:solidFill>
                  <a:srgbClr val="166534"/>
                </a:solidFill>
                <a:latin typeface="Aptos"/>
                <a:cs typeface="Aptos"/>
              </a:rPr>
              <a:t>analyst_ref: ветка с измененной master spec</a:t>
            </a:r>
          </a:p>
        </p:txBody>
      </p:sp>
      <p:sp>
        <p:nvSpPr>
          <p:cNvPr id="7" name="Arrow 7"/>
          <p:cNvSpPr/>
          <p:nvPr/>
        </p:nvSpPr>
        <p:spPr>
          <a:xfrm>
            <a:off x="3337560" y="2468880"/>
            <a:ext cx="594360" cy="146304"/>
          </a:xfrm>
          <a:prstGeom prst="rightArrow">
            <a:avLst/>
          </a:prstGeom>
          <a:solidFill>
            <a:srgbClr val="22C55E"/>
          </a:solidFill>
          <a:ln w="8000">
            <a:solidFill>
              <a:srgbClr val="22C55E"/>
            </a:solidFill>
          </a:ln>
        </p:spPr>
      </p:sp>
      <p:sp>
        <p:nvSpPr>
          <p:cNvPr id="8" name="Flow git diff -- openspec/&lt;service&gt;/"/>
          <p:cNvSpPr/>
          <p:nvPr/>
        </p:nvSpPr>
        <p:spPr>
          <a:xfrm>
            <a:off x="4160520" y="2267712"/>
            <a:ext cx="2148840" cy="731520"/>
          </a:xfrm>
          <a:prstGeom prst="roundRect">
            <a:avLst/>
          </a:prstGeom>
          <a:solidFill>
            <a:srgbClr val="ECFDF5"/>
          </a:solidFill>
          <a:ln w="14000">
            <a:solidFill>
              <a:srgbClr val="22C55E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ru-RU" sz="1200" b="1" dirty="0">
                <a:solidFill>
                  <a:srgbClr val="166534"/>
                </a:solidFill>
                <a:latin typeface="Aptos"/>
                <a:cs typeface="Aptos"/>
              </a:rPr>
              <a:t>git diff -- openspec/&lt;service&gt;/</a:t>
            </a:r>
          </a:p>
        </p:txBody>
      </p:sp>
      <p:sp>
        <p:nvSpPr>
          <p:cNvPr id="9" name="Arrow 9"/>
          <p:cNvSpPr/>
          <p:nvPr/>
        </p:nvSpPr>
        <p:spPr>
          <a:xfrm>
            <a:off x="6492240" y="2468880"/>
            <a:ext cx="411480" cy="146304"/>
          </a:xfrm>
          <a:prstGeom prst="rightArrow">
            <a:avLst/>
          </a:prstGeom>
          <a:solidFill>
            <a:srgbClr val="22C55E"/>
          </a:solidFill>
          <a:ln w="8000">
            <a:solidFill>
              <a:srgbClr val="22C55E"/>
            </a:solidFill>
          </a:ln>
        </p:spPr>
      </p:sp>
      <p:sp>
        <p:nvSpPr>
          <p:cNvPr id="10" name="Flow change.md + .spec-diff/"/>
          <p:cNvSpPr/>
          <p:nvPr/>
        </p:nvSpPr>
        <p:spPr>
          <a:xfrm>
            <a:off x="7132320" y="2267712"/>
            <a:ext cx="1874520" cy="731520"/>
          </a:xfrm>
          <a:prstGeom prst="roundRect">
            <a:avLst/>
          </a:prstGeom>
          <a:solidFill>
            <a:srgbClr val="DCFCE7"/>
          </a:solidFill>
          <a:ln w="14000">
            <a:solidFill>
              <a:srgbClr val="22C55E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ru-RU" sz="1200" b="1" dirty="0">
                <a:solidFill>
                  <a:srgbClr val="166534"/>
                </a:solidFill>
                <a:latin typeface="Aptos"/>
                <a:cs typeface="Aptos"/>
              </a:rPr>
              <a:t>change.md + .spec-diff/</a:t>
            </a:r>
          </a:p>
        </p:txBody>
      </p:sp>
      <p:sp>
        <p:nvSpPr>
          <p:cNvPr id="11" name="Arrow 11"/>
          <p:cNvSpPr/>
          <p:nvPr/>
        </p:nvSpPr>
        <p:spPr>
          <a:xfrm>
            <a:off x="9189720" y="2468880"/>
            <a:ext cx="347472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12" name="Flow design/tasks → implement"/>
          <p:cNvSpPr/>
          <p:nvPr/>
        </p:nvSpPr>
        <p:spPr>
          <a:xfrm>
            <a:off x="9738360" y="2267712"/>
            <a:ext cx="1874520" cy="73152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ru-RU" sz="1200" b="1" dirty="0">
                <a:solidFill>
                  <a:srgbClr val="0F172A"/>
                </a:solidFill>
                <a:latin typeface="Aptos"/>
                <a:cs typeface="Aptos"/>
              </a:rPr>
              <a:t>design/tasks → implement</a:t>
            </a:r>
          </a:p>
        </p:txBody>
      </p:sp>
      <p:sp>
        <p:nvSpPr>
          <p:cNvPr id="13" name="Flow verify source, не auto-merge"/>
          <p:cNvSpPr/>
          <p:nvPr/>
        </p:nvSpPr>
        <p:spPr>
          <a:xfrm>
            <a:off x="8138160" y="3703320"/>
            <a:ext cx="2834640" cy="640080"/>
          </a:xfrm>
          <a:prstGeom prst="roundRect">
            <a:avLst/>
          </a:prstGeom>
          <a:solidFill>
            <a:srgbClr val="FEF3C7"/>
          </a:solidFill>
          <a:ln w="14000">
            <a:solidFill>
              <a:srgbClr val="FBBF24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ru-RU" sz="1200" b="1" dirty="0">
                <a:solidFill>
                  <a:srgbClr val="92400E"/>
                </a:solidFill>
                <a:latin typeface="Aptos"/>
                <a:cs typeface="Aptos"/>
              </a:rPr>
              <a:t>verify source, не auto-merge</a:t>
            </a:r>
          </a:p>
        </p:txBody>
      </p:sp>
      <p:sp>
        <p:nvSpPr>
          <p:cNvPr id="14" name="Guardrails"/>
          <p:cNvSpPr/>
          <p:nvPr/>
        </p:nvSpPr>
        <p:spPr>
          <a:xfrm>
            <a:off x="731520" y="4160520"/>
            <a:ext cx="5715000" cy="155448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E2E8F0"/>
            </a:solidFill>
          </a:ln>
        </p:spPr>
        <p:txBody>
          <a:bodyPr wrap="square" anchor="t" lIns="109728" rIns="109728" tIns="109728" bIns="109728"/>
          <a:lstStyle/>
          <a:p>
            <a:pPr algn="l"/>
            <a:r>
              <a:rPr lang="ru-RU" sz="1500" b="1" dirty="0">
                <a:solidFill>
                  <a:srgbClr val="0F172A"/>
                </a:solidFill>
                <a:latin typeface="Aptos"/>
                <a:cs typeface="Aptos"/>
              </a:rPr>
              <a:t>Guardrails</a:t>
            </a:r>
          </a:p>
          <a:p>
            <a:pPr algn="l"/>
            <a:r>
              <a:rPr lang="ru-RU" sz="1200" dirty="0">
                <a:solidFill>
                  <a:srgbClr val="334155"/>
                </a:solidFill>
                <a:latin typeface="Aptos"/>
                <a:cs typeface="Aptos"/>
              </a:rPr>
              <a:t>• refs проверяются только локально через git rev-parse</a:t>
            </a:r>
          </a:p>
          <a:p>
            <a:pPr algn="l"/>
            <a:r>
              <a:rPr lang="ru-RU" sz="1200" dirty="0">
                <a:solidFill>
                  <a:srgbClr val="334155"/>
                </a:solidFill>
                <a:latin typeface="Aptos"/>
                <a:cs typeface="Aptos"/>
              </a:rPr>
              <a:t>• framework не делает fetch, pull и checkout веток</a:t>
            </a:r>
          </a:p>
          <a:p>
            <a:pPr algn="l"/>
            <a:r>
              <a:rPr lang="ru-RU" sz="1200" dirty="0">
                <a:solidFill>
                  <a:srgbClr val="334155"/>
                </a:solidFill>
                <a:latin typeface="Aptos"/>
                <a:cs typeface="Aptos"/>
              </a:rPr>
              <a:t>• документы читаются через git show &lt;ref&gt;:&lt;path&gt;</a:t>
            </a:r>
          </a:p>
          <a:p>
            <a:pPr algn="l"/>
            <a:r>
              <a:rPr lang="ru-RU" sz="1200" dirty="0">
                <a:solidFill>
                  <a:srgbClr val="334155"/>
                </a:solidFill>
                <a:latin typeface="Aptos"/>
                <a:cs typeface="Aptos"/>
              </a:rPr>
              <a:t>• default diff mode: three-dot; two-dot только явно</a:t>
            </a:r>
          </a:p>
        </p:txBody>
      </p:sp>
      <p:sp>
        <p:nvSpPr>
          <p:cNvPr id="15" name="Special scenario"/>
          <p:cNvSpPr/>
          <p:nvPr/>
        </p:nvSpPr>
        <p:spPr>
          <a:xfrm>
            <a:off x="6812280" y="4617720"/>
            <a:ext cx="4800600" cy="1097280"/>
          </a:xfrm>
          <a:prstGeom prst="roundRect">
            <a:avLst/>
          </a:prstGeom>
          <a:solidFill>
            <a:srgbClr val="ECFDF5"/>
          </a:solidFill>
          <a:ln w="12000">
            <a:solidFill>
              <a:srgbClr val="22C55E"/>
            </a:solidFill>
          </a:ln>
        </p:spPr>
        <p:txBody>
          <a:bodyPr wrap="square" anchor="t" lIns="109728" rIns="109728" tIns="109728" bIns="109728"/>
          <a:lstStyle/>
          <a:p>
            <a:pPr algn="l"/>
            <a:r>
              <a:rPr lang="ru-RU" sz="1400" b="1" dirty="0">
                <a:solidFill>
                  <a:srgbClr val="166534"/>
                </a:solidFill>
                <a:latin typeface="Aptos"/>
                <a:cs typeface="Aptos"/>
              </a:rPr>
              <a:t>Специальный сценарий теперь штатный</a:t>
            </a:r>
          </a:p>
          <a:p>
            <a:pPr algn="l"/>
            <a:r>
              <a:rPr lang="ru-RU" sz="1200" dirty="0">
                <a:solidFill>
                  <a:srgbClr val="334155"/>
                </a:solidFill>
                <a:latin typeface="Aptos"/>
                <a:cs typeface="Aptos"/>
              </a:rPr>
              <a:t>Разработчик может быть в своей ветке: change генерируется по base_ref и analyst_ref без переключения рабочей копии.</a:t>
            </a:r>
          </a:p>
        </p:txBody>
      </p:sp>
      <p:sp>
        <p:nvSpPr>
          <p:cNvPr id="16" name="Text 16"/>
          <p:cNvSpPr/>
          <p:nvPr/>
        </p:nvSpPr>
        <p:spPr>
          <a:xfrm>
            <a:off x="502920" y="651052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/>
          <a:lstStyle/>
          <a:p>
            <a:pPr algn="l"/>
            <a:r>
              <a:rPr lang="ru-RU" sz="700" dirty="0">
                <a:solidFill>
                  <a:srgbClr val="64748B"/>
                </a:solidFill>
                <a:latin typeface="Aptos"/>
                <a:cs typeface="Aptos"/>
              </a:rPr>
              <a:t>Источник: docs/sdd/PROBLEM.md, docs/sdd/SDD_DETAILS.md, docs/sdd/skills/README.md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F766E"/>
          </a:solidFill>
          <a:ln w="12000">
            <a:solidFill>
              <a:srgbClr val="0F766E"/>
            </a:solidFill>
          </a:ln>
        </p:spPr>
      </p:sp>
      <p:sp>
        <p:nvSpPr>
          <p:cNvPr id="3" name="Text 3"/>
          <p:cNvSpPr/>
          <p:nvPr/>
        </p:nvSpPr>
        <p:spPr>
          <a:xfrm>
            <a:off x="502920" y="2286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/>
          <a:lstStyle/>
          <a:p>
            <a:pPr algn="l"/>
            <a:r>
              <a:rPr lang="ru-RU" sz="3000" b="1" dirty="0">
                <a:solidFill>
                  <a:srgbClr val="0F172A"/>
                </a:solidFill>
                <a:latin typeface="Aptos"/>
                <a:cs typeface="Aptos"/>
              </a:rPr>
              <a:t>После двух фаз: новый lifecycle и ключевая разница</a:t>
            </a:r>
          </a:p>
        </p:txBody>
      </p:sp>
      <p:sp>
        <p:nvSpPr>
          <p:cNvPr id="20" name="Flow teach"/>
          <p:cNvSpPr/>
          <p:nvPr/>
        </p:nvSpPr>
        <p:spPr>
          <a:xfrm>
            <a:off x="274320" y="1508760"/>
            <a:ext cx="1143000" cy="612648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ru-RU" sz="900" b="1" dirty="0">
                <a:solidFill>
                  <a:srgbClr val="0F172A"/>
                </a:solidFill>
                <a:latin typeface="Aptos"/>
                <a:cs typeface="Aptos"/>
              </a:rPr>
              <a:t>teach</a:t>
            </a:r>
          </a:p>
        </p:txBody>
      </p:sp>
      <p:sp>
        <p:nvSpPr>
          <p:cNvPr id="21" name="Arrow 21"/>
          <p:cNvSpPr/>
          <p:nvPr/>
        </p:nvSpPr>
        <p:spPr>
          <a:xfrm>
            <a:off x="1463040" y="1741932"/>
            <a:ext cx="228600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22" name="Flow init-master-spec"/>
          <p:cNvSpPr/>
          <p:nvPr/>
        </p:nvSpPr>
        <p:spPr>
          <a:xfrm>
            <a:off x="1737360" y="1508760"/>
            <a:ext cx="1143000" cy="612648"/>
          </a:xfrm>
          <a:prstGeom prst="roundRect">
            <a:avLst/>
          </a:prstGeom>
          <a:solidFill>
            <a:srgbClr val="DBEAFE"/>
          </a:solidFill>
          <a:ln w="14000">
            <a:solidFill>
              <a:srgbClr val="60A5FA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ru-RU" sz="900" b="1" dirty="0">
                <a:solidFill>
                  <a:srgbClr val="1E3A8A"/>
                </a:solidFill>
                <a:latin typeface="Aptos"/>
                <a:cs typeface="Aptos"/>
              </a:rPr>
              <a:t>init-master-spec</a:t>
            </a:r>
          </a:p>
        </p:txBody>
      </p:sp>
      <p:sp>
        <p:nvSpPr>
          <p:cNvPr id="23" name="Arrow 23"/>
          <p:cNvSpPr/>
          <p:nvPr/>
        </p:nvSpPr>
        <p:spPr>
          <a:xfrm>
            <a:off x="2926080" y="1741932"/>
            <a:ext cx="228600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24" name="Flow propose / change-from-diff"/>
          <p:cNvSpPr/>
          <p:nvPr/>
        </p:nvSpPr>
        <p:spPr>
          <a:xfrm>
            <a:off x="3200400" y="1508760"/>
            <a:ext cx="1143000" cy="612648"/>
          </a:xfrm>
          <a:prstGeom prst="roundRect">
            <a:avLst/>
          </a:prstGeom>
          <a:solidFill>
            <a:srgbClr val="DCFCE7"/>
          </a:solidFill>
          <a:ln w="14000">
            <a:solidFill>
              <a:srgbClr val="22C55E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ru-RU" sz="900" b="1" dirty="0">
                <a:solidFill>
                  <a:srgbClr val="166534"/>
                </a:solidFill>
                <a:latin typeface="Aptos"/>
                <a:cs typeface="Aptos"/>
              </a:rPr>
              <a:t>propose / change-from-diff</a:t>
            </a:r>
          </a:p>
        </p:txBody>
      </p:sp>
      <p:sp>
        <p:nvSpPr>
          <p:cNvPr id="25" name="Arrow 25"/>
          <p:cNvSpPr/>
          <p:nvPr/>
        </p:nvSpPr>
        <p:spPr>
          <a:xfrm>
            <a:off x="4389120" y="1741932"/>
            <a:ext cx="228600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26" name="Flow review/approve"/>
          <p:cNvSpPr/>
          <p:nvPr/>
        </p:nvSpPr>
        <p:spPr>
          <a:xfrm>
            <a:off x="4663440" y="1508760"/>
            <a:ext cx="1143000" cy="612648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ru-RU" sz="900" b="1" dirty="0">
                <a:solidFill>
                  <a:srgbClr val="0F172A"/>
                </a:solidFill>
                <a:latin typeface="Aptos"/>
                <a:cs typeface="Aptos"/>
              </a:rPr>
              <a:t>review/approve</a:t>
            </a:r>
          </a:p>
        </p:txBody>
      </p:sp>
      <p:sp>
        <p:nvSpPr>
          <p:cNvPr id="27" name="Arrow 27"/>
          <p:cNvSpPr/>
          <p:nvPr/>
        </p:nvSpPr>
        <p:spPr>
          <a:xfrm>
            <a:off x="5852160" y="1741932"/>
            <a:ext cx="228600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28" name="Flow design?"/>
          <p:cNvSpPr/>
          <p:nvPr/>
        </p:nvSpPr>
        <p:spPr>
          <a:xfrm>
            <a:off x="6126480" y="1508760"/>
            <a:ext cx="1143000" cy="612648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ru-RU" sz="900" b="1" dirty="0">
                <a:solidFill>
                  <a:srgbClr val="0F172A"/>
                </a:solidFill>
                <a:latin typeface="Aptos"/>
                <a:cs typeface="Aptos"/>
              </a:rPr>
              <a:t>design?</a:t>
            </a:r>
          </a:p>
        </p:txBody>
      </p:sp>
      <p:sp>
        <p:nvSpPr>
          <p:cNvPr id="29" name="Arrow 29"/>
          <p:cNvSpPr/>
          <p:nvPr/>
        </p:nvSpPr>
        <p:spPr>
          <a:xfrm>
            <a:off x="7315200" y="1741932"/>
            <a:ext cx="228600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30" name="Flow implement"/>
          <p:cNvSpPr/>
          <p:nvPr/>
        </p:nvSpPr>
        <p:spPr>
          <a:xfrm>
            <a:off x="7589520" y="1508760"/>
            <a:ext cx="1143000" cy="612648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ru-RU" sz="900" b="1" dirty="0">
                <a:solidFill>
                  <a:srgbClr val="0F172A"/>
                </a:solidFill>
                <a:latin typeface="Aptos"/>
                <a:cs typeface="Aptos"/>
              </a:rPr>
              <a:t>implement</a:t>
            </a:r>
          </a:p>
        </p:txBody>
      </p:sp>
      <p:sp>
        <p:nvSpPr>
          <p:cNvPr id="31" name="Arrow 31"/>
          <p:cNvSpPr/>
          <p:nvPr/>
        </p:nvSpPr>
        <p:spPr>
          <a:xfrm>
            <a:off x="8778240" y="1741932"/>
            <a:ext cx="228600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32" name="Flow verify/apply?"/>
          <p:cNvSpPr/>
          <p:nvPr/>
        </p:nvSpPr>
        <p:spPr>
          <a:xfrm>
            <a:off x="9052560" y="1508760"/>
            <a:ext cx="1143000" cy="612648"/>
          </a:xfrm>
          <a:prstGeom prst="roundRect">
            <a:avLst/>
          </a:prstGeom>
          <a:solidFill>
            <a:srgbClr val="FEF3C7"/>
          </a:solidFill>
          <a:ln w="14000">
            <a:solidFill>
              <a:srgbClr val="FBBF24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ru-RU" sz="900" b="1" dirty="0">
                <a:solidFill>
                  <a:srgbClr val="92400E"/>
                </a:solidFill>
                <a:latin typeface="Aptos"/>
                <a:cs typeface="Aptos"/>
              </a:rPr>
              <a:t>verify/apply?</a:t>
            </a:r>
          </a:p>
        </p:txBody>
      </p:sp>
      <p:sp>
        <p:nvSpPr>
          <p:cNvPr id="33" name="Arrow 33"/>
          <p:cNvSpPr/>
          <p:nvPr/>
        </p:nvSpPr>
        <p:spPr>
          <a:xfrm>
            <a:off x="10241280" y="1741932"/>
            <a:ext cx="228600" cy="146304"/>
          </a:xfrm>
          <a:prstGeom prst="rightArrow">
            <a:avLst/>
          </a:prstGeom>
          <a:solidFill>
            <a:srgbClr val="94A3B8"/>
          </a:solidFill>
          <a:ln w="8000">
            <a:solidFill>
              <a:srgbClr val="94A3B8"/>
            </a:solidFill>
          </a:ln>
        </p:spPr>
      </p:sp>
      <p:sp>
        <p:nvSpPr>
          <p:cNvPr id="34" name="Flow archive-change"/>
          <p:cNvSpPr/>
          <p:nvPr/>
        </p:nvSpPr>
        <p:spPr>
          <a:xfrm>
            <a:off x="10515600" y="1508760"/>
            <a:ext cx="1143000" cy="612648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wrap="square" anchor="ctr" lIns="36576" rIns="36576" tIns="36576" bIns="36576"/>
          <a:lstStyle/>
          <a:p>
            <a:pPr algn="ctr"/>
            <a:r>
              <a:rPr lang="ru-RU" sz="900" b="1" dirty="0">
                <a:solidFill>
                  <a:srgbClr val="0F172A"/>
                </a:solidFill>
                <a:latin typeface="Aptos"/>
                <a:cs typeface="Aptos"/>
              </a:rPr>
              <a:t>archive-change</a:t>
            </a:r>
          </a:p>
        </p:txBody>
      </p:sp>
      <p:sp>
        <p:nvSpPr>
          <p:cNvPr id="70" name="Explore after"/>
          <p:cNvSpPr/>
          <p:nvPr/>
        </p:nvSpPr>
        <p:spPr>
          <a:xfrm>
            <a:off x="2788920" y="2542032"/>
            <a:ext cx="5120640" cy="4572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94A3B8"/>
            </a:solidFill>
            <a:prstDash val="dash"/>
          </a:ln>
        </p:spPr>
        <p:txBody>
          <a:bodyPr wrap="square" anchor="ctr" lIns="73152" rIns="73152" tIns="73152" bIns="73152"/>
          <a:lstStyle/>
          <a:p>
            <a:pPr algn="ctr"/>
            <a:r>
              <a:rPr lang="ru-RU" sz="1200" b="1" dirty="0">
                <a:solidFill>
                  <a:srgbClr val="475569"/>
                </a:solidFill>
                <a:latin typeface="Aptos"/>
                <a:cs typeface="Aptos"/>
              </a:rPr>
              <a:t>explore (read-only)</a:t>
            </a:r>
          </a:p>
        </p:txBody>
      </p:sp>
      <p:sp>
        <p:nvSpPr>
          <p:cNvPr id="71" name="Label фаза 1: folder-based master spec"/>
          <p:cNvSpPr/>
          <p:nvPr/>
        </p:nvSpPr>
        <p:spPr>
          <a:xfrm>
            <a:off x="1554480" y="896112"/>
            <a:ext cx="2788920" cy="292608"/>
          </a:xfrm>
          <a:prstGeom prst="roundRect">
            <a:avLst/>
          </a:prstGeom>
          <a:solidFill>
            <a:srgbClr val="DBEAFE"/>
          </a:solidFill>
          <a:ln w="9000">
            <a:solidFill>
              <a:srgbClr val="60A5FA"/>
            </a:solidFill>
          </a:ln>
        </p:spPr>
        <p:txBody>
          <a:bodyPr wrap="square" anchor="ctr" lIns="27432" rIns="27432" tIns="27432" bIns="27432"/>
          <a:lstStyle/>
          <a:p>
            <a:pPr algn="ctr"/>
            <a:r>
              <a:rPr lang="ru-RU" sz="1000" b="1" dirty="0">
                <a:solidFill>
                  <a:srgbClr val="1E3A8A"/>
                </a:solidFill>
                <a:latin typeface="Aptos"/>
                <a:cs typeface="Aptos"/>
              </a:rPr>
              <a:t>фаза 1: folder-based master spec</a:t>
            </a:r>
          </a:p>
        </p:txBody>
      </p:sp>
      <p:sp>
        <p:nvSpPr>
          <p:cNvPr id="72" name="Label фаза 2: branch-diff + verify"/>
          <p:cNvSpPr/>
          <p:nvPr/>
        </p:nvSpPr>
        <p:spPr>
          <a:xfrm>
            <a:off x="4617720" y="896112"/>
            <a:ext cx="2743200" cy="292608"/>
          </a:xfrm>
          <a:prstGeom prst="roundRect">
            <a:avLst/>
          </a:prstGeom>
          <a:solidFill>
            <a:srgbClr val="DCFCE7"/>
          </a:solidFill>
          <a:ln w="9000">
            <a:solidFill>
              <a:srgbClr val="22C55E"/>
            </a:solidFill>
          </a:ln>
        </p:spPr>
        <p:txBody>
          <a:bodyPr wrap="square" anchor="ctr" lIns="27432" rIns="27432" tIns="27432" bIns="27432"/>
          <a:lstStyle/>
          <a:p>
            <a:pPr algn="ctr"/>
            <a:r>
              <a:rPr lang="ru-RU" sz="1000" b="1" dirty="0">
                <a:solidFill>
                  <a:srgbClr val="166534"/>
                </a:solidFill>
                <a:latin typeface="Aptos"/>
                <a:cs typeface="Aptos"/>
              </a:rPr>
              <a:t>фаза 2: branch-diff + verify</a:t>
            </a:r>
          </a:p>
        </p:txBody>
      </p:sp>
      <p:sp>
        <p:nvSpPr>
          <p:cNvPr id="73" name="Before after left"/>
          <p:cNvSpPr/>
          <p:nvPr/>
        </p:nvSpPr>
        <p:spPr>
          <a:xfrm>
            <a:off x="640080" y="3703320"/>
            <a:ext cx="5440680" cy="178308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E2E8F0"/>
            </a:solidFill>
          </a:ln>
        </p:spPr>
        <p:txBody>
          <a:bodyPr wrap="square" anchor="t" lIns="109728" rIns="109728" tIns="109728" bIns="109728"/>
          <a:lstStyle/>
          <a:p>
            <a:pPr algn="l"/>
            <a:r>
              <a:rPr lang="ru-RU" sz="1500" b="1" dirty="0">
                <a:solidFill>
                  <a:srgbClr val="991B1B"/>
                </a:solidFill>
                <a:latin typeface="Aptos"/>
                <a:cs typeface="Aptos"/>
              </a:rPr>
              <a:t>До</a:t>
            </a:r>
          </a:p>
          <a:p>
            <a:pPr algn="l"/>
            <a:r>
              <a:rPr lang="ru-RU" sz="1200" dirty="0">
                <a:solidFill>
                  <a:srgbClr val="334155"/>
                </a:solidFill>
                <a:latin typeface="Aptos"/>
                <a:cs typeface="Aptos"/>
              </a:rPr>
              <a:t>• master spec = один большой md</a:t>
            </a:r>
          </a:p>
          <a:p>
            <a:pPr algn="l"/>
            <a:r>
              <a:rPr lang="ru-RU" sz="1200" dirty="0">
                <a:solidFill>
                  <a:srgbClr val="334155"/>
                </a:solidFill>
                <a:latin typeface="Aptos"/>
                <a:cs typeface="Aptos"/>
              </a:rPr>
              <a:t>• агенту трудно выбрать релевантный контекст</a:t>
            </a:r>
          </a:p>
          <a:p>
            <a:pPr algn="l"/>
            <a:r>
              <a:rPr lang="ru-RU" sz="1200" dirty="0">
                <a:solidFill>
                  <a:srgbClr val="334155"/>
                </a:solidFill>
                <a:latin typeface="Aptos"/>
                <a:cs typeface="Aptos"/>
              </a:rPr>
              <a:t>• нет штатного change из ветки аналитика</a:t>
            </a:r>
          </a:p>
          <a:p>
            <a:pPr algn="l"/>
            <a:r>
              <a:rPr lang="ru-RU" sz="1200" dirty="0">
                <a:solidFill>
                  <a:srgbClr val="334155"/>
                </a:solidFill>
                <a:latin typeface="Aptos"/>
                <a:cs typeface="Aptos"/>
              </a:rPr>
              <a:t>• apply-change мыслится как финальный merge</a:t>
            </a:r>
          </a:p>
        </p:txBody>
      </p:sp>
      <p:sp>
        <p:nvSpPr>
          <p:cNvPr id="74" name="Before after right"/>
          <p:cNvSpPr/>
          <p:nvPr/>
        </p:nvSpPr>
        <p:spPr>
          <a:xfrm>
            <a:off x="6355080" y="3703320"/>
            <a:ext cx="5440680" cy="1783080"/>
          </a:xfrm>
          <a:prstGeom prst="roundRect">
            <a:avLst/>
          </a:prstGeom>
          <a:solidFill>
            <a:srgbClr val="F0FDF4"/>
          </a:solidFill>
          <a:ln w="12000">
            <a:solidFill>
              <a:srgbClr val="86EFAC"/>
            </a:solidFill>
          </a:ln>
        </p:spPr>
        <p:txBody>
          <a:bodyPr wrap="square" anchor="t" lIns="109728" rIns="109728" tIns="109728" bIns="109728"/>
          <a:lstStyle/>
          <a:p>
            <a:pPr algn="l"/>
            <a:r>
              <a:rPr lang="ru-RU" sz="1500" b="1" dirty="0">
                <a:solidFill>
                  <a:srgbClr val="166534"/>
                </a:solidFill>
                <a:latin typeface="Aptos"/>
                <a:cs typeface="Aptos"/>
              </a:rPr>
              <a:t>После</a:t>
            </a:r>
          </a:p>
          <a:p>
            <a:pPr algn="l"/>
            <a:r>
              <a:rPr lang="ru-RU" sz="1200" dirty="0">
                <a:solidFill>
                  <a:srgbClr val="334155"/>
                </a:solidFill>
                <a:latin typeface="Aptos"/>
                <a:cs typeface="Aptos"/>
              </a:rPr>
              <a:t>• master spec = openspec/&lt;service&gt;/ + _sdd</a:t>
            </a:r>
          </a:p>
          <a:p>
            <a:pPr algn="l"/>
            <a:r>
              <a:rPr lang="ru-RU" sz="1200" dirty="0">
                <a:solidFill>
                  <a:srgbClr val="334155"/>
                </a:solidFill>
                <a:latin typeface="Aptos"/>
                <a:cs typeface="Aptos"/>
              </a:rPr>
              <a:t>• чтение идет через navigation, manifest, coverage</a:t>
            </a:r>
          </a:p>
          <a:p>
            <a:pPr algn="l"/>
            <a:r>
              <a:rPr lang="ru-RU" sz="1200" dirty="0">
                <a:solidFill>
                  <a:srgbClr val="334155"/>
                </a:solidFill>
                <a:latin typeface="Aptos"/>
                <a:cs typeface="Aptos"/>
              </a:rPr>
              <a:t>• change.md можно собрать из локального git diff</a:t>
            </a:r>
          </a:p>
          <a:p>
            <a:pPr algn="l"/>
            <a:r>
              <a:rPr lang="ru-RU" sz="1200" dirty="0">
                <a:solidFill>
                  <a:srgbClr val="334155"/>
                </a:solidFill>
                <a:latin typeface="Aptos"/>
                <a:cs typeface="Aptos"/>
              </a:rPr>
              <a:t>• для branch-diff финал — verify source-of-truth</a:t>
            </a:r>
          </a:p>
        </p:txBody>
      </p:sp>
      <p:sp>
        <p:nvSpPr>
          <p:cNvPr id="75" name="Text 75"/>
          <p:cNvSpPr/>
          <p:nvPr/>
        </p:nvSpPr>
        <p:spPr>
          <a:xfrm>
            <a:off x="822960" y="5806440"/>
            <a:ext cx="108356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/>
          <a:lstStyle/>
          <a:p>
            <a:pPr algn="ctr"/>
            <a:r>
              <a:rPr lang="ru-RU" sz="1400" b="1" dirty="0">
                <a:solidFill>
                  <a:srgbClr val="0F172A"/>
                </a:solidFill>
                <a:latin typeface="Aptos"/>
                <a:cs typeface="Aptos"/>
              </a:rPr>
              <a:t>Итог: SDD сохраняет дисциплину change/design/tasks, но становится пригодным для больших сервисов и уже существующей проектной документации.</a:t>
            </a:r>
          </a:p>
        </p:txBody>
      </p:sp>
      <p:sp>
        <p:nvSpPr>
          <p:cNvPr id="76" name="Text 76"/>
          <p:cNvSpPr/>
          <p:nvPr/>
        </p:nvSpPr>
        <p:spPr>
          <a:xfrm>
            <a:off x="502920" y="651052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18288" rIns="18288" tIns="18288" bIns="18288"/>
          <a:lstStyle/>
          <a:p>
            <a:pPr algn="l"/>
            <a:r>
              <a:rPr lang="ru-RU" sz="700" dirty="0">
                <a:solidFill>
                  <a:srgbClr val="64748B"/>
                </a:solidFill>
                <a:latin typeface="Aptos"/>
                <a:cs typeface="Aptos"/>
              </a:rPr>
              <a:t>Источник: docs/sdd/PROBLEM.md, docs/sdd/SDD_DETAILS.md, docs/sdd/skills/README.md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DD Theme">
  <a:themeElements>
    <a:clrScheme name="SDD">
      <a:dk1>
        <a:srgbClr val="0F172A"/>
      </a:dk1>
      <a:lt1>
        <a:srgbClr val="F8FAFC"/>
      </a:lt1>
      <a:dk2>
        <a:srgbClr val="334155"/>
      </a:dk2>
      <a:lt2>
        <a:srgbClr val="E2E8F0"/>
      </a:lt2>
      <a:accent1>
        <a:srgbClr val="2563EB"/>
      </a:accent1>
      <a:accent2>
        <a:srgbClr val="16A34A"/>
      </a:accent2>
      <a:accent3>
        <a:srgbClr val="F59E0B"/>
      </a:accent3>
      <a:accent4>
        <a:srgbClr val="DC2626"/>
      </a:accent4>
      <a:accent5>
        <a:srgbClr val="0F766E"/>
      </a:accent5>
      <a:accent6>
        <a:srgbClr val="7C3AED"/>
      </a:accent6>
      <a:hlink>
        <a:srgbClr val="2563EB"/>
      </a:hlink>
      <a:folHlink>
        <a:srgbClr val="64748B"/>
      </a:folHlink>
    </a:clrScheme>
    <a:fontScheme name="Aptos">
      <a:majorFont>
        <a:latin typeface="Aptos Display"/>
        <a:ea typeface=""/>
        <a:cs typeface="Aptos"/>
      </a:majorFont>
      <a:minorFont>
        <a:latin typeface="Aptos"/>
        <a:ea typeface=""/>
        <a:cs typeface="Aptos"/>
      </a:minorFont>
    </a:fontScheme>
    <a:fmtScheme name="SD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tx1"/>
          </a:solidFill>
        </a:ln>
        <a:ln w="12700">
          <a:solidFill>
            <a:schemeClr val="accent1"/>
          </a:solidFill>
        </a:ln>
        <a:ln w="19050">
          <a:solidFill>
            <a:schemeClr val="accent2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bg1"/>
        </a:solidFill>
        <a:solidFill>
          <a:schemeClr val="lt2"/>
        </a:solidFill>
        <a:solidFill>
          <a:schemeClr val="bg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5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SDD/OpenSpec: проблема и доработки workflow</dc:title>
  <dc:creator>Codex</dc:creator>
  <cp:lastModifiedBy>Codex</cp:lastModifiedBy>
  <dcterms:created xsi:type="dcterms:W3CDTF">2026-06-02T22:59:44Z</dcterms:created>
  <dcterms:modified xsi:type="dcterms:W3CDTF">2026-06-02T22:59:44Z</dcterms:modified>
</cp:coreProperties>
</file>